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N8eLSsC4VxjCk9iB/MGKRN1r5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698A42-45C6-46A2-B2AF-689C389BC3D7}">
  <a:tblStyle styleId="{34698A42-45C6-46A2-B2AF-689C389BC3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23a80e60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d23a80e60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d23a80e60d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d23a80e60d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d23a80e60d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d23a80e60d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23a80e60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3d23a80e60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d23a80e60d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d23a80e60d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d23a80e60d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23a80e60d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23a80e60d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23a80e60d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23a80e60d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3a80e60d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23a80e60d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23a80e60d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23a80e60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23a80e60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23a80e60d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3a80e60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23a80e60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d23a80e60d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23a80e60d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d23a80e60d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23a80e60d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23a80e60d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d23a80e60d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23a80e60d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2"/>
          <p:cNvSpPr txBox="1"/>
          <p:nvPr>
            <p:ph idx="12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53.png"/><Relationship Id="rId5" Type="http://schemas.openxmlformats.org/officeDocument/2006/relationships/image" Target="../media/image30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46.png"/><Relationship Id="rId6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58.png"/><Relationship Id="rId5" Type="http://schemas.openxmlformats.org/officeDocument/2006/relationships/image" Target="../media/image52.png"/><Relationship Id="rId6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Relationship Id="rId6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Relationship Id="rId4" Type="http://schemas.openxmlformats.org/officeDocument/2006/relationships/image" Target="../media/image65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g3d23a80e60d_0_5"/>
          <p:cNvGraphicFramePr/>
          <p:nvPr/>
        </p:nvGraphicFramePr>
        <p:xfrm>
          <a:off x="231513" y="247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{34698A42-45C6-46A2-B2AF-689C389BC3D7}</a:tableStyleId>
              </a:tblPr>
              <a:tblGrid>
                <a:gridCol w="1616750"/>
                <a:gridCol w="5233350"/>
                <a:gridCol w="2915750"/>
                <a:gridCol w="2121350"/>
              </a:tblGrid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Group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Meaning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Used variables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Role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Y1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Click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y_click_present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Y3 + detailed screen variables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Y2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Screen entropy total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entropy of normalized screen components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Built from screen-only features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Y3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Behavior entropy total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H_all_7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Built from all 7 behavior actions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Screen component 1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Inverse whitespace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1 - whitespace_ratio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More filled screen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Screen component 2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Edge density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edge_density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Visual boundaries / clutter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Screen component 3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Color entropy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color_entropy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Color diversity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Screen component 4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Layout variation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horizontal_band_std</a:t>
                      </a: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en-US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vertical_band_std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</a:rPr>
                        <a:t>Distribution change across bands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" name="Google Shape;21;g3d23a80e60d_0_5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정의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oogle Shape;27;g3d23a80e60d_0_9"/>
          <p:cNvGraphicFramePr/>
          <p:nvPr/>
        </p:nvGraphicFramePr>
        <p:xfrm>
          <a:off x="225663" y="242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{34698A42-45C6-46A2-B2AF-689C389BC3D7}</a:tableStyleId>
              </a:tblPr>
              <a:tblGrid>
                <a:gridCol w="1616750"/>
                <a:gridCol w="5233350"/>
                <a:gridCol w="2915750"/>
                <a:gridCol w="2121350"/>
              </a:tblGrid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Group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Meaning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Used variables</a:t>
                      </a:r>
                      <a:endParaRPr b="1" sz="9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Role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Inverse symmetry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1 - symmetry_score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Less symmetric layout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6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Object density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component_density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Number of components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7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Text-like density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text_like_density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Text-like region density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8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Card-like blocks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card_like_count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Repeated card regions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9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Image region ratio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image_region_ratio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Image-heavy screens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Screen component 10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Clutter score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clutter_score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Overall visual complexity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Behavior action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scroll, input_text, wait, open_app, navigate_back, long_press, navigate_home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7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actions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Used in </a:t>
                      </a: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H_all_7</a:t>
                      </a:r>
                      <a:endParaRPr sz="10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" name="Google Shape;28;g3d23a80e60d_0_9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정의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g3d23a80e60d_0_40" title="formal_pants__Amazon__search_results_list__qa.png"/>
          <p:cNvPicPr preferRelativeResize="0"/>
          <p:nvPr/>
        </p:nvPicPr>
        <p:blipFill rotWithShape="1">
          <a:blip r:embed="rId3">
            <a:alphaModFix/>
          </a:blip>
          <a:srcRect b="0" l="0" r="35463" t="0"/>
          <a:stretch/>
        </p:blipFill>
        <p:spPr>
          <a:xfrm>
            <a:off x="170700" y="1380275"/>
            <a:ext cx="4833575" cy="54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d23a80e60d_0_40" title="samsung_refrigerator__eBay__search_input__qa.png"/>
          <p:cNvPicPr preferRelativeResize="0"/>
          <p:nvPr/>
        </p:nvPicPr>
        <p:blipFill rotWithShape="1">
          <a:blip r:embed="rId4">
            <a:alphaModFix/>
          </a:blip>
          <a:srcRect b="0" l="0" r="61570" t="0"/>
          <a:stretch/>
        </p:blipFill>
        <p:spPr>
          <a:xfrm>
            <a:off x="5427775" y="1380275"/>
            <a:ext cx="2708776" cy="54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3d23a80e60d_0_40" title="dress_shoes__Temu__product_detail__qa (1).png"/>
          <p:cNvPicPr preferRelativeResize="0"/>
          <p:nvPr/>
        </p:nvPicPr>
        <p:blipFill rotWithShape="1">
          <a:blip r:embed="rId5">
            <a:alphaModFix/>
          </a:blip>
          <a:srcRect b="0" l="0" r="59915" t="0"/>
          <a:stretch/>
        </p:blipFill>
        <p:spPr>
          <a:xfrm>
            <a:off x="8798150" y="1331800"/>
            <a:ext cx="2875825" cy="55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d23a80e60d_0_40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 별 매핑 예시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Google Shape;43;g3d23a80e60d_0_19"/>
          <p:cNvGraphicFramePr/>
          <p:nvPr/>
        </p:nvGraphicFramePr>
        <p:xfrm>
          <a:off x="314275" y="876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{34698A42-45C6-46A2-B2AF-689C389BC3D7}</a:tableStyleId>
              </a:tblPr>
              <a:tblGrid>
                <a:gridCol w="1091075"/>
                <a:gridCol w="1979700"/>
                <a:gridCol w="1979700"/>
                <a:gridCol w="1394800"/>
                <a:gridCol w="1709700"/>
                <a:gridCol w="1709700"/>
                <a:gridCol w="1327275"/>
              </a:tblGrid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앱 이름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1페이지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2페이지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3페이지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4페이지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5페이지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6페이지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Amazon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eBay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ZARA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Gmail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PUMA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ShopClues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ASOS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Shopsy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Temu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Joom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Decathlon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H&amp;M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" name="Google Shape;44;g3d23a80e60d_0_19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 별 매핑- 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 구두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전체 앱 비교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11480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ppwise_y123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2421838"/>
            <a:ext cx="5513832" cy="24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153912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ppwise_table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987472"/>
            <a:ext cx="5513832" cy="534025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Amazon / ZARA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mazon__pagewise_y123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mazon__pagewise_table.png" id="65" name="Google Shape;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043007"/>
            <a:ext cx="5513832" cy="23488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ZARA__pagewise_y123.png" id="67" name="Google Shape;6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ZARA__pagewise_table.png" id="69" name="Google Shape;6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38900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eBay / Temu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eBay__pagewise_y123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eBay__pagewise_table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6673" y="969264"/>
            <a:ext cx="5198039" cy="249631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Temu__pagewise_y123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Temu__pagewise_table.png" id="84" name="Google Shape;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Shopsy / ShopClues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Shopsy__pagewise_y123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Shopsy__pagewise_table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45848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ShopClues__pagewise_y123.png"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ShopClues__pagewise_table.png" id="99" name="Google Shape;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03963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Gmail / PUMA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Gmail__pagewise_y123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Gmail__pagewise_table.png" id="110" name="Google Shape;1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19257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PUMA__pagewise_y123.png" id="112" name="Google Shape;11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PUMA__pagewise_table.png"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38900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ASOS / Footshop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SOS__pagewise_y123.png"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ASOS__pagewise_table.png" id="125" name="Google Shape;1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45848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Footshop__pagewise_y123.png"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Footshop__pagewise_table.png" id="129" name="Google Shape;1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Joom / Banggood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Joom__pagewise_y123.png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Joom__pagewise_table.png"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45848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Banggood__pagewise_y123.png" id="142" name="Google Shape;1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Banggood__pagewise_table.png" id="144" name="Google Shape;14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Centr / Decathlon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Centr__pagewise_y123.png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Centr__pagewise_table.png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45848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0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Decathlon__pagewise_y123.png"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Decathlon__pagewise_table.png" id="159" name="Google Shape;15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- H&amp;M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11480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H&amp;M__pagewise_y123.png"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24246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/>
          <p:nvPr/>
        </p:nvSpPr>
        <p:spPr>
          <a:xfrm>
            <a:off x="6153912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dress_shoes__H&amp;M__pagewise_table.png"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28986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3a80e60d_0_49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정장구두 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g3d23a80e60d_0_49"/>
          <p:cNvSpPr txBox="1"/>
          <p:nvPr>
            <p:ph idx="4294967295" type="sldNum"/>
          </p:nvPr>
        </p:nvSpPr>
        <p:spPr>
          <a:xfrm>
            <a:off x="11475720" y="164592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d23a80e60d_0_49" title="dress_shoes__semantic_app_comp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301" y="1161325"/>
            <a:ext cx="7513400" cy="518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g3d23a80e60d_0_24"/>
          <p:cNvGraphicFramePr/>
          <p:nvPr/>
        </p:nvGraphicFramePr>
        <p:xfrm>
          <a:off x="757263" y="13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{34698A42-45C6-46A2-B2AF-689C389BC3D7}</a:tableStyleId>
              </a:tblPr>
              <a:tblGrid>
                <a:gridCol w="2078500"/>
                <a:gridCol w="1843825"/>
                <a:gridCol w="2547850"/>
                <a:gridCol w="2547850"/>
                <a:gridCol w="1659450"/>
              </a:tblGrid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앱 이름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1페이지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2페이지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3페이지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4페이지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Amazon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Myntra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NykaaFashion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eBay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Temu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Tata CLiQ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Snapdeal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Flipkart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Shopsy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g3d23a80e60d_0_24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 별 매핑- 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 바지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정장바지 - NykaaFashion / Myntra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NykaaFashion__pagewise_y123.png" id="194" name="Google Shape;1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NykaaFashion__pagewise_table.png" id="196" name="Google Shape;1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19257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Myntra__pagewise_y123.png" id="198" name="Google Shape;19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Myntra__pagewise_table.png" id="200" name="Google Shape;2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38900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정장바지 - Tata CLiQ / Temu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ata_CLiQ__pagewise_y123.png"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ata_CLiQ__pagewise_table.png" id="211" name="Google Shape;2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34215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emu__pagewise_y123.png" id="213" name="Google Shape;2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emu__pagewise_table.png" id="215" name="Google Shape;2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정장바지 - Amazon / Flipkart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Amazon__pagewise_y123.png"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5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Amazon__pagewise_table.png" id="226" name="Google Shape;2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34215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5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Flipkart__pagewise_y123.png" id="228" name="Google Shape;2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Flipkart__pagewise_table.png" id="230" name="Google Shape;2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155963"/>
            <a:ext cx="5513832" cy="151787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정장바지 - Shopsy / Snapdeal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Shopsy__pagewise_y123.png" id="239" name="Google Shape;2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Shopsy__pagewise_table.png" id="241" name="Google Shape;2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34215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Snapdeal__pagewise_y123.png" id="243" name="Google Shape;2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Snapdeal__pagewise_table.png" id="245" name="Google Shape;2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03963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정장바지 - Tata Neu / eBay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ata_Neu__pagewise_y123.png" id="254" name="Google Shape;2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7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Tata_Neu__pagewise_table.png" id="256" name="Google Shape;2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34215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eBay__pagewise_y123.png" id="258" name="Google Shape;2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formal_pants__eBay__pagewise_table.png" id="260" name="Google Shape;2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4039630"/>
            <a:ext cx="5513832" cy="1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23a80e60d_0_60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정장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바지</a:t>
            </a: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g3d23a80e60d_0_60"/>
          <p:cNvSpPr txBox="1"/>
          <p:nvPr>
            <p:ph idx="4294967295" type="sldNum"/>
          </p:nvPr>
        </p:nvSpPr>
        <p:spPr>
          <a:xfrm>
            <a:off x="11475720" y="164592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d23a80e60d_0_60" title="formal_pants__semantic_app_comp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050" y="884316"/>
            <a:ext cx="8855910" cy="6114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g3d23a80e60d_0_30"/>
          <p:cNvGraphicFramePr/>
          <p:nvPr/>
        </p:nvGraphicFramePr>
        <p:xfrm>
          <a:off x="1976438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{34698A42-45C6-46A2-B2AF-689C389BC3D7}</a:tableStyleId>
              </a:tblPr>
              <a:tblGrid>
                <a:gridCol w="1321075"/>
                <a:gridCol w="1109300"/>
                <a:gridCol w="1532875"/>
                <a:gridCol w="1311000"/>
                <a:gridCol w="1774900"/>
                <a:gridCol w="1189975"/>
              </a:tblGrid>
              <a:tr h="87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앱 이름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1페이지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2페이지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3페이지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4페이지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5페이지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1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Amazon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Samsung Shop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Ubuy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search_results_list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eBay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entry_home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search_input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rgbClr val="1F1F1F"/>
                          </a:solidFill>
                        </a:rPr>
                        <a:t>product_detail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6" name="Google Shape;276;g3d23a80e60d_0_30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 별 매핑- 삼성 냉장고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삼성냉장고 - 전체 앱 비교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411480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appwise_y123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2421838"/>
            <a:ext cx="5513832" cy="24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/>
          <p:nvPr/>
        </p:nvSpPr>
        <p:spPr>
          <a:xfrm>
            <a:off x="6153912" y="914400"/>
            <a:ext cx="562356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appwise_table.png" id="286" name="Google Shape;2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26327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삼성냉장고 - Amazon / Samsung Shop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Amazon__pagewise_y123.png" id="295" name="Google Shape;2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9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Amazon__pagewise_table.png" id="297" name="Google Shape;2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043007"/>
            <a:ext cx="5513832" cy="234882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9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Samsung_Shop__pagewise_y123.png" id="299" name="Google Shape;2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9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Samsung_Shop__pagewise_table.png" id="301" name="Google Shape;3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38900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/>
          <p:nvPr/>
        </p:nvSpPr>
        <p:spPr>
          <a:xfrm>
            <a:off x="411480" y="12801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삼성냉장고 - Ubuy / eBay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11480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Ubuy__pagewise_y123.png" id="310" name="Google Shape;3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98447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6153912" y="91440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Ubuy__pagewise_table.png" id="312" name="Google Shape;3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76" y="119257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/>
          <p:nvPr/>
        </p:nvSpPr>
        <p:spPr>
          <a:xfrm>
            <a:off x="411480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eBay__pagewise_y123.png" id="314" name="Google Shape;3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3681950"/>
            <a:ext cx="5513832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/>
          <p:nvPr/>
        </p:nvSpPr>
        <p:spPr>
          <a:xfrm>
            <a:off x="6153912" y="3611880"/>
            <a:ext cx="562356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y123_final_review/samsung_refrigerator__eBay__pagewise_table.png" id="316" name="Google Shape;3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776" y="3890058"/>
            <a:ext cx="5513832" cy="204968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>
            <p:ph idx="4294967295" type="sldNum"/>
          </p:nvPr>
        </p:nvSpPr>
        <p:spPr>
          <a:xfrm>
            <a:off x="11475720" y="16459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23a80e60d_0_72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 냉장고</a:t>
            </a: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g3d23a80e60d_0_72"/>
          <p:cNvSpPr txBox="1"/>
          <p:nvPr>
            <p:ph idx="4294967295" type="sldNum"/>
          </p:nvPr>
        </p:nvSpPr>
        <p:spPr>
          <a:xfrm>
            <a:off x="11475720" y="164592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d23a80e60d_0_72" title="samsung_refrigerator__semantic_app_comp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563" y="1218475"/>
            <a:ext cx="8062874" cy="556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23a80e60d_0_79"/>
          <p:cNvSpPr/>
          <p:nvPr/>
        </p:nvSpPr>
        <p:spPr>
          <a:xfrm>
            <a:off x="411480" y="128016"/>
            <a:ext cx="10789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g3d23a80e60d_0_79"/>
          <p:cNvSpPr txBox="1"/>
          <p:nvPr>
            <p:ph idx="4294967295" type="sldNum"/>
          </p:nvPr>
        </p:nvSpPr>
        <p:spPr>
          <a:xfrm>
            <a:off x="11475720" y="164592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d23a80e60d_0_79" title="overall__semantic_task_comp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125" y="1074950"/>
            <a:ext cx="8349752" cy="558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2026-03-24T18:53:38Z</dcterms:created>
  <dc:creator>OpenAI</dc:creator>
</cp:coreProperties>
</file>