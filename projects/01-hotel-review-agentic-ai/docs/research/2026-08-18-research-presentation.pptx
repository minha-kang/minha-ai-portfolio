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3" roundtripDataSignature="AMtx7mhCFNNVms9RJ0IdV/dFVi0Pk7t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62D888-645B-4954-BE14-91310D79667C}">
  <a:tblStyle styleId="{3062D888-645B-4954-BE14-91310D79667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customschemas.google.com/relationships/presentationmetadata" Target="meta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오늘은 교수님 피드백을 반영해 리뷰별 개선안 시스템을 호텔별 의사결정 시스템으로 바꾼 결과를 보고드립니다. 핵심은 8,258개 후보를 근거가 안정적인 5개 최우선 과제로 압축한 것입니다.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면담 후반의 요구를 여섯 가지 구현 항목으로 바꿨습니다. 단순히 개선안을 많이 생성하는 것이 아니라, 호텔별 우선순위를 설명하고 원 리뷰까지 추적할 수 있어야 합니다.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기존 시스템은 1,321개의 문제에 평균 6개 이상의 조치를 만들었습니다. 변경 후에는 호텔별로 안정적인 Q2만 남기고 호텔별 대표 과제까지 압축합니다.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1,000개 리뷰에는 137개 호텔이 포함되어 있지만 호텔별 리뷰 수가 고르지 않습니다. 그래서 독립 IPA를 모든 호텔에 강제로 만들지 않고 표본 기준을 적용했습니다.</a:t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분석은 일곱 단계입니다. Agent 5가 각 문제 label의 별점 관련성과 영향도를 연결하고, 호텔 IPA가 이를 중요도와 성과로 집계합니다. 안정성 검사를 통과한 Q2만 Journey와 실행안 단계로 보냅니다.</a:t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137개 호텔 중 독립 분석 기준을 충족한 호텔은 7개입니다. 그중 2개는 안정성이 부족해 보류했습니다. 불안정한 결과를 억지로 제시하지 않은 것도 연구 설계상의 성과입니다.</a:t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성과는 동일 Feature의 전체 벤치마크와 비교하고, 중요도는 부정 발생률과 호텔 내부 평점 격차를 결합합니다. 중요도는 인과효과가 아니라 탐색적 우선순위 지표입니다.</a:t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사분면 자체보다 중요한 것은 게이트입니다. Q2 중에서도 bootstrap 안정성이 있는 항목만 Journey와 실행안 연결 단계로 보냅니다.</a:t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교수님께는 이 표를 중심으로 설명하면 됩니다. 호텔별 표본수, 안정확률, 부정 리뷰 수, 평점 격차, 실행 방향을 한 번에 볼 수 있습니다.</a:t>
            </a:r>
            <a:endParaRPr/>
          </a:p>
        </p:txBody>
      </p:sp>
      <p:sp>
        <p:nvSpPr>
          <p:cNvPr id="281" name="Google Shape;28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이 사례에서는 수치와 원 리뷰가 같은 결론을 지지합니다. 따라서 생성형 모델 자체가 아니라, 호텔 통계와 반복 근거가 실행 방향을 정당화한다고 설명합니다.</a:t>
            </a:r>
            <a:endParaRPr/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역추적은 텍스트 유사도 추측이 아니라 식별자 조인으로 진행합니다. 최종 실행안의 recommendation_id에서 Agent 6의 source_review_ids와 impact_id를 찾고, Agent 5의 source_label_id와 별점을 거쳐 A1–A4 label의 근거 문장으로 이동합니다. 마지막으로 source_review_id를 입력 리뷰와 조인해 호텔, 평점, 원문을 복원합니다.</a:t>
            </a:r>
            <a:endParaRPr/>
          </a:p>
        </p:txBody>
      </p:sp>
      <p:sp>
        <p:nvSpPr>
          <p:cNvPr id="332" name="Google Shape;33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원본 캐시를 다시 집계해 8,258개가 정확한지 확인했습니다. 다만 이는 독립 전략 수가 아니라 리뷰별 문제마다 4~10개씩 생성된 원시 후보 수입니다.</a:t>
            </a:r>
            <a:endParaRPr/>
          </a:p>
        </p:txBody>
      </p:sp>
      <p:sp>
        <p:nvSpPr>
          <p:cNvPr id="375" name="Google Shape;37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기존 8,258개는 폐기하지 않고 후보 저장소로 사용했습니다. 안정 Q2와 정확히 연결되는 항목만 그룹당 두 개, 호텔당 한 개로 압축했습니다.</a:t>
            </a:r>
            <a:endParaRPr/>
          </a:p>
        </p:txBody>
      </p:sp>
      <p:sp>
        <p:nvSpPr>
          <p:cNvPr id="432" name="Google Shape;43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코드는 별도 데모가 아니라 기존 실행 파일에 선택 옵션으로 추가했습니다. 현재 결과는 재사용하고, 신규 데이터에서는 병렬화와 priority Agent 6로 시간을 줄입니다.</a:t>
            </a:r>
            <a:endParaRPr/>
          </a:p>
        </p:txBody>
      </p:sp>
      <p:sp>
        <p:nvSpPr>
          <p:cNvPr id="470" name="Google Shape;47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교수님께 추가 성과로 강조할 부분입니다. 단순 IPA를 넘어서 안정성, 수축, 보류, 역추적, 기간 민감도, 원본 감사까지 수행했습니다.</a:t>
            </a:r>
            <a:endParaRPr/>
          </a:p>
        </p:txBody>
      </p:sp>
      <p:sp>
        <p:nvSpPr>
          <p:cNvPr id="510" name="Google Shape;51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논문의 방어력을 위해 주장 범위를 명확히 구분했습니다. 지금은 방법론 시범과 활용 가능성을 보여주는 단계이며 효과와 전문가 타당성은 향후 연구입니다.</a:t>
            </a:r>
            <a:endParaRPr/>
          </a:p>
        </p:txBody>
      </p:sp>
      <p:sp>
        <p:nvSpPr>
          <p:cNvPr id="547" name="Google Shape;54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이 장은 Introduction의 연구 공백과 기여 문단에 바로 사용할 수 있습니다. 문제, 방법, 결과를 한 문장씩 제시한 뒤 이론적·방법론적·실무적 기여를 구분합니다.</a:t>
            </a:r>
            <a:endParaRPr/>
          </a:p>
        </p:txBody>
      </p:sp>
      <p:sp>
        <p:nvSpPr>
          <p:cNvPr id="566" name="Google Shape;56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호텔 9587422의 실제 근거 리뷰와 연결 실행안 사례입니다. 생성문 자체보다 통계와 반복 근거가 같은 방향을 지지하는지 설명합니다.</a:t>
            </a:r>
            <a:endParaRPr/>
          </a:p>
        </p:txBody>
      </p:sp>
      <p:sp>
        <p:nvSpPr>
          <p:cNvPr id="602" name="Google Shape;60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호텔 306198의 실제 근거 리뷰와 연결 실행안 사례입니다. 생성문 자체보다 통계와 반복 근거가 같은 방향을 지지하는지 설명합니다.</a:t>
            </a:r>
            <a:endParaRPr/>
          </a:p>
        </p:txBody>
      </p:sp>
      <p:sp>
        <p:nvSpPr>
          <p:cNvPr id="635" name="Google Shape;63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호텔 1447338의 실제 근거 리뷰와 연결 실행안 사례입니다. 생성문 자체보다 통계와 반복 근거가 같은 방향을 지지하는지 설명합니다.</a:t>
            </a:r>
            <a:endParaRPr/>
          </a:p>
        </p:txBody>
      </p:sp>
      <p:sp>
        <p:nvSpPr>
          <p:cNvPr id="668" name="Google Shape;66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논문의 분석 절차도와 재현성 절에 사용할 수 있습니다. 각 단계의 입력·출력 식별자를 고정하면 결과 생성과 역추적을 같은 체계에서 설명할 수 있습니다.</a:t>
            </a:r>
            <a:endParaRPr/>
          </a:p>
        </p:txBody>
      </p:sp>
      <p:sp>
        <p:nvSpPr>
          <p:cNvPr id="701" name="Google Shape;70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9" name="Google Shape;73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Results의 선정 기준과 Methods의 의사결정 규칙을 연결하는 장입니다. 각 게이트에서 보류 조건을 함께 명시해 선택 편향과 과잉 추천을 줄입니다.</a:t>
            </a:r>
            <a:endParaRPr/>
          </a:p>
        </p:txBody>
      </p:sp>
      <p:sp>
        <p:nvSpPr>
          <p:cNvPr id="740" name="Google Shape;74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Discussion의 한계와 타당성 절에 바로 사용할 수 있는 표입니다. 단순히 한계를 나열하지 않고 각 위협에 대응하는 분석과 보고 방식을 짝지었습니다.</a:t>
            </a:r>
            <a:endParaRPr/>
          </a:p>
        </p:txBody>
      </p:sp>
      <p:sp>
        <p:nvSpPr>
          <p:cNvPr id="776" name="Google Shape;776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이 장은 실제 논문 작성 순서를 제안합니다. 현재 근거가 가장 구체적인 Methods와 Results를 먼저 쓰고, 확인된 결과에 맞춰 Introduction과 Discussion의 주장 강도를 조정합니다.</a:t>
            </a:r>
            <a:endParaRPr/>
          </a:p>
        </p:txBody>
      </p:sp>
      <p:sp>
        <p:nvSpPr>
          <p:cNvPr id="827" name="Google Shape;827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7" name="Google Shape;867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오늘은 교수님 피드백을 반영해 리뷰별 개선안 시스템을 호텔별 의사결정 시스템으로 바꾼 결과를 보고드립니다. 핵심은 8,258개 후보를 근거가 안정적인 5개 최우선 과제로 압축한 것입니다.</a:t>
            </a:r>
            <a:endParaRPr/>
          </a:p>
        </p:txBody>
      </p:sp>
      <p:sp>
        <p:nvSpPr>
          <p:cNvPr id="868" name="Google Shape;868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3" name="Google Shape;883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이 장은 Introduction의 연구 공백과 기여 문단에 바로 사용할 수 있습니다. 문제, 방법, 결과를 한 문장씩 제시한 뒤 이론적·방법론적·실무적 기여를 구분합니다.</a:t>
            </a:r>
            <a:endParaRPr/>
          </a:p>
        </p:txBody>
      </p:sp>
      <p:sp>
        <p:nvSpPr>
          <p:cNvPr id="884" name="Google Shape;884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9" name="Google Shape;919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1,000개 리뷰에는 137개 호텔이 포함되어 있지만 호텔별 리뷰 수가 고르지 않습니다. 그래서 독립 IPA를 모든 호텔에 강제로 만들지 않고 표본 기준을 적용했습니다.</a:t>
            </a:r>
            <a:endParaRPr/>
          </a:p>
        </p:txBody>
      </p:sp>
      <p:sp>
        <p:nvSpPr>
          <p:cNvPr id="920" name="Google Shape;920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2" name="Google Shape;962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기존 8,258개는 폐기하지 않고 후보 저장소로 사용했습니다. 안정 Q2와 정확히 연결되는 항목만 그룹당 두 개, 호텔당 한 개로 압축했습니다.</a:t>
            </a:r>
            <a:endParaRPr/>
          </a:p>
        </p:txBody>
      </p:sp>
      <p:sp>
        <p:nvSpPr>
          <p:cNvPr id="963" name="Google Shape;963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1" name="Google Shape;1001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137개 호텔 중 독립 분석 기준을 충족한 호텔은 7개입니다. 그중 2개는 안정성이 부족해 보류했습니다. 불안정한 결과를 억지로 제시하지 않은 것도 연구 설계상의 성과입니다.</a:t>
            </a:r>
            <a:endParaRPr/>
          </a:p>
        </p:txBody>
      </p:sp>
      <p:sp>
        <p:nvSpPr>
          <p:cNvPr id="1002" name="Google Shape;1002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8" name="Google Shape;1028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1,000개 리뷰에는 137개 호텔이 포함되어 있지만 호텔별 리뷰 수가 고르지 않습니다. 그래서 독립 IPA를 모든 호텔에 강제로 만들지 않고 표본 기준을 적용했습니다.</a:t>
            </a:r>
            <a:endParaRPr/>
          </a:p>
        </p:txBody>
      </p:sp>
      <p:sp>
        <p:nvSpPr>
          <p:cNvPr id="1029" name="Google Shape;1029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1" name="Google Shape;1071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논문의 방어력을 위해 주장 범위를 명확히 구분했습니다. 지금은 방법론 시범과 활용 가능성을 보여주는 단계이며 효과와 전문가 타당성은 향후 연구입니다.</a:t>
            </a:r>
            <a:endParaRPr/>
          </a:p>
        </p:txBody>
      </p:sp>
      <p:sp>
        <p:nvSpPr>
          <p:cNvPr id="1072" name="Google Shape;1072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1" name="Google Shape;1091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논문의 분석 절차도와 재현성 절에 사용할 수 있습니다. 각 단계의 입력·출력 식별자를 고정하면 결과 생성과 역추적을 같은 체계에서 설명할 수 있습니다.</a:t>
            </a:r>
            <a:endParaRPr/>
          </a:p>
        </p:txBody>
      </p:sp>
      <p:sp>
        <p:nvSpPr>
          <p:cNvPr id="1092" name="Google Shape;1092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0" name="Google Shape;1130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오늘은 교수님 피드백을 반영해 리뷰별 개선안 시스템을 호텔별 의사결정 시스템으로 바꾼 결과를 보고드립니다. 핵심은 8,258개 후보를 근거가 안정적인 5개 최우선 과제로 압축한 것입니다.</a:t>
            </a:r>
            <a:endParaRPr/>
          </a:p>
        </p:txBody>
      </p:sp>
      <p:sp>
        <p:nvSpPr>
          <p:cNvPr id="1131" name="Google Shape;1131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6" name="Google Shape;1146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이 표는 Methods의 변수 조작화 절에 사용합니다. 중요도와 성과를 구분하고, Agent 5 별점 관련성이 중요도 계산에 어떻게 들어가는지 명시합니다.</a:t>
            </a:r>
            <a:endParaRPr/>
          </a:p>
        </p:txBody>
      </p:sp>
      <p:sp>
        <p:nvSpPr>
          <p:cNvPr id="1147" name="Google Shape;1147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6" name="Google Shape;1206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다섯 호텔의 Q2 안정확률과 호텔 내부 평점 격차를 비교했습니다. 306198은 체크아웃 문제가 평균 2.39점 격차와 연결되어 있어 상대적으로 강한 우선순위입니다.</a:t>
            </a:r>
            <a:endParaRPr/>
          </a:p>
        </p:txBody>
      </p:sp>
      <p:sp>
        <p:nvSpPr>
          <p:cNvPr id="1207" name="Google Shape;1207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1" name="Google Shape;1261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다섯 호텔의 Q2 안정확률과 호텔 내부 평점 격차를 비교했습니다. 306198은 체크아웃 문제가 평균 2.39점 격차와 연결되어 있어 상대적으로 강한 우선순위입니다.</a:t>
            </a:r>
            <a:endParaRPr/>
          </a:p>
        </p:txBody>
      </p:sp>
      <p:sp>
        <p:nvSpPr>
          <p:cNvPr id="1262" name="Google Shape;1262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6" name="Google Shape;1316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논문의 방어력을 위해 주장 범위를 명확히 구분했습니다. 지금은 방법론 시범과 활용 가능성을 보여주는 단계이며 효과와 전문가 타당성은 향후 연구입니다.</a:t>
            </a:r>
            <a:endParaRPr/>
          </a:p>
        </p:txBody>
      </p:sp>
      <p:sp>
        <p:nvSpPr>
          <p:cNvPr id="1317" name="Google Shape;1317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6" name="Google Shape;1336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다섯 호텔의 Q2 안정확률과 호텔 내부 평점 격차를 비교했습니다. 306198은 체크아웃 문제가 평균 2.39점 격차와 연결되어 있어 상대적으로 강한 우선순위입니다.</a:t>
            </a:r>
            <a:endParaRPr/>
          </a:p>
        </p:txBody>
      </p:sp>
      <p:sp>
        <p:nvSpPr>
          <p:cNvPr id="1337" name="Google Shape;1337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1" name="Google Shape;1391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코드는 별도 데모가 아니라 기존 실행 파일에 선택 옵션으로 추가했습니다. 현재 결과는 재사용하고, 신규 데이터에서는 병렬화와 priority Agent 6로 시간을 줄입니다.</a:t>
            </a:r>
            <a:endParaRPr/>
          </a:p>
        </p:txBody>
      </p:sp>
      <p:sp>
        <p:nvSpPr>
          <p:cNvPr id="1392" name="Google Shape;1392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2" name="Google Shape;1432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오늘은 교수님 피드백을 반영해 리뷰별 개선안 시스템을 호텔별 의사결정 시스템으로 바꾼 결과를 보고드립니다. 핵심은 8,258개 후보를 근거가 안정적인 5개 최우선 과제로 압축한 것입니다.</a:t>
            </a:r>
            <a:endParaRPr/>
          </a:p>
        </p:txBody>
      </p:sp>
      <p:sp>
        <p:nvSpPr>
          <p:cNvPr id="1433" name="Google Shape;1433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8" name="Google Shape;1448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논문의 분석 절차도와 재현성 절에 사용할 수 있습니다. 각 단계의 입력·출력 식별자를 고정하면 결과 생성과 역추적을 같은 체계에서 설명할 수 있습니다.</a:t>
            </a:r>
            <a:endParaRPr/>
          </a:p>
        </p:txBody>
      </p:sp>
      <p:sp>
        <p:nvSpPr>
          <p:cNvPr id="1449" name="Google Shape;1449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7" name="Google Shape;1487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다섯 호텔의 Q2 안정확률과 호텔 내부 평점 격차를 비교했습니다. 306198은 체크아웃 문제가 평균 2.39점 격차와 연결되어 있어 상대적으로 강한 우선순위입니다.</a:t>
            </a:r>
            <a:endParaRPr/>
          </a:p>
        </p:txBody>
      </p:sp>
      <p:sp>
        <p:nvSpPr>
          <p:cNvPr id="1488" name="Google Shape;1488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2" name="Google Shape;1542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기존 8,258개는 폐기하지 않고 후보 저장소로 사용했습니다. 안정 Q2와 정확히 연결되는 항목만 그룹당 두 개, 호텔당 한 개로 압축했습니다.</a:t>
            </a:r>
            <a:endParaRPr/>
          </a:p>
        </p:txBody>
      </p:sp>
      <p:sp>
        <p:nvSpPr>
          <p:cNvPr id="1543" name="Google Shape;1543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1" name="Google Shape;1581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다섯 호텔의 Q2 안정확률과 호텔 내부 평점 격차를 비교했습니다. 306198은 체크아웃 문제가 평균 2.39점 격차와 연결되어 있어 상대적으로 강한 우선순위입니다.</a:t>
            </a:r>
            <a:endParaRPr/>
          </a:p>
        </p:txBody>
      </p:sp>
      <p:sp>
        <p:nvSpPr>
          <p:cNvPr id="1582" name="Google Shape;1582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6" name="Google Shape;1636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논문의 방어력을 위해 주장 범위를 명확히 구분했습니다. 지금은 방법론 시범과 활용 가능성을 보여주는 단계이며 효과와 전문가 타당성은 향후 연구입니다.</a:t>
            </a:r>
            <a:endParaRPr/>
          </a:p>
        </p:txBody>
      </p:sp>
      <p:sp>
        <p:nvSpPr>
          <p:cNvPr id="1637" name="Google Shape;1637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6" name="Google Shape;1656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Results의 선정 기준과 Methods의 의사결정 규칙을 연결하는 장입니다. 각 게이트에서 보류 조건을 함께 명시해 선택 편향과 과잉 추천을 줄입니다.</a:t>
            </a:r>
            <a:endParaRPr/>
          </a:p>
        </p:txBody>
      </p:sp>
      <p:sp>
        <p:nvSpPr>
          <p:cNvPr id="1657" name="Google Shape;1657;p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8" name="Google Shape;1698;p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마지막으로 논문의 중심과 전문가 검증 범위를 교수님께 확인받으면 됩니다. 승인 후 Methods와 Results에 바로 반영하고, 환경 복구 뒤 재현성 테스트를 마무리하겠습니다.</a:t>
            </a:r>
            <a:endParaRPr/>
          </a:p>
        </p:txBody>
      </p:sp>
      <p:sp>
        <p:nvSpPr>
          <p:cNvPr id="1699" name="Google Shape;1699;p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" name="Google Shape;17;p1"/>
          <p:cNvSpPr/>
          <p:nvPr/>
        </p:nvSpPr>
        <p:spPr>
          <a:xfrm rot="1500000">
            <a:off x="7772400" y="-1097280"/>
            <a:ext cx="5212080" cy="52120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77DFF">
              <a:alpha val="52157"/>
            </a:srgbClr>
          </a:solidFill>
          <a:ln cap="flat" cmpd="sng" w="12700">
            <a:solidFill>
              <a:srgbClr val="377D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" name="Google Shape;18;p1"/>
          <p:cNvSpPr/>
          <p:nvPr/>
        </p:nvSpPr>
        <p:spPr>
          <a:xfrm rot="-9000000">
            <a:off x="8778240" y="338328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0A7B5">
              <a:alpha val="38039"/>
            </a:srgbClr>
          </a:solidFill>
          <a:ln cap="flat" cmpd="sng" w="12700">
            <a:solidFill>
              <a:srgbClr val="00A7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" name="Google Shape;19;p1"/>
          <p:cNvSpPr/>
          <p:nvPr/>
        </p:nvSpPr>
        <p:spPr>
          <a:xfrm>
            <a:off x="713232" y="658368"/>
            <a:ext cx="2450592" cy="329184"/>
          </a:xfrm>
          <a:prstGeom prst="roundRect">
            <a:avLst>
              <a:gd fmla="val 44444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" name="Google Shape;20;p1"/>
          <p:cNvSpPr/>
          <p:nvPr/>
        </p:nvSpPr>
        <p:spPr>
          <a:xfrm>
            <a:off x="786384" y="68580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교수님 08/05 피드백 반영본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13232" y="1325880"/>
            <a:ext cx="81381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1" i="0" lang="en-US" sz="40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리뷰 IPA</a:t>
            </a:r>
            <a:endParaRPr b="0" i="0" sz="4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239572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700"/>
              <a:buFont typeface="Malgun Gothic"/>
              <a:buNone/>
            </a:pPr>
            <a:r>
              <a:rPr b="0" i="0" lang="en-US" sz="1700" u="none" cap="none">
                <a:solidFill>
                  <a:srgbClr val="DCE6F5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Q1–Q4와 실행 우선순위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" y="3950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변화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334256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8,258개 원시 개선안  →  30개 실행안  →  호텔별 Top 5</a:t>
            </a:r>
            <a:endParaRPr b="0" i="0" sz="2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1520" y="61081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1050"/>
              <a:buFont typeface="Malgun Gothic"/>
              <a:buNone/>
            </a:pPr>
            <a:r>
              <a:t/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698480" y="610819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900"/>
              <a:buFont typeface="Malgun Gothic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교수님</a:t>
            </a:r>
            <a:r>
              <a:rPr b="1" lang="en-US" sz="2700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요구사항에 대한 답변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" y="1664208"/>
            <a:ext cx="3520440" cy="1207008"/>
          </a:xfrm>
          <a:prstGeom prst="roundRect">
            <a:avLst>
              <a:gd fmla="val 6061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" name="Google Shape;39;p2"/>
          <p:cNvSpPr/>
          <p:nvPr/>
        </p:nvSpPr>
        <p:spPr>
          <a:xfrm>
            <a:off x="502920" y="1664208"/>
            <a:ext cx="64008" cy="1207008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" name="Google Shape;40;p2"/>
          <p:cNvSpPr/>
          <p:nvPr/>
        </p:nvSpPr>
        <p:spPr>
          <a:xfrm>
            <a:off x="704088" y="1792224"/>
            <a:ext cx="3172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호텔별로 다시 묶기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04088" y="2167128"/>
            <a:ext cx="3154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1,000개를 한 덩어리로 보지 않고 호텔 단위로 분석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325112" y="1664208"/>
            <a:ext cx="3520440" cy="1207008"/>
          </a:xfrm>
          <a:prstGeom prst="roundRect">
            <a:avLst>
              <a:gd fmla="val 6061" name="adj"/>
            </a:avLst>
          </a:prstGeom>
          <a:solidFill>
            <a:srgbClr val="E7F7F7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3" name="Google Shape;43;p2"/>
          <p:cNvSpPr/>
          <p:nvPr/>
        </p:nvSpPr>
        <p:spPr>
          <a:xfrm>
            <a:off x="4325112" y="1664208"/>
            <a:ext cx="64008" cy="1207008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" name="Google Shape;44;p2"/>
          <p:cNvSpPr/>
          <p:nvPr/>
        </p:nvSpPr>
        <p:spPr>
          <a:xfrm>
            <a:off x="4526280" y="1792224"/>
            <a:ext cx="3172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Q1–Q4 계산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26280" y="2167128"/>
            <a:ext cx="3154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중요도와 성과를 결합하고 Q2만 우선 개선 대상으로 선별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147304" y="1664208"/>
            <a:ext cx="3520440" cy="1207008"/>
          </a:xfrm>
          <a:prstGeom prst="roundRect">
            <a:avLst>
              <a:gd fmla="val 6061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" name="Google Shape;47;p2"/>
          <p:cNvSpPr/>
          <p:nvPr/>
        </p:nvSpPr>
        <p:spPr>
          <a:xfrm>
            <a:off x="8147304" y="1664208"/>
            <a:ext cx="64008" cy="1207008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" name="Google Shape;48;p2"/>
          <p:cNvSpPr/>
          <p:nvPr/>
        </p:nvSpPr>
        <p:spPr>
          <a:xfrm>
            <a:off x="8348472" y="1792224"/>
            <a:ext cx="3172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별점과 근거 연결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348472" y="2167128"/>
            <a:ext cx="3154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중요한지 평점 격차와 원 리뷰 문장으로 설명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2920" y="3182112"/>
            <a:ext cx="3520440" cy="1207008"/>
          </a:xfrm>
          <a:prstGeom prst="roundRect">
            <a:avLst>
              <a:gd fmla="val 6061" name="adj"/>
            </a:avLst>
          </a:prstGeom>
          <a:solidFill>
            <a:srgbClr val="F0EDFA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" name="Google Shape;51;p2"/>
          <p:cNvSpPr/>
          <p:nvPr/>
        </p:nvSpPr>
        <p:spPr>
          <a:xfrm>
            <a:off x="502920" y="3182112"/>
            <a:ext cx="64008" cy="1207008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" name="Google Shape;52;p2"/>
          <p:cNvSpPr/>
          <p:nvPr/>
        </p:nvSpPr>
        <p:spPr>
          <a:xfrm>
            <a:off x="704088" y="3310128"/>
            <a:ext cx="3172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Journey까지 구체화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04088" y="3685032"/>
            <a:ext cx="3154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문제가 어느 고객 여정에서 나타나는지 2차 진단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25112" y="3182112"/>
            <a:ext cx="3520440" cy="1207008"/>
          </a:xfrm>
          <a:prstGeom prst="roundRect">
            <a:avLst>
              <a:gd fmla="val 6061" name="adj"/>
            </a:avLst>
          </a:prstGeom>
          <a:solidFill>
            <a:srgbClr val="FFF7D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" name="Google Shape;55;p2"/>
          <p:cNvSpPr/>
          <p:nvPr/>
        </p:nvSpPr>
        <p:spPr>
          <a:xfrm>
            <a:off x="4325112" y="3182112"/>
            <a:ext cx="64008" cy="1207008"/>
          </a:xfrm>
          <a:prstGeom prst="rect">
            <a:avLst/>
          </a:prstGeom>
          <a:solidFill>
            <a:srgbClr val="E9B949"/>
          </a:solidFill>
          <a:ln cap="flat" cmpd="sng" w="12700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" name="Google Shape;56;p2"/>
          <p:cNvSpPr/>
          <p:nvPr/>
        </p:nvSpPr>
        <p:spPr>
          <a:xfrm>
            <a:off x="4526280" y="3310128"/>
            <a:ext cx="3172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개선안의 양 줄이기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26280" y="3685032"/>
            <a:ext cx="3154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수천 개 문장을 호텔 담당자가 읽을 수 있는 수준으로 압축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147304" y="3182112"/>
            <a:ext cx="3520440" cy="1207008"/>
          </a:xfrm>
          <a:prstGeom prst="roundRect">
            <a:avLst>
              <a:gd fmla="val 6061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" name="Google Shape;59;p2"/>
          <p:cNvSpPr/>
          <p:nvPr/>
        </p:nvSpPr>
        <p:spPr>
          <a:xfrm>
            <a:off x="8147304" y="3182112"/>
            <a:ext cx="64008" cy="1207008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0" name="Google Shape;60;p2"/>
          <p:cNvSpPr/>
          <p:nvPr/>
        </p:nvSpPr>
        <p:spPr>
          <a:xfrm>
            <a:off x="8348472" y="3310128"/>
            <a:ext cx="3172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· 역추적과 효율성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348472" y="3685032"/>
            <a:ext cx="31546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→ 통계 → label → 리뷰 ID까지 연결하고 기존 결과 재사용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Before → After: 분석의 단위를 바꿨다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" name="Google Shape;70;p3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3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66928" y="1691640"/>
            <a:ext cx="4846320" cy="4224528"/>
          </a:xfrm>
          <a:prstGeom prst="roundRect">
            <a:avLst>
              <a:gd fmla="val 2165" name="adj"/>
            </a:avLst>
          </a:prstGeom>
          <a:solidFill>
            <a:srgbClr val="FCECE9"/>
          </a:solidFill>
          <a:ln cap="flat" cmpd="sng" w="15225">
            <a:solidFill>
              <a:srgbClr val="F6C7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4" name="Google Shape;74;p3"/>
          <p:cNvSpPr/>
          <p:nvPr/>
        </p:nvSpPr>
        <p:spPr>
          <a:xfrm>
            <a:off x="868680" y="1938528"/>
            <a:ext cx="1097280" cy="329184"/>
          </a:xfrm>
          <a:prstGeom prst="roundRect">
            <a:avLst>
              <a:gd fmla="val 4444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5" name="Google Shape;75;p3"/>
          <p:cNvSpPr/>
          <p:nvPr/>
        </p:nvSpPr>
        <p:spPr>
          <a:xfrm>
            <a:off x="941832" y="1965960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BEFORE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68680" y="239572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400"/>
              <a:buFont typeface="Malgun Gothic"/>
              <a:buNone/>
            </a:pPr>
            <a:r>
              <a:rPr b="1" i="0" lang="en-US" sz="2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리뷰별 생성 시스템</a:t>
            </a:r>
            <a:endParaRPr b="0" i="0" sz="2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77824" y="3063240"/>
            <a:ext cx="18745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8" name="Google Shape;78;p3"/>
          <p:cNvSpPr/>
          <p:nvPr/>
        </p:nvSpPr>
        <p:spPr>
          <a:xfrm>
            <a:off x="1014984" y="32278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1,321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14984" y="3721608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impact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971800" y="3063240"/>
            <a:ext cx="18745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" name="Google Shape;81;p3"/>
          <p:cNvSpPr/>
          <p:nvPr/>
        </p:nvSpPr>
        <p:spPr>
          <a:xfrm>
            <a:off x="3108960" y="32278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108960" y="3721608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원시 action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77824" y="4919472"/>
            <a:ext cx="4069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수와 label 수가 많을수록 개선안도 자동 증가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경영자가 우선순위를 선택하기 어려움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5623560" y="3703320"/>
            <a:ext cx="960120" cy="0"/>
          </a:xfrm>
          <a:prstGeom prst="straightConnector1">
            <a:avLst/>
          </a:prstGeom>
          <a:noFill/>
          <a:ln cap="flat" cmpd="sng" w="38100">
            <a:solidFill>
              <a:srgbClr val="377D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3"/>
          <p:cNvSpPr/>
          <p:nvPr/>
        </p:nvSpPr>
        <p:spPr>
          <a:xfrm>
            <a:off x="6784848" y="1691640"/>
            <a:ext cx="4846320" cy="4224528"/>
          </a:xfrm>
          <a:prstGeom prst="roundRect">
            <a:avLst>
              <a:gd fmla="val 2165" name="adj"/>
            </a:avLst>
          </a:prstGeom>
          <a:solidFill>
            <a:srgbClr val="EAF7F1"/>
          </a:solidFill>
          <a:ln cap="flat" cmpd="sng" w="152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" name="Google Shape;86;p3"/>
          <p:cNvSpPr/>
          <p:nvPr/>
        </p:nvSpPr>
        <p:spPr>
          <a:xfrm>
            <a:off x="7086600" y="1938528"/>
            <a:ext cx="1097280" cy="329184"/>
          </a:xfrm>
          <a:prstGeom prst="roundRect">
            <a:avLst>
              <a:gd fmla="val 4444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7" name="Google Shape;87;p3"/>
          <p:cNvSpPr/>
          <p:nvPr/>
        </p:nvSpPr>
        <p:spPr>
          <a:xfrm>
            <a:off x="7159752" y="1965960"/>
            <a:ext cx="9509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AFTER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086600" y="239572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400"/>
              <a:buFont typeface="Malgun Gothic"/>
              <a:buNone/>
            </a:pPr>
            <a:r>
              <a:rPr b="1" i="0" lang="en-US" sz="2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의사결정 시스템</a:t>
            </a:r>
            <a:endParaRPr b="0" i="0" sz="2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095744" y="3063240"/>
            <a:ext cx="18745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" name="Google Shape;90;p3"/>
          <p:cNvSpPr/>
          <p:nvPr/>
        </p:nvSpPr>
        <p:spPr>
          <a:xfrm>
            <a:off x="7232904" y="32278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232904" y="3721608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 Q2 그룹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189720" y="3063240"/>
            <a:ext cx="18745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3" name="Google Shape;93;p3"/>
          <p:cNvSpPr/>
          <p:nvPr/>
        </p:nvSpPr>
        <p:spPr>
          <a:xfrm>
            <a:off x="9326880" y="32278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326880" y="3721608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Top 과제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095744" y="4919472"/>
            <a:ext cx="4069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표본·별점·bootstrap으로 우선순위를 선별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과제에서 원 리뷰와 실행안까지 역추적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데이터와 분석 단위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4" name="Google Shape;104;p4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4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6692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8" name="Google Shape;108;p4"/>
          <p:cNvSpPr/>
          <p:nvPr/>
        </p:nvSpPr>
        <p:spPr>
          <a:xfrm>
            <a:off x="70408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1,000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0408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리뷰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0408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2015-01-03~2025-03-15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76148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4"/>
          <p:cNvSpPr/>
          <p:nvPr/>
        </p:nvSpPr>
        <p:spPr>
          <a:xfrm>
            <a:off x="289864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137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89864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89864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호텔위치코드 기준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95604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4"/>
          <p:cNvSpPr/>
          <p:nvPr/>
        </p:nvSpPr>
        <p:spPr>
          <a:xfrm>
            <a:off x="509320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3,425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9320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label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9320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1–4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15060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0" name="Google Shape;120;p4"/>
          <p:cNvSpPr/>
          <p:nvPr/>
        </p:nvSpPr>
        <p:spPr>
          <a:xfrm>
            <a:off x="728776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1,321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28776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impact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28776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5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34516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4" name="Google Shape;124;p4"/>
          <p:cNvSpPr/>
          <p:nvPr/>
        </p:nvSpPr>
        <p:spPr>
          <a:xfrm>
            <a:off x="948232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3.678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48232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평균별점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48232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5점 척도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66928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8" name="Google Shape;128;p4"/>
          <p:cNvSpPr/>
          <p:nvPr/>
        </p:nvSpPr>
        <p:spPr>
          <a:xfrm>
            <a:off x="566928" y="3584448"/>
            <a:ext cx="64008" cy="1417320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9" name="Google Shape;129;p4"/>
          <p:cNvSpPr/>
          <p:nvPr/>
        </p:nvSpPr>
        <p:spPr>
          <a:xfrm>
            <a:off x="768096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분석 단위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68096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× Feature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리뷰의 같은 Feature는 1표로 집계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242816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2" name="Google Shape;132;p4"/>
          <p:cNvSpPr/>
          <p:nvPr/>
        </p:nvSpPr>
        <p:spPr>
          <a:xfrm>
            <a:off x="4242816" y="3584448"/>
            <a:ext cx="64008" cy="1417320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4"/>
          <p:cNvSpPr/>
          <p:nvPr/>
        </p:nvSpPr>
        <p:spPr>
          <a:xfrm>
            <a:off x="4443984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2차 진단 단위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443984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 Q2 Feature × Journey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문제가 나타나는 시점을 구체화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918704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" name="Google Shape;136;p4"/>
          <p:cNvSpPr/>
          <p:nvPr/>
        </p:nvSpPr>
        <p:spPr>
          <a:xfrm>
            <a:off x="7918704" y="3584448"/>
            <a:ext cx="64008" cy="1417320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" name="Google Shape;137;p4"/>
          <p:cNvSpPr/>
          <p:nvPr/>
        </p:nvSpPr>
        <p:spPr>
          <a:xfrm>
            <a:off x="8119872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의사결정 단위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119872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최우선 과제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통계·근거·실행안을 한 행으로 연결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분석 파이프라인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7" name="Google Shape;147;p5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5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47472" y="1938528"/>
            <a:ext cx="1389888" cy="2057400"/>
          </a:xfrm>
          <a:prstGeom prst="roundRect">
            <a:avLst>
              <a:gd fmla="val 5263" name="adj"/>
            </a:avLst>
          </a:prstGeom>
          <a:solidFill>
            <a:srgbClr val="EAF1FF"/>
          </a:solidFill>
          <a:ln cap="flat" cmpd="sng" w="15225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5"/>
          <p:cNvSpPr/>
          <p:nvPr/>
        </p:nvSpPr>
        <p:spPr>
          <a:xfrm>
            <a:off x="493776" y="2103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38912" y="2560320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A1–A4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38912" y="3072384"/>
            <a:ext cx="1207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근거·Feature·감성·Journey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1755648" y="2962656"/>
            <a:ext cx="210312" cy="0"/>
          </a:xfrm>
          <a:prstGeom prst="straightConnector1">
            <a:avLst/>
          </a:prstGeom>
          <a:noFill/>
          <a:ln cap="flat" cmpd="sng" w="165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5"/>
          <p:cNvSpPr/>
          <p:nvPr/>
        </p:nvSpPr>
        <p:spPr>
          <a:xfrm>
            <a:off x="2011680" y="1938528"/>
            <a:ext cx="1389888" cy="2057400"/>
          </a:xfrm>
          <a:prstGeom prst="roundRect">
            <a:avLst>
              <a:gd fmla="val 5263" name="adj"/>
            </a:avLst>
          </a:prstGeom>
          <a:solidFill>
            <a:srgbClr val="E7F7F7"/>
          </a:solidFill>
          <a:ln cap="flat" cmpd="sng" w="15225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5"/>
          <p:cNvSpPr/>
          <p:nvPr/>
        </p:nvSpPr>
        <p:spPr>
          <a:xfrm>
            <a:off x="2157984" y="2103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103120" y="2560320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집계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2103120" y="3072384"/>
            <a:ext cx="1207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label을 리뷰 단위로 정리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3419856" y="2962656"/>
            <a:ext cx="210312" cy="0"/>
          </a:xfrm>
          <a:prstGeom prst="straightConnector1">
            <a:avLst/>
          </a:prstGeom>
          <a:noFill/>
          <a:ln cap="flat" cmpd="sng" w="165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5"/>
          <p:cNvSpPr/>
          <p:nvPr/>
        </p:nvSpPr>
        <p:spPr>
          <a:xfrm>
            <a:off x="3675888" y="1938528"/>
            <a:ext cx="1389888" cy="2057400"/>
          </a:xfrm>
          <a:prstGeom prst="roundRect">
            <a:avLst>
              <a:gd fmla="val 5263" name="adj"/>
            </a:avLst>
          </a:prstGeom>
          <a:solidFill>
            <a:srgbClr val="FCECE9"/>
          </a:solidFill>
          <a:ln cap="flat" cmpd="sng" w="15225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" name="Google Shape;161;p5"/>
          <p:cNvSpPr/>
          <p:nvPr/>
        </p:nvSpPr>
        <p:spPr>
          <a:xfrm>
            <a:off x="3822192" y="2103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767328" y="2560320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5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767328" y="3072384"/>
            <a:ext cx="1207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별점 관련성·영향도 연결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5084064" y="2962656"/>
            <a:ext cx="210312" cy="0"/>
          </a:xfrm>
          <a:prstGeom prst="straightConnector1">
            <a:avLst/>
          </a:prstGeom>
          <a:noFill/>
          <a:ln cap="flat" cmpd="sng" w="165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5"/>
          <p:cNvSpPr/>
          <p:nvPr/>
        </p:nvSpPr>
        <p:spPr>
          <a:xfrm>
            <a:off x="5340096" y="1938528"/>
            <a:ext cx="1389888" cy="2057400"/>
          </a:xfrm>
          <a:prstGeom prst="roundRect">
            <a:avLst>
              <a:gd fmla="val 5263" name="adj"/>
            </a:avLst>
          </a:prstGeom>
          <a:solidFill>
            <a:srgbClr val="F0EDFA"/>
          </a:solidFill>
          <a:ln cap="flat" cmpd="sng" w="15225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6" name="Google Shape;166;p5"/>
          <p:cNvSpPr/>
          <p:nvPr/>
        </p:nvSpPr>
        <p:spPr>
          <a:xfrm>
            <a:off x="5486400" y="2103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431536" y="2560320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IPA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431536" y="3072384"/>
            <a:ext cx="1207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중요도·성과로 Q1–Q4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6748272" y="2962656"/>
            <a:ext cx="210312" cy="0"/>
          </a:xfrm>
          <a:prstGeom prst="straightConnector1">
            <a:avLst/>
          </a:prstGeom>
          <a:noFill/>
          <a:ln cap="flat" cmpd="sng" w="165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5"/>
          <p:cNvSpPr/>
          <p:nvPr/>
        </p:nvSpPr>
        <p:spPr>
          <a:xfrm>
            <a:off x="7004304" y="1938528"/>
            <a:ext cx="1389888" cy="2057400"/>
          </a:xfrm>
          <a:prstGeom prst="roundRect">
            <a:avLst>
              <a:gd fmla="val 5263" name="adj"/>
            </a:avLst>
          </a:prstGeom>
          <a:solidFill>
            <a:srgbClr val="FFF7DF"/>
          </a:solidFill>
          <a:ln cap="flat" cmpd="sng" w="15225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5"/>
          <p:cNvSpPr/>
          <p:nvPr/>
        </p:nvSpPr>
        <p:spPr>
          <a:xfrm>
            <a:off x="7150608" y="2103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095744" y="2560320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안정성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095744" y="3072384"/>
            <a:ext cx="1207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복원추출 500회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t/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4" name="Google Shape;174;p5"/>
          <p:cNvCxnSpPr/>
          <p:nvPr/>
        </p:nvCxnSpPr>
        <p:spPr>
          <a:xfrm>
            <a:off x="8412480" y="2962656"/>
            <a:ext cx="210312" cy="0"/>
          </a:xfrm>
          <a:prstGeom prst="straightConnector1">
            <a:avLst/>
          </a:prstGeom>
          <a:noFill/>
          <a:ln cap="flat" cmpd="sng" w="165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" name="Google Shape;175;p5"/>
          <p:cNvSpPr/>
          <p:nvPr/>
        </p:nvSpPr>
        <p:spPr>
          <a:xfrm>
            <a:off x="8668512" y="1938528"/>
            <a:ext cx="1389888" cy="2057400"/>
          </a:xfrm>
          <a:prstGeom prst="roundRect">
            <a:avLst>
              <a:gd fmla="val 5263" name="adj"/>
            </a:avLst>
          </a:prstGeom>
          <a:solidFill>
            <a:srgbClr val="E7F7F7"/>
          </a:solidFill>
          <a:ln cap="flat" cmpd="sng" w="15225">
            <a:solidFill>
              <a:srgbClr val="168C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6" name="Google Shape;176;p5"/>
          <p:cNvSpPr/>
          <p:nvPr/>
        </p:nvSpPr>
        <p:spPr>
          <a:xfrm>
            <a:off x="8814816" y="2103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C80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168C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759952" y="2560320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Journey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759952" y="3072384"/>
            <a:ext cx="1207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 Q2의 발생 시점 진단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10076688" y="2962656"/>
            <a:ext cx="210312" cy="0"/>
          </a:xfrm>
          <a:prstGeom prst="straightConnector1">
            <a:avLst/>
          </a:prstGeom>
          <a:noFill/>
          <a:ln cap="flat" cmpd="sng" w="165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5"/>
          <p:cNvSpPr/>
          <p:nvPr/>
        </p:nvSpPr>
        <p:spPr>
          <a:xfrm>
            <a:off x="10332720" y="1938528"/>
            <a:ext cx="1389888" cy="2057400"/>
          </a:xfrm>
          <a:prstGeom prst="roundRect">
            <a:avLst>
              <a:gd fmla="val 5263" name="adj"/>
            </a:avLst>
          </a:prstGeom>
          <a:solidFill>
            <a:srgbClr val="EAF7F1"/>
          </a:solidFill>
          <a:ln cap="flat" cmpd="sng" w="15225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5"/>
          <p:cNvSpPr/>
          <p:nvPr/>
        </p:nvSpPr>
        <p:spPr>
          <a:xfrm>
            <a:off x="10479024" y="210312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0424160" y="2560320"/>
            <a:ext cx="1207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실행안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424160" y="3072384"/>
            <a:ext cx="1207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Agent 6 결과 재매칭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097280" y="4617720"/>
            <a:ext cx="9966960" cy="822960"/>
          </a:xfrm>
          <a:prstGeom prst="roundRect">
            <a:avLst>
              <a:gd fmla="val 8889" name="adj"/>
            </a:avLst>
          </a:prstGeom>
          <a:solidFill>
            <a:srgbClr val="17253B"/>
          </a:solidFill>
          <a:ln cap="flat" cmpd="sng" w="12700">
            <a:solidFill>
              <a:srgbClr val="1725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5" name="Google Shape;185;p5"/>
          <p:cNvSpPr/>
          <p:nvPr/>
        </p:nvSpPr>
        <p:spPr>
          <a:xfrm>
            <a:off x="1353312" y="4828032"/>
            <a:ext cx="94366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최종 우선과제는 호텔 통계 → Feature/Journey → label → 리뷰 ID → 근거 문장으로 역추적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표본을 억지로 늘리지 않고, 분석 가능한 호텔만 남겼다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4" name="Google Shape;194;p6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6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40080" y="1691640"/>
            <a:ext cx="10881360" cy="658368"/>
          </a:xfrm>
          <a:prstGeom prst="chevron">
            <a:avLst>
              <a:gd fmla="val 50000" name="adj"/>
            </a:avLst>
          </a:prstGeom>
          <a:solidFill>
            <a:srgbClr val="DDE9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8" name="Google Shape;198;p6"/>
          <p:cNvSpPr/>
          <p:nvPr/>
        </p:nvSpPr>
        <p:spPr>
          <a:xfrm>
            <a:off x="960120" y="1801368"/>
            <a:ext cx="576712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700"/>
              <a:buFont typeface="Malgun Gothic"/>
              <a:buNone/>
            </a:pPr>
            <a:r>
              <a:rPr b="1" i="0" lang="en-US" sz="1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1,000개 리뷰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842455" y="1801368"/>
            <a:ext cx="38084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입력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325880" y="2487168"/>
            <a:ext cx="9509760" cy="658368"/>
          </a:xfrm>
          <a:prstGeom prst="chevron">
            <a:avLst>
              <a:gd fmla="val 50000" name="adj"/>
            </a:avLst>
          </a:prstGeom>
          <a:solidFill>
            <a:srgbClr val="CBEDE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1" name="Google Shape;201;p6"/>
          <p:cNvSpPr/>
          <p:nvPr/>
        </p:nvSpPr>
        <p:spPr>
          <a:xfrm>
            <a:off x="1645920" y="2596896"/>
            <a:ext cx="504017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50"/>
              <a:buFont typeface="Malgun Gothic"/>
              <a:buNone/>
            </a:pPr>
            <a:r>
              <a:rPr b="1" i="0" lang="en-US" sz="16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137개 호텔</a:t>
            </a:r>
            <a:endParaRPr b="0" i="0" sz="16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746443" y="2596896"/>
            <a:ext cx="3328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호텔코드 재집계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148840" y="3282696"/>
            <a:ext cx="7863840" cy="658368"/>
          </a:xfrm>
          <a:prstGeom prst="chevron">
            <a:avLst>
              <a:gd fmla="val 50000" name="adj"/>
            </a:avLst>
          </a:prstGeom>
          <a:solidFill>
            <a:srgbClr val="DDD8F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6"/>
          <p:cNvSpPr/>
          <p:nvPr/>
        </p:nvSpPr>
        <p:spPr>
          <a:xfrm>
            <a:off x="2468880" y="3392424"/>
            <a:ext cx="4167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7개 적격 호텔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631229" y="3392424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n ≥ 30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971800" y="4078224"/>
            <a:ext cx="6217920" cy="658368"/>
          </a:xfrm>
          <a:prstGeom prst="chevron">
            <a:avLst>
              <a:gd fmla="val 50000" name="adj"/>
            </a:avLst>
          </a:prstGeom>
          <a:solidFill>
            <a:srgbClr val="FBE6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7" name="Google Shape;207;p6"/>
          <p:cNvSpPr/>
          <p:nvPr/>
        </p:nvSpPr>
        <p:spPr>
          <a:xfrm>
            <a:off x="3291840" y="4187952"/>
            <a:ext cx="329549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 Q2 호텔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516014" y="4187952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bootstrap 기준 통과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794760" y="4873752"/>
            <a:ext cx="4572000" cy="658368"/>
          </a:xfrm>
          <a:prstGeom prst="chevron">
            <a:avLst>
              <a:gd fmla="val 50000" name="adj"/>
            </a:avLst>
          </a:prstGeom>
          <a:solidFill>
            <a:srgbClr val="CDEBD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0" name="Google Shape;210;p6"/>
          <p:cNvSpPr/>
          <p:nvPr/>
        </p:nvSpPr>
        <p:spPr>
          <a:xfrm>
            <a:off x="4114800" y="498348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1" i="0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 최우선 과제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400800" y="49834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1개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987552" y="587044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300"/>
              <a:buFont typeface="Malgun Gothic"/>
              <a:buNone/>
            </a:pPr>
            <a:r>
              <a:rPr b="1" i="0" lang="en-US" sz="13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보류도 결과다: 2178797·2340601은 관측 Q2가 있었지만 안정 Q2가 없어 개선안을 제시하지 않음</a:t>
            </a:r>
            <a:endParaRPr b="0" i="0" sz="13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 축을 별점과 부정 경험에 연결했다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1" name="Google Shape;221;p7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7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66928" y="1719072"/>
            <a:ext cx="5358384" cy="1883664"/>
          </a:xfrm>
          <a:prstGeom prst="roundRect">
            <a:avLst>
              <a:gd fmla="val 3883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7"/>
          <p:cNvSpPr/>
          <p:nvPr/>
        </p:nvSpPr>
        <p:spPr>
          <a:xfrm>
            <a:off x="566928" y="1719072"/>
            <a:ext cx="64008" cy="1883664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6" name="Google Shape;226;p7"/>
          <p:cNvSpPr/>
          <p:nvPr/>
        </p:nvSpPr>
        <p:spPr>
          <a:xfrm>
            <a:off x="768096" y="1847088"/>
            <a:ext cx="5010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성과축 · Performance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68096" y="2221992"/>
            <a:ext cx="4992624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호텔의 수축 평균 감성 − 전체 동일 Feature 벤치마크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Malgun Gothic"/>
              <a:buNone/>
            </a:pPr>
            <a:r>
              <a:t/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0보다 작으면 같은 Feature의 전체 기준보다 성과가 낮음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263640" y="1719072"/>
            <a:ext cx="5358384" cy="1883664"/>
          </a:xfrm>
          <a:prstGeom prst="roundRect">
            <a:avLst>
              <a:gd fmla="val 3883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9" name="Google Shape;229;p7"/>
          <p:cNvSpPr/>
          <p:nvPr/>
        </p:nvSpPr>
        <p:spPr>
          <a:xfrm>
            <a:off x="6263640" y="1719072"/>
            <a:ext cx="64008" cy="1883664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7"/>
          <p:cNvSpPr/>
          <p:nvPr/>
        </p:nvSpPr>
        <p:spPr>
          <a:xfrm>
            <a:off x="6464808" y="1847088"/>
            <a:ext cx="5010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중요도축 · Importance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464808" y="2221992"/>
            <a:ext cx="4992624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 × 수축 부정 발생률 × 수축 평점 패널티 ÷ 4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Malgun Gothic"/>
              <a:buNone/>
            </a:pPr>
            <a:r>
              <a:t/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내부에서 해당 문제가 별점 하락과 얼마나 연결되는지 반영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13232" y="4096512"/>
            <a:ext cx="10771632" cy="1069848"/>
          </a:xfrm>
          <a:prstGeom prst="roundRect">
            <a:avLst>
              <a:gd fmla="val 6838" name="adj"/>
            </a:avLst>
          </a:prstGeom>
          <a:solidFill>
            <a:srgbClr val="FFFFFF"/>
          </a:solidFill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33" name="Google Shape;233;p7"/>
          <p:cNvSpPr/>
          <p:nvPr/>
        </p:nvSpPr>
        <p:spPr>
          <a:xfrm>
            <a:off x="987552" y="4315968"/>
            <a:ext cx="10222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50"/>
              <a:buFont typeface="Malgun Gothic"/>
              <a:buNone/>
            </a:pPr>
            <a:r>
              <a:rPr b="1" i="0" lang="en-US" sz="16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중요도는 “개선하면 별점이 오른다”는 인과효과가 아니라, 우선순위를 선별하기 위한 연관성 지표</a:t>
            </a:r>
            <a:endParaRPr b="0" i="0" sz="16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87552" y="4718304"/>
            <a:ext cx="10222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확증분석에서는 다층 회귀 또는 예측모형의 marginal effect와 비교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874520" y="5650992"/>
            <a:ext cx="1920240" cy="329184"/>
          </a:xfrm>
          <a:prstGeom prst="roundRect">
            <a:avLst>
              <a:gd fmla="val 44444" name="adj"/>
            </a:avLst>
          </a:prstGeom>
          <a:solidFill>
            <a:srgbClr val="EAF1FF"/>
          </a:solidFill>
          <a:ln cap="flat" cmpd="sng" w="12700">
            <a:solidFill>
              <a:srgbClr val="EA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36" name="Google Shape;236;p7"/>
          <p:cNvSpPr/>
          <p:nvPr/>
        </p:nvSpPr>
        <p:spPr>
          <a:xfrm>
            <a:off x="1947672" y="567842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언급 ≥ 5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160520" y="5650992"/>
            <a:ext cx="1920240" cy="329184"/>
          </a:xfrm>
          <a:prstGeom prst="roundRect">
            <a:avLst>
              <a:gd fmla="val 44444" name="adj"/>
            </a:avLst>
          </a:prstGeom>
          <a:solidFill>
            <a:srgbClr val="FCECE9"/>
          </a:solidFill>
          <a:ln cap="flat" cmpd="sng" w="12700">
            <a:solidFill>
              <a:srgbClr val="FC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38" name="Google Shape;238;p7"/>
          <p:cNvSpPr/>
          <p:nvPr/>
        </p:nvSpPr>
        <p:spPr>
          <a:xfrm>
            <a:off x="4233672" y="567842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리뷰 ≥ 3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446520" y="5650992"/>
            <a:ext cx="1920240" cy="329184"/>
          </a:xfrm>
          <a:prstGeom prst="roundRect">
            <a:avLst>
              <a:gd fmla="val 44444" name="adj"/>
            </a:avLst>
          </a:prstGeom>
          <a:solidFill>
            <a:srgbClr val="F0EDFA"/>
          </a:solidFill>
          <a:ln cap="flat" cmpd="sng" w="12700">
            <a:solidFill>
              <a:srgbClr val="F0ED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0" name="Google Shape;240;p7"/>
          <p:cNvSpPr/>
          <p:nvPr/>
        </p:nvSpPr>
        <p:spPr>
          <a:xfrm>
            <a:off x="6519672" y="567842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리뷰 n ≥ 30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732520" y="5650992"/>
            <a:ext cx="1920240" cy="329184"/>
          </a:xfrm>
          <a:prstGeom prst="roundRect">
            <a:avLst>
              <a:gd fmla="val 44444" name="adj"/>
            </a:avLst>
          </a:prstGeom>
          <a:solidFill>
            <a:srgbClr val="EAF7F1"/>
          </a:solidFill>
          <a:ln cap="flat" cmpd="sng" w="12700">
            <a:solidFill>
              <a:srgbClr val="EAF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2" name="Google Shape;242;p7"/>
          <p:cNvSpPr/>
          <p:nvPr/>
        </p:nvSpPr>
        <p:spPr>
          <a:xfrm>
            <a:off x="8805672" y="567842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확률 ≥ 0.70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Q1–Q4: Q2만 다음 단계로 보낸다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9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024128" y="1682496"/>
            <a:ext cx="3223260" cy="2125980"/>
          </a:xfrm>
          <a:prstGeom prst="rect">
            <a:avLst/>
          </a:prstGeom>
          <a:solidFill>
            <a:srgbClr val="FCECE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5" name="Google Shape;255;p9"/>
          <p:cNvSpPr/>
          <p:nvPr/>
        </p:nvSpPr>
        <p:spPr>
          <a:xfrm>
            <a:off x="4247388" y="1682496"/>
            <a:ext cx="3223260" cy="212598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9"/>
          <p:cNvSpPr/>
          <p:nvPr/>
        </p:nvSpPr>
        <p:spPr>
          <a:xfrm>
            <a:off x="1024128" y="3808476"/>
            <a:ext cx="3223260" cy="2125980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7" name="Google Shape;257;p9"/>
          <p:cNvSpPr/>
          <p:nvPr/>
        </p:nvSpPr>
        <p:spPr>
          <a:xfrm>
            <a:off x="4247388" y="3808476"/>
            <a:ext cx="3223260" cy="2125980"/>
          </a:xfrm>
          <a:prstGeom prst="rect">
            <a:avLst/>
          </a:prstGeom>
          <a:solidFill>
            <a:srgbClr val="FFF7D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9"/>
          <p:cNvSpPr/>
          <p:nvPr/>
        </p:nvSpPr>
        <p:spPr>
          <a:xfrm>
            <a:off x="1252728" y="2066544"/>
            <a:ext cx="27660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900"/>
              <a:buFont typeface="Malgun Gothic"/>
              <a:buNone/>
            </a:pPr>
            <a:r>
              <a:rPr b="1" i="0" lang="en-US" sz="19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· 집중 개선</a:t>
            </a:r>
            <a:endParaRPr b="0" i="0" sz="1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252728" y="2642616"/>
            <a:ext cx="27660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 높음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낮음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475988" y="2066544"/>
            <a:ext cx="27660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900"/>
              <a:buFont typeface="Malgun Gothic"/>
              <a:buNone/>
            </a:pPr>
            <a:r>
              <a:rPr b="1" i="0" lang="en-US" sz="19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Q1 · 유지 강화</a:t>
            </a:r>
            <a:endParaRPr b="0" i="0" sz="1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475988" y="2642616"/>
            <a:ext cx="27660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 높음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350"/>
              <a:buFont typeface="Malgun Gothic"/>
              <a:buNone/>
            </a:pPr>
            <a:r>
              <a:rPr b="0" i="0" lang="en-US" sz="13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높음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252728" y="4192524"/>
            <a:ext cx="27660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700"/>
              <a:buFont typeface="Malgun Gothic"/>
              <a:buNone/>
            </a:pPr>
            <a:r>
              <a:rPr b="1" i="0" lang="en-US" sz="17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Q3 · 낮은 우선순위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475988" y="4192524"/>
            <a:ext cx="27660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700"/>
              <a:buFont typeface="Malgun Gothic"/>
              <a:buNone/>
            </a:pPr>
            <a:r>
              <a:rPr b="1" i="0" lang="en-US" sz="17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Q4 · 과잉 가능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694176" y="60441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→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9"/>
          <p:cNvSpPr/>
          <p:nvPr/>
        </p:nvSpPr>
        <p:spPr>
          <a:xfrm rot="-5400000">
            <a:off x="438912" y="3529584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 →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7973568" y="1810512"/>
            <a:ext cx="347472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9"/>
          <p:cNvSpPr/>
          <p:nvPr/>
        </p:nvSpPr>
        <p:spPr>
          <a:xfrm>
            <a:off x="7973568" y="1810512"/>
            <a:ext cx="64008" cy="1298448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9"/>
          <p:cNvSpPr/>
          <p:nvPr/>
        </p:nvSpPr>
        <p:spPr>
          <a:xfrm>
            <a:off x="8174736" y="193852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단계로 이동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8174736" y="2313432"/>
            <a:ext cx="3108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중에서도 안정성 기준을 통과한 항목만 Journey 분석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973568" y="3401568"/>
            <a:ext cx="347472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1" name="Google Shape;271;p9"/>
          <p:cNvSpPr/>
          <p:nvPr/>
        </p:nvSpPr>
        <p:spPr>
          <a:xfrm>
            <a:off x="7973568" y="3401568"/>
            <a:ext cx="64008" cy="1298448"/>
          </a:xfrm>
          <a:prstGeom prst="rect">
            <a:avLst/>
          </a:prstGeom>
          <a:solidFill>
            <a:srgbClr val="6C7A8C"/>
          </a:solidFill>
          <a:ln cap="flat" cmpd="sng" w="12700">
            <a:solidFill>
              <a:srgbClr val="6C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2" name="Google Shape;272;p9"/>
          <p:cNvSpPr/>
          <p:nvPr/>
        </p:nvSpPr>
        <p:spPr>
          <a:xfrm>
            <a:off x="8174736" y="3529584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부족 처리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174736" y="3904488"/>
            <a:ext cx="31089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언급이 5개 미만이면 NA로 두고 사분면 해석 제외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973568" y="4992624"/>
            <a:ext cx="3474720" cy="932688"/>
          </a:xfrm>
          <a:prstGeom prst="roundRect">
            <a:avLst>
              <a:gd fmla="val 7843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5" name="Google Shape;275;p9"/>
          <p:cNvSpPr/>
          <p:nvPr/>
        </p:nvSpPr>
        <p:spPr>
          <a:xfrm>
            <a:off x="7973568" y="4992624"/>
            <a:ext cx="64008" cy="932688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9"/>
          <p:cNvSpPr/>
          <p:nvPr/>
        </p:nvSpPr>
        <p:spPr>
          <a:xfrm>
            <a:off x="8174736" y="5120640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원칙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174736" y="549554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호텔에 억지로 개선안 생성 금지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교수님께 먼저 보여드릴 호텔별 Top 5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6" name="Google Shape;286;p12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2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9" name="Google Shape;289;p12"/>
          <p:cNvGraphicFramePr/>
          <p:nvPr/>
        </p:nvGraphicFramePr>
        <p:xfrm>
          <a:off x="475488" y="1664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{3062D888-645B-4954-BE14-91310D79667C}</a:tableStyleId>
              </a:tblPr>
              <a:tblGrid>
                <a:gridCol w="960125"/>
                <a:gridCol w="402325"/>
                <a:gridCol w="2423150"/>
                <a:gridCol w="749800"/>
                <a:gridCol w="512075"/>
                <a:gridCol w="749800"/>
                <a:gridCol w="5431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호텔 ID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최우선 F×J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P(Q2)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부정 n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평점 격차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 실행 방향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53B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10391133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객실 크기/상태 × 체류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0.808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0.83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불필요 가구·비치물 축소, 동선 개선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1447338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청결/위생 × 체류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0.864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0.51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금연층 냄새의 층 단위 환기·흡착·청소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1656770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55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객실 크기/상태 × 체류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0.894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1.42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객실 배치·진입 동선 기준 재점검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306198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체크인/아웃/예약 × 퇴실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0.776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2.39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영향 발생 전 보상 승인·안내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9587422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90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객실 크기/상태 × 체류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0.970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1.01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54A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26354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수납·정리·동선 안내와 조기 대응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3150" marB="73150" marR="73150" marL="73150">
                    <a:lnL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8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12"/>
          <p:cNvSpPr/>
          <p:nvPr/>
        </p:nvSpPr>
        <p:spPr>
          <a:xfrm>
            <a:off x="475488" y="1664208"/>
            <a:ext cx="11228832" cy="502920"/>
          </a:xfrm>
          <a:prstGeom prst="rect">
            <a:avLst/>
          </a:prstGeom>
          <a:solidFill>
            <a:srgbClr val="17253B">
              <a:alpha val="0"/>
            </a:srgbClr>
          </a:solidFill>
          <a:ln cap="flat" cmpd="sng" w="12700">
            <a:solidFill>
              <a:srgbClr val="17253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1" name="Google Shape;291;p12"/>
          <p:cNvSpPr/>
          <p:nvPr/>
        </p:nvSpPr>
        <p:spPr>
          <a:xfrm>
            <a:off x="969264" y="6071616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300"/>
              <a:buFont typeface="Malgun Gothic"/>
              <a:buNone/>
            </a:pPr>
            <a:r>
              <a:rPr b="1" i="0" lang="en-US" sz="13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n=고유 리뷰 수 · P(Q2)=Q2 횟수/500 · 부정 n=부정 리뷰 수 · 평점 격차=호텔 평균−해당 그룹 평균</a:t>
            </a:r>
            <a:endParaRPr b="0" i="0" sz="13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역추적 사례 · 호텔 9587422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0" name="Google Shape;300;p13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3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66928" y="1627632"/>
            <a:ext cx="2971800" cy="329184"/>
          </a:xfrm>
          <a:prstGeom prst="roundRect">
            <a:avLst>
              <a:gd fmla="val 44444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4" name="Google Shape;304;p13"/>
          <p:cNvSpPr/>
          <p:nvPr/>
        </p:nvSpPr>
        <p:spPr>
          <a:xfrm>
            <a:off x="640080" y="1655064"/>
            <a:ext cx="2825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F03 객실 크기/상태 × J03 체류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66928" y="2176272"/>
            <a:ext cx="1572768" cy="1353312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6" name="Google Shape;306;p13"/>
          <p:cNvSpPr/>
          <p:nvPr/>
        </p:nvSpPr>
        <p:spPr>
          <a:xfrm>
            <a:off x="704088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90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704088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리뷰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331720" y="2176272"/>
            <a:ext cx="1572768" cy="1353312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13"/>
          <p:cNvSpPr/>
          <p:nvPr/>
        </p:nvSpPr>
        <p:spPr>
          <a:xfrm>
            <a:off x="2468880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54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2468880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F03 언급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096512" y="2176272"/>
            <a:ext cx="1572768" cy="1353312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2" name="Google Shape;312;p13"/>
          <p:cNvSpPr/>
          <p:nvPr/>
        </p:nvSpPr>
        <p:spPr>
          <a:xfrm>
            <a:off x="4233672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39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233672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F03 부정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66928" y="3776472"/>
            <a:ext cx="1572768" cy="1353312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5" name="Google Shape;315;p13"/>
          <p:cNvSpPr/>
          <p:nvPr/>
        </p:nvSpPr>
        <p:spPr>
          <a:xfrm>
            <a:off x="704088" y="39410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34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04088" y="44348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크기·동선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2331720" y="3776472"/>
            <a:ext cx="1572768" cy="1353312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8" name="Google Shape;318;p13"/>
          <p:cNvSpPr/>
          <p:nvPr/>
        </p:nvSpPr>
        <p:spPr>
          <a:xfrm>
            <a:off x="2468880" y="39410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2468880" y="44348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평균별점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096512" y="3776472"/>
            <a:ext cx="1572768" cy="1353312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1" name="Google Shape;321;p13"/>
          <p:cNvSpPr/>
          <p:nvPr/>
        </p:nvSpPr>
        <p:spPr>
          <a:xfrm>
            <a:off x="4233672" y="39410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233672" y="44348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내 격차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6144768" y="1673352"/>
            <a:ext cx="5449824" cy="2066544"/>
          </a:xfrm>
          <a:prstGeom prst="roundRect">
            <a:avLst>
              <a:gd fmla="val 3540" name="adj"/>
            </a:avLst>
          </a:prstGeom>
          <a:solidFill>
            <a:srgbClr val="FFFFFF"/>
          </a:solidFill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4" name="Google Shape;324;p13"/>
          <p:cNvSpPr/>
          <p:nvPr/>
        </p:nvSpPr>
        <p:spPr>
          <a:xfrm>
            <a:off x="6419088" y="1901952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 리뷰 · CH0165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419088" y="2404872"/>
            <a:ext cx="4864608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0" i="1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“the rooms are so small there is no room for chairs to sit so you sit on the bed …”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144768" y="4005072"/>
            <a:ext cx="5449824" cy="1490472"/>
          </a:xfrm>
          <a:prstGeom prst="roundRect">
            <a:avLst>
              <a:gd fmla="val 4908" name="adj"/>
            </a:avLst>
          </a:prstGeom>
          <a:solidFill>
            <a:srgbClr val="EAF7F1"/>
          </a:solidFill>
          <a:ln cap="flat" cmpd="sng" w="12700">
            <a:solidFill>
              <a:srgbClr val="B7E1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7" name="Google Shape;327;p13"/>
          <p:cNvSpPr/>
          <p:nvPr/>
        </p:nvSpPr>
        <p:spPr>
          <a:xfrm>
            <a:off x="6419088" y="42245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 실행 방향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419088" y="4617720"/>
            <a:ext cx="48828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1" i="0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협소 객실의 수납·정리 지원과 동선 안내, 체크인 당일 불편 조기 감지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역추적 방식: ID로 원 리뷰까지 조인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7" name="Google Shape;337;p14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4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438912" y="1965960"/>
            <a:ext cx="1874520" cy="1965960"/>
          </a:xfrm>
          <a:prstGeom prst="roundRect">
            <a:avLst>
              <a:gd fmla="val 3902" name="adj"/>
            </a:avLst>
          </a:prstGeom>
          <a:solidFill>
            <a:srgbClr val="EAF7F1"/>
          </a:solidFill>
          <a:ln cap="flat" cmpd="sng" w="15225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1" name="Google Shape;341;p14"/>
          <p:cNvSpPr/>
          <p:nvPr/>
        </p:nvSpPr>
        <p:spPr>
          <a:xfrm>
            <a:off x="585216" y="21396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48640" y="257860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420"/>
              <a:buFont typeface="Malgun Gothic"/>
              <a:buNone/>
            </a:pPr>
            <a:r>
              <a:rPr b="1" i="0" lang="en-US" sz="14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실행안</a:t>
            </a:r>
            <a:endParaRPr b="0" i="0" sz="14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48640" y="309067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Top 과제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action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4" name="Google Shape;344;p14"/>
          <p:cNvCxnSpPr/>
          <p:nvPr/>
        </p:nvCxnSpPr>
        <p:spPr>
          <a:xfrm>
            <a:off x="2340864" y="2944368"/>
            <a:ext cx="365760" cy="0"/>
          </a:xfrm>
          <a:prstGeom prst="straightConnector1">
            <a:avLst/>
          </a:prstGeom>
          <a:noFill/>
          <a:ln cap="flat" cmpd="sng" w="203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14"/>
          <p:cNvSpPr/>
          <p:nvPr/>
        </p:nvSpPr>
        <p:spPr>
          <a:xfrm>
            <a:off x="2779776" y="1965960"/>
            <a:ext cx="1874520" cy="1965960"/>
          </a:xfrm>
          <a:prstGeom prst="roundRect">
            <a:avLst>
              <a:gd fmla="val 3902" name="adj"/>
            </a:avLst>
          </a:prstGeom>
          <a:solidFill>
            <a:srgbClr val="EAF1FF"/>
          </a:solidFill>
          <a:ln cap="flat" cmpd="sng" w="15225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46" name="Google Shape;346;p14"/>
          <p:cNvSpPr/>
          <p:nvPr/>
        </p:nvSpPr>
        <p:spPr>
          <a:xfrm>
            <a:off x="2926080" y="21396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2889504" y="257860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420"/>
              <a:buFont typeface="Malgun Gothic"/>
              <a:buNone/>
            </a:pPr>
            <a:r>
              <a:rPr b="1" i="0" lang="en-US" sz="14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6</a:t>
            </a:r>
            <a:endParaRPr b="0" i="0" sz="14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2889504" y="309067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recommendation_id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source_review_ids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9" name="Google Shape;349;p14"/>
          <p:cNvCxnSpPr/>
          <p:nvPr/>
        </p:nvCxnSpPr>
        <p:spPr>
          <a:xfrm>
            <a:off x="4681728" y="2944368"/>
            <a:ext cx="365760" cy="0"/>
          </a:xfrm>
          <a:prstGeom prst="straightConnector1">
            <a:avLst/>
          </a:prstGeom>
          <a:noFill/>
          <a:ln cap="flat" cmpd="sng" w="203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p14"/>
          <p:cNvSpPr/>
          <p:nvPr/>
        </p:nvSpPr>
        <p:spPr>
          <a:xfrm>
            <a:off x="5120640" y="1965960"/>
            <a:ext cx="1874520" cy="1965960"/>
          </a:xfrm>
          <a:prstGeom prst="roundRect">
            <a:avLst>
              <a:gd fmla="val 3902" name="adj"/>
            </a:avLst>
          </a:prstGeom>
          <a:solidFill>
            <a:srgbClr val="F0EDFA"/>
          </a:solidFill>
          <a:ln cap="flat" cmpd="sng" w="15225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1" name="Google Shape;351;p14"/>
          <p:cNvSpPr/>
          <p:nvPr/>
        </p:nvSpPr>
        <p:spPr>
          <a:xfrm>
            <a:off x="5266944" y="21396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230368" y="257860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420"/>
              <a:buFont typeface="Malgun Gothic"/>
              <a:buNone/>
            </a:pPr>
            <a:r>
              <a:rPr b="1" i="0" lang="en-US" sz="14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5</a:t>
            </a:r>
            <a:endParaRPr b="0" i="0" sz="14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5230368" y="309067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impact_id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source_label_id·rating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4" name="Google Shape;354;p14"/>
          <p:cNvCxnSpPr/>
          <p:nvPr/>
        </p:nvCxnSpPr>
        <p:spPr>
          <a:xfrm>
            <a:off x="7022592" y="2944368"/>
            <a:ext cx="365760" cy="0"/>
          </a:xfrm>
          <a:prstGeom prst="straightConnector1">
            <a:avLst/>
          </a:prstGeom>
          <a:noFill/>
          <a:ln cap="flat" cmpd="sng" w="203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4"/>
          <p:cNvSpPr/>
          <p:nvPr/>
        </p:nvSpPr>
        <p:spPr>
          <a:xfrm>
            <a:off x="7461504" y="1965960"/>
            <a:ext cx="1874520" cy="1965960"/>
          </a:xfrm>
          <a:prstGeom prst="roundRect">
            <a:avLst>
              <a:gd fmla="val 3902" name="adj"/>
            </a:avLst>
          </a:prstGeom>
          <a:solidFill>
            <a:srgbClr val="FCECE9"/>
          </a:solidFill>
          <a:ln cap="flat" cmpd="sng" w="15225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6" name="Google Shape;356;p14"/>
          <p:cNvSpPr/>
          <p:nvPr/>
        </p:nvSpPr>
        <p:spPr>
          <a:xfrm>
            <a:off x="7607808" y="21396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7571232" y="257860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420"/>
              <a:buFont typeface="Malgun Gothic"/>
              <a:buNone/>
            </a:pPr>
            <a:r>
              <a:rPr b="1" i="0" lang="en-US" sz="14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A1–A4 label</a:t>
            </a:r>
            <a:endParaRPr b="0" i="0" sz="14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571232" y="309067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Feature·Journey·감성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문장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9" name="Google Shape;359;p14"/>
          <p:cNvCxnSpPr/>
          <p:nvPr/>
        </p:nvCxnSpPr>
        <p:spPr>
          <a:xfrm>
            <a:off x="9363456" y="2944368"/>
            <a:ext cx="365760" cy="0"/>
          </a:xfrm>
          <a:prstGeom prst="straightConnector1">
            <a:avLst/>
          </a:prstGeom>
          <a:noFill/>
          <a:ln cap="flat" cmpd="sng" w="2030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14"/>
          <p:cNvSpPr/>
          <p:nvPr/>
        </p:nvSpPr>
        <p:spPr>
          <a:xfrm>
            <a:off x="9802368" y="1965960"/>
            <a:ext cx="1874520" cy="1965960"/>
          </a:xfrm>
          <a:prstGeom prst="roundRect">
            <a:avLst>
              <a:gd fmla="val 3902" name="adj"/>
            </a:avLst>
          </a:prstGeom>
          <a:solidFill>
            <a:srgbClr val="FFF7DF"/>
          </a:solidFill>
          <a:ln cap="flat" cmpd="sng" w="15225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14"/>
          <p:cNvSpPr/>
          <p:nvPr/>
        </p:nvSpPr>
        <p:spPr>
          <a:xfrm>
            <a:off x="9948672" y="21396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9912096" y="257860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420"/>
              <a:buFont typeface="Malgun Gothic"/>
              <a:buNone/>
            </a:pPr>
            <a:r>
              <a:rPr b="1" i="0" lang="en-US" sz="14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리뷰</a:t>
            </a:r>
            <a:endParaRPr b="0" i="0" sz="14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9912096" y="3090672"/>
            <a:ext cx="1645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source_review_id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40"/>
              <a:buFont typeface="Malgun Gothic"/>
              <a:buNone/>
            </a:pPr>
            <a:r>
              <a:rPr b="0" i="0" lang="en-US" sz="104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호텔·평점·원문</a:t>
            </a:r>
            <a:endParaRPr b="0" i="0" sz="104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658368" y="4599432"/>
            <a:ext cx="5440680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5" name="Google Shape;365;p14"/>
          <p:cNvSpPr/>
          <p:nvPr/>
        </p:nvSpPr>
        <p:spPr>
          <a:xfrm>
            <a:off x="658368" y="4599432"/>
            <a:ext cx="64008" cy="969264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6" name="Google Shape;366;p14"/>
          <p:cNvSpPr/>
          <p:nvPr/>
        </p:nvSpPr>
        <p:spPr>
          <a:xfrm>
            <a:off x="859536" y="4727448"/>
            <a:ext cx="5093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조인 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59536" y="5102352"/>
            <a:ext cx="5074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recommendation_id → impact_id → source_label_id → source_review_id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446520" y="4599432"/>
            <a:ext cx="5074920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9" name="Google Shape;369;p14"/>
          <p:cNvSpPr/>
          <p:nvPr/>
        </p:nvSpPr>
        <p:spPr>
          <a:xfrm>
            <a:off x="6446520" y="4599432"/>
            <a:ext cx="64008" cy="969264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70" name="Google Shape;370;p14"/>
          <p:cNvSpPr/>
          <p:nvPr/>
        </p:nvSpPr>
        <p:spPr>
          <a:xfrm>
            <a:off x="6647688" y="4727448"/>
            <a:ext cx="4727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역추적인가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6647688" y="5102352"/>
            <a:ext cx="4709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원문 근거 확인 · 오류 단계 수정 · 과도한 일반화 방지 · 누락 0건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8,258개 개선안은 왜 생겼는가?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0" name="Google Shape;380;p15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15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66928" y="1627632"/>
            <a:ext cx="1920240" cy="1408176"/>
          </a:xfrm>
          <a:prstGeom prst="roundRect">
            <a:avLst>
              <a:gd fmla="val 519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4" name="Google Shape;384;p15"/>
          <p:cNvSpPr/>
          <p:nvPr/>
        </p:nvSpPr>
        <p:spPr>
          <a:xfrm>
            <a:off x="704088" y="1792224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1,321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704088" y="2286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6 입력 impact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2724912" y="1627632"/>
            <a:ext cx="1920240" cy="1408176"/>
          </a:xfrm>
          <a:prstGeom prst="roundRect">
            <a:avLst>
              <a:gd fmla="val 519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15"/>
          <p:cNvSpPr/>
          <p:nvPr/>
        </p:nvSpPr>
        <p:spPr>
          <a:xfrm>
            <a:off x="2862072" y="1792224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2862072" y="2286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원시 action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882896" y="1627632"/>
            <a:ext cx="1920240" cy="1408176"/>
          </a:xfrm>
          <a:prstGeom prst="roundRect">
            <a:avLst>
              <a:gd fmla="val 519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0" name="Google Shape;390;p15"/>
          <p:cNvSpPr/>
          <p:nvPr/>
        </p:nvSpPr>
        <p:spPr>
          <a:xfrm>
            <a:off x="5020056" y="1792224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6.25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5020056" y="2286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impact당 평균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7040880" y="1627632"/>
            <a:ext cx="1920240" cy="1408176"/>
          </a:xfrm>
          <a:prstGeom prst="roundRect">
            <a:avLst>
              <a:gd fmla="val 519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3" name="Google Shape;393;p15"/>
          <p:cNvSpPr/>
          <p:nvPr/>
        </p:nvSpPr>
        <p:spPr>
          <a:xfrm>
            <a:off x="7178040" y="1792224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604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7178040" y="2286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리뷰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9198864" y="1627632"/>
            <a:ext cx="1920240" cy="1408176"/>
          </a:xfrm>
          <a:prstGeom prst="roundRect">
            <a:avLst>
              <a:gd fmla="val 5195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96" name="Google Shape;396;p15"/>
          <p:cNvSpPr/>
          <p:nvPr/>
        </p:nvSpPr>
        <p:spPr>
          <a:xfrm>
            <a:off x="9336024" y="1792224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113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9336024" y="2286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 호텔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621792" y="340156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300"/>
              <a:buFont typeface="Malgun Gothic"/>
              <a:buNone/>
            </a:pPr>
            <a:r>
              <a:rPr b="1" i="0" lang="en-US" sz="13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impact당 생성 action 분포</a:t>
            </a:r>
            <a:endParaRPr b="0" i="0" sz="13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713232" y="5197951"/>
            <a:ext cx="402336" cy="50705"/>
          </a:xfrm>
          <a:prstGeom prst="rect">
            <a:avLst/>
          </a:prstGeom>
          <a:solidFill>
            <a:srgbClr val="377DFF">
              <a:alpha val="7803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0" name="Google Shape;400;p15"/>
          <p:cNvSpPr/>
          <p:nvPr/>
        </p:nvSpPr>
        <p:spPr>
          <a:xfrm>
            <a:off x="603504" y="4969351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850"/>
              <a:buFont typeface="Malgun Gothic"/>
              <a:buNone/>
            </a:pPr>
            <a:r>
              <a:rPr b="1" i="0" lang="en-US" sz="8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r>
            <a:endParaRPr b="0" i="0" sz="8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03504" y="5321808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399032" y="4671587"/>
            <a:ext cx="402336" cy="577069"/>
          </a:xfrm>
          <a:prstGeom prst="rect">
            <a:avLst/>
          </a:prstGeom>
          <a:solidFill>
            <a:srgbClr val="377DFF">
              <a:alpha val="7803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3" name="Google Shape;403;p15"/>
          <p:cNvSpPr/>
          <p:nvPr/>
        </p:nvSpPr>
        <p:spPr>
          <a:xfrm>
            <a:off x="1289304" y="4442987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850"/>
              <a:buFont typeface="Malgun Gothic"/>
              <a:buNone/>
            </a:pPr>
            <a:r>
              <a:rPr b="1" i="0" lang="en-US" sz="8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239</a:t>
            </a:r>
            <a:endParaRPr b="0" i="0" sz="8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289304" y="5321808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2084832" y="3831336"/>
            <a:ext cx="402336" cy="1417320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6" name="Google Shape;406;p15"/>
          <p:cNvSpPr/>
          <p:nvPr/>
        </p:nvSpPr>
        <p:spPr>
          <a:xfrm>
            <a:off x="1975104" y="3602736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850"/>
              <a:buFont typeface="Malgun Gothic"/>
              <a:buNone/>
            </a:pPr>
            <a:r>
              <a:rPr b="1" i="0" lang="en-US" sz="8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587</a:t>
            </a:r>
            <a:endParaRPr b="0" i="0" sz="8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975104" y="5321808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2770632" y="4398747"/>
            <a:ext cx="402336" cy="849909"/>
          </a:xfrm>
          <a:prstGeom prst="rect">
            <a:avLst/>
          </a:prstGeom>
          <a:solidFill>
            <a:srgbClr val="377DFF">
              <a:alpha val="7803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9" name="Google Shape;409;p15"/>
          <p:cNvSpPr/>
          <p:nvPr/>
        </p:nvSpPr>
        <p:spPr>
          <a:xfrm>
            <a:off x="2660904" y="4170147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850"/>
              <a:buFont typeface="Malgun Gothic"/>
              <a:buNone/>
            </a:pPr>
            <a:r>
              <a:rPr b="1" i="0" lang="en-US" sz="8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352</a:t>
            </a:r>
            <a:endParaRPr b="0" i="0" sz="8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2660904" y="5321808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3456432" y="4990303"/>
            <a:ext cx="402336" cy="258353"/>
          </a:xfrm>
          <a:prstGeom prst="rect">
            <a:avLst/>
          </a:prstGeom>
          <a:solidFill>
            <a:srgbClr val="377DFF">
              <a:alpha val="7803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2" name="Google Shape;412;p15"/>
          <p:cNvSpPr/>
          <p:nvPr/>
        </p:nvSpPr>
        <p:spPr>
          <a:xfrm>
            <a:off x="3346704" y="4761703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850"/>
              <a:buFont typeface="Malgun Gothic"/>
              <a:buNone/>
            </a:pPr>
            <a:r>
              <a:rPr b="1" i="0" lang="en-US" sz="8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107</a:t>
            </a:r>
            <a:endParaRPr b="0" i="0" sz="8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3346704" y="5321808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4142232" y="5217267"/>
            <a:ext cx="402336" cy="31389"/>
          </a:xfrm>
          <a:prstGeom prst="rect">
            <a:avLst/>
          </a:prstGeom>
          <a:solidFill>
            <a:srgbClr val="377DFF">
              <a:alpha val="7803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5" name="Google Shape;415;p15"/>
          <p:cNvSpPr/>
          <p:nvPr/>
        </p:nvSpPr>
        <p:spPr>
          <a:xfrm>
            <a:off x="4032504" y="4988667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850"/>
              <a:buFont typeface="Malgun Gothic"/>
              <a:buNone/>
            </a:pPr>
            <a:r>
              <a:rPr b="1" i="0" lang="en-US" sz="8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0" i="0" sz="8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4032504" y="5321808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828032" y="5243827"/>
            <a:ext cx="402336" cy="4829"/>
          </a:xfrm>
          <a:prstGeom prst="rect">
            <a:avLst/>
          </a:prstGeom>
          <a:solidFill>
            <a:srgbClr val="377DFF">
              <a:alpha val="7803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8" name="Google Shape;418;p15"/>
          <p:cNvSpPr/>
          <p:nvPr/>
        </p:nvSpPr>
        <p:spPr>
          <a:xfrm>
            <a:off x="4718304" y="5015227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850"/>
              <a:buFont typeface="Malgun Gothic"/>
              <a:buNone/>
            </a:pPr>
            <a:r>
              <a:rPr b="1" i="0" lang="en-US" sz="8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8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4718304" y="5321808"/>
            <a:ext cx="621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2331720" y="559612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00"/>
              <a:buFont typeface="Malgun Gothic"/>
              <a:buNone/>
            </a:pPr>
            <a:r>
              <a:rPr b="0" i="0" lang="en-US" sz="9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 수</a:t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5870448" y="3401568"/>
            <a:ext cx="5559552" cy="987552"/>
          </a:xfrm>
          <a:prstGeom prst="roundRect">
            <a:avLst>
              <a:gd fmla="val 7407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2" name="Google Shape;422;p15"/>
          <p:cNvSpPr/>
          <p:nvPr/>
        </p:nvSpPr>
        <p:spPr>
          <a:xfrm>
            <a:off x="5870448" y="3401568"/>
            <a:ext cx="64008" cy="987552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3" name="Google Shape;423;p15"/>
          <p:cNvSpPr/>
          <p:nvPr/>
        </p:nvSpPr>
        <p:spPr>
          <a:xfrm>
            <a:off x="6071616" y="3529584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숫자는 정확하다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6071616" y="3904488"/>
            <a:ext cx="5193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JSONL 1,321개·중복 cache 0·ID reconciliation 오류 0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5870448" y="4617720"/>
            <a:ext cx="5559552" cy="987552"/>
          </a:xfrm>
          <a:prstGeom prst="roundRect">
            <a:avLst>
              <a:gd fmla="val 7407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6" name="Google Shape;426;p15"/>
          <p:cNvSpPr/>
          <p:nvPr/>
        </p:nvSpPr>
        <p:spPr>
          <a:xfrm>
            <a:off x="5870448" y="4617720"/>
            <a:ext cx="64008" cy="987552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7" name="Google Shape;427;p15"/>
          <p:cNvSpPr/>
          <p:nvPr/>
        </p:nvSpPr>
        <p:spPr>
          <a:xfrm>
            <a:off x="6071616" y="4745736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전략 8,258개는 아니다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071616" y="5120640"/>
            <a:ext cx="5193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lang="en-US" sz="1220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문장은 서로 다르지만, 비슷한 문제에 대한 개선안이 여러 번 반복되었습니다. 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8,258개를 5개 핵심 과제로 압축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37" name="Google Shape;437;p16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16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6583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FCECE9"/>
          </a:solidFill>
          <a:ln cap="flat" cmpd="sng" w="165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1" name="Google Shape;441;p16"/>
          <p:cNvSpPr/>
          <p:nvPr/>
        </p:nvSpPr>
        <p:spPr>
          <a:xfrm>
            <a:off x="7955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7955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원시 Agent 6 후보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3" name="Google Shape;443;p16"/>
          <p:cNvCxnSpPr/>
          <p:nvPr/>
        </p:nvCxnSpPr>
        <p:spPr>
          <a:xfrm>
            <a:off x="30358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16"/>
          <p:cNvSpPr/>
          <p:nvPr/>
        </p:nvSpPr>
        <p:spPr>
          <a:xfrm>
            <a:off x="34015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F0EDFA"/>
          </a:solidFill>
          <a:ln cap="flat" cmpd="sng" w="165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5" name="Google Shape;445;p16"/>
          <p:cNvSpPr/>
          <p:nvPr/>
        </p:nvSpPr>
        <p:spPr>
          <a:xfrm>
            <a:off x="35387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35387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그룹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7" name="Google Shape;447;p16"/>
          <p:cNvCxnSpPr/>
          <p:nvPr/>
        </p:nvCxnSpPr>
        <p:spPr>
          <a:xfrm>
            <a:off x="57790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8" name="Google Shape;448;p16"/>
          <p:cNvSpPr/>
          <p:nvPr/>
        </p:nvSpPr>
        <p:spPr>
          <a:xfrm>
            <a:off x="61447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EAF1FF"/>
          </a:solidFill>
          <a:ln cap="flat" cmpd="sng" w="165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9" name="Google Shape;449;p16"/>
          <p:cNvSpPr/>
          <p:nvPr/>
        </p:nvSpPr>
        <p:spPr>
          <a:xfrm>
            <a:off x="62819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62819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실행안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1" name="Google Shape;451;p16"/>
          <p:cNvCxnSpPr/>
          <p:nvPr/>
        </p:nvCxnSpPr>
        <p:spPr>
          <a:xfrm>
            <a:off x="85222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16"/>
          <p:cNvSpPr/>
          <p:nvPr/>
        </p:nvSpPr>
        <p:spPr>
          <a:xfrm>
            <a:off x="88879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EAF7F1"/>
          </a:solidFill>
          <a:ln cap="flat" cmpd="sng" w="165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3" name="Google Shape;453;p16"/>
          <p:cNvSpPr/>
          <p:nvPr/>
        </p:nvSpPr>
        <p:spPr>
          <a:xfrm>
            <a:off x="90251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90251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Top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786384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6" name="Google Shape;456;p16"/>
          <p:cNvSpPr/>
          <p:nvPr/>
        </p:nvSpPr>
        <p:spPr>
          <a:xfrm>
            <a:off x="786384" y="4407408"/>
            <a:ext cx="64008" cy="1097280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7" name="Google Shape;457;p16"/>
          <p:cNvSpPr/>
          <p:nvPr/>
        </p:nvSpPr>
        <p:spPr>
          <a:xfrm>
            <a:off x="987552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 · 정확 매칭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987552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호텔·Feature·Journey·리뷰 ID가 같은 기존 action 우선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4434840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0" name="Google Shape;460;p16"/>
          <p:cNvSpPr/>
          <p:nvPr/>
        </p:nvSpPr>
        <p:spPr>
          <a:xfrm>
            <a:off x="4434840" y="4407408"/>
            <a:ext cx="64008" cy="1097280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1" name="Google Shape;461;p16"/>
          <p:cNvSpPr/>
          <p:nvPr/>
        </p:nvSpPr>
        <p:spPr>
          <a:xfrm>
            <a:off x="4636008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2 · 그룹당 2개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636008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적합성과 실행 가능성을 기준으로 표시량 제한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8083296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4" name="Google Shape;464;p16"/>
          <p:cNvSpPr/>
          <p:nvPr/>
        </p:nvSpPr>
        <p:spPr>
          <a:xfrm>
            <a:off x="8083296" y="4407408"/>
            <a:ext cx="64008" cy="1097280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65" name="Google Shape;465;p16"/>
          <p:cNvSpPr/>
          <p:nvPr/>
        </p:nvSpPr>
        <p:spPr>
          <a:xfrm>
            <a:off x="8284464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3 · 호텔당 1개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8284464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최우선 과제만 먼저 제시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7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코드도 기존 파이프라인 안에서 조정했다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75" name="Google Shape;475;p17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7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530352" y="1664208"/>
            <a:ext cx="3438144" cy="1243584"/>
          </a:xfrm>
          <a:prstGeom prst="roundRect">
            <a:avLst>
              <a:gd fmla="val 5882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9" name="Google Shape;479;p17"/>
          <p:cNvSpPr/>
          <p:nvPr/>
        </p:nvSpPr>
        <p:spPr>
          <a:xfrm>
            <a:off x="530352" y="1664208"/>
            <a:ext cx="64008" cy="1243584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0" name="Google Shape;480;p17"/>
          <p:cNvSpPr/>
          <p:nvPr/>
        </p:nvSpPr>
        <p:spPr>
          <a:xfrm>
            <a:off x="731520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결과 자동 재사용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731520" y="2167128"/>
            <a:ext cx="30723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--resume 시 Agent 1–4가 1000/1000 완료면 재실행하지 않음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4370832" y="1664208"/>
            <a:ext cx="3438144" cy="1243584"/>
          </a:xfrm>
          <a:prstGeom prst="roundRect">
            <a:avLst>
              <a:gd fmla="val 5882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3" name="Google Shape;483;p17"/>
          <p:cNvSpPr/>
          <p:nvPr/>
        </p:nvSpPr>
        <p:spPr>
          <a:xfrm>
            <a:off x="4370832" y="1664208"/>
            <a:ext cx="64008" cy="1243584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4" name="Google Shape;484;p17"/>
          <p:cNvSpPr/>
          <p:nvPr/>
        </p:nvSpPr>
        <p:spPr>
          <a:xfrm>
            <a:off x="4572000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병렬 worker 선택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4572000" y="2167128"/>
            <a:ext cx="30723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길이를 균등 분배하고 worker별 상태·로그를 병합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8211312" y="1664208"/>
            <a:ext cx="3438144" cy="1243584"/>
          </a:xfrm>
          <a:prstGeom prst="roundRect">
            <a:avLst>
              <a:gd fmla="val 5882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7" name="Google Shape;487;p17"/>
          <p:cNvSpPr/>
          <p:nvPr/>
        </p:nvSpPr>
        <p:spPr>
          <a:xfrm>
            <a:off x="8211312" y="1664208"/>
            <a:ext cx="64008" cy="1243584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88" name="Google Shape;488;p17"/>
          <p:cNvSpPr/>
          <p:nvPr/>
        </p:nvSpPr>
        <p:spPr>
          <a:xfrm>
            <a:off x="8412480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6 범위 제한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8412480" y="2167128"/>
            <a:ext cx="30723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그룹만 1회 호출, 그룹당 최대 2개 action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658368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1" name="Google Shape;491;p17"/>
          <p:cNvSpPr/>
          <p:nvPr/>
        </p:nvSpPr>
        <p:spPr>
          <a:xfrm>
            <a:off x="795528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4,685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795528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A1–A4 호출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795528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재호출 685회 포함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3136392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5" name="Google Shape;495;p17"/>
          <p:cNvSpPr/>
          <p:nvPr/>
        </p:nvSpPr>
        <p:spPr>
          <a:xfrm>
            <a:off x="3273552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1,321→15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3273552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6 처리 단위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3273552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98.9% 감소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5614416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9" name="Google Shape;499;p17"/>
          <p:cNvSpPr/>
          <p:nvPr/>
        </p:nvSpPr>
        <p:spPr>
          <a:xfrm>
            <a:off x="5751576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≈25초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751576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로컬 후처리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751576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결과 재사용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8092440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03" name="Google Shape;503;p17"/>
          <p:cNvSpPr/>
          <p:nvPr/>
        </p:nvSpPr>
        <p:spPr>
          <a:xfrm>
            <a:off x="8229600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2.5–3h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8229600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quality+3 worker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8229600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 기반 추정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804672" y="5440680"/>
            <a:ext cx="10561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25초는 완료된 분석 결과를 재사용해 호텔별 우선순위만 계산한 증분 후처리 시간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신뢰도를 높인 추가 작업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15" name="Google Shape;515;p18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8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530352" y="1664208"/>
            <a:ext cx="3511296" cy="1517904"/>
          </a:xfrm>
          <a:prstGeom prst="roundRect">
            <a:avLst>
              <a:gd fmla="val 4819" name="adj"/>
            </a:avLst>
          </a:prstGeom>
          <a:solidFill>
            <a:srgbClr val="FFF7D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9" name="Google Shape;519;p18"/>
          <p:cNvSpPr/>
          <p:nvPr/>
        </p:nvSpPr>
        <p:spPr>
          <a:xfrm>
            <a:off x="530352" y="1664208"/>
            <a:ext cx="64008" cy="1517904"/>
          </a:xfrm>
          <a:prstGeom prst="rect">
            <a:avLst/>
          </a:prstGeom>
          <a:solidFill>
            <a:srgbClr val="E9B949"/>
          </a:solidFill>
          <a:ln cap="flat" cmpd="sng" w="12700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0" name="Google Shape;520;p18"/>
          <p:cNvSpPr/>
          <p:nvPr/>
        </p:nvSpPr>
        <p:spPr>
          <a:xfrm>
            <a:off x="731520" y="1792224"/>
            <a:ext cx="3163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500회 bootstrap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731520" y="2167128"/>
            <a:ext cx="3145536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Q2가 반복 표집에서도 유지되는지 확률로 제시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4407408" y="1664208"/>
            <a:ext cx="3511296" cy="1517904"/>
          </a:xfrm>
          <a:prstGeom prst="roundRect">
            <a:avLst>
              <a:gd fmla="val 4819" name="adj"/>
            </a:avLst>
          </a:prstGeom>
          <a:solidFill>
            <a:srgbClr val="F0EDFA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3" name="Google Shape;523;p18"/>
          <p:cNvSpPr/>
          <p:nvPr/>
        </p:nvSpPr>
        <p:spPr>
          <a:xfrm>
            <a:off x="4407408" y="1664208"/>
            <a:ext cx="64008" cy="1517904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4" name="Google Shape;524;p18"/>
          <p:cNvSpPr/>
          <p:nvPr/>
        </p:nvSpPr>
        <p:spPr>
          <a:xfrm>
            <a:off x="4608576" y="1792224"/>
            <a:ext cx="3163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부분수축·random-effects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4608576" y="2167128"/>
            <a:ext cx="3145536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작은 표본의 극단값과 호텔 간 이질성 완화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8284464" y="1664208"/>
            <a:ext cx="3511296" cy="1517904"/>
          </a:xfrm>
          <a:prstGeom prst="roundRect">
            <a:avLst>
              <a:gd fmla="val 4819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7" name="Google Shape;527;p18"/>
          <p:cNvSpPr/>
          <p:nvPr/>
        </p:nvSpPr>
        <p:spPr>
          <a:xfrm>
            <a:off x="8284464" y="1664208"/>
            <a:ext cx="64008" cy="1517904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8" name="Google Shape;528;p18"/>
          <p:cNvSpPr/>
          <p:nvPr/>
        </p:nvSpPr>
        <p:spPr>
          <a:xfrm>
            <a:off x="8485632" y="1792224"/>
            <a:ext cx="3163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보류 판정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8485632" y="2167128"/>
            <a:ext cx="3145536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안정성이 부족한 2개 호텔에 개선안을 억지로 생성하지 않음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530352" y="3602736"/>
            <a:ext cx="3511296" cy="1517904"/>
          </a:xfrm>
          <a:prstGeom prst="roundRect">
            <a:avLst>
              <a:gd fmla="val 4819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1" name="Google Shape;531;p18"/>
          <p:cNvSpPr/>
          <p:nvPr/>
        </p:nvSpPr>
        <p:spPr>
          <a:xfrm>
            <a:off x="530352" y="3602736"/>
            <a:ext cx="64008" cy="1517904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2" name="Google Shape;532;p18"/>
          <p:cNvSpPr/>
          <p:nvPr/>
        </p:nvSpPr>
        <p:spPr>
          <a:xfrm>
            <a:off x="731520" y="3730752"/>
            <a:ext cx="3163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완전한 traceability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731520" y="4105656"/>
            <a:ext cx="3145536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15개 우선행에서 통계·근거·ID·실행안 누락 0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4407408" y="3602736"/>
            <a:ext cx="3511296" cy="1517904"/>
          </a:xfrm>
          <a:prstGeom prst="roundRect">
            <a:avLst>
              <a:gd fmla="val 4819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5" name="Google Shape;535;p18"/>
          <p:cNvSpPr/>
          <p:nvPr/>
        </p:nvSpPr>
        <p:spPr>
          <a:xfrm>
            <a:off x="4407408" y="3602736"/>
            <a:ext cx="64008" cy="1517904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6" name="Google Shape;536;p18"/>
          <p:cNvSpPr/>
          <p:nvPr/>
        </p:nvSpPr>
        <p:spPr>
          <a:xfrm>
            <a:off x="4608576" y="3730752"/>
            <a:ext cx="3163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 민감도 점검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4608576" y="4105656"/>
            <a:ext cx="3145536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24·36개월 n≥30 호텔이 0개임을 확인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8284464" y="3602736"/>
            <a:ext cx="3511296" cy="1517904"/>
          </a:xfrm>
          <a:prstGeom prst="roundRect">
            <a:avLst>
              <a:gd fmla="val 4819" name="adj"/>
            </a:avLst>
          </a:prstGeom>
          <a:solidFill>
            <a:srgbClr val="E7F7F7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9" name="Google Shape;539;p18"/>
          <p:cNvSpPr/>
          <p:nvPr/>
        </p:nvSpPr>
        <p:spPr>
          <a:xfrm>
            <a:off x="8284464" y="3602736"/>
            <a:ext cx="64008" cy="1517904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0" name="Google Shape;540;p18"/>
          <p:cNvSpPr/>
          <p:nvPr/>
        </p:nvSpPr>
        <p:spPr>
          <a:xfrm>
            <a:off x="8485632" y="3730752"/>
            <a:ext cx="31638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8,258개 원본 감사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8485632" y="4105656"/>
            <a:ext cx="3145536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정확한 수량·분포·호텔 집중도·중복 구조 재검증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987552" y="5724144"/>
            <a:ext cx="10222992" cy="457200"/>
          </a:xfrm>
          <a:prstGeom prst="roundRect">
            <a:avLst>
              <a:gd fmla="val 16000" name="adj"/>
            </a:avLst>
          </a:prstGeom>
          <a:solidFill>
            <a:srgbClr val="17253B"/>
          </a:solidFill>
          <a:ln cap="flat" cmpd="sng" w="12700">
            <a:solidFill>
              <a:srgbClr val="1725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18"/>
          <p:cNvSpPr/>
          <p:nvPr/>
        </p:nvSpPr>
        <p:spPr>
          <a:xfrm>
            <a:off x="1207008" y="5806440"/>
            <a:ext cx="9784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b="1" i="0" lang="en-US" sz="13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차별점: 생성 성능이 아니라 우선순위의 안정성·근거성·감사 가능성까지 구현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9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주장할 수 있는 것과 아직 주장하면 안 되는 것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52" name="Google Shape;552;p19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19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566928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EAF7F1"/>
          </a:solidFill>
          <a:ln cap="flat" cmpd="sng" w="152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6" name="Google Shape;556;p19"/>
          <p:cNvSpPr/>
          <p:nvPr/>
        </p:nvSpPr>
        <p:spPr>
          <a:xfrm>
            <a:off x="877824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57" name="Google Shape;557;p19"/>
          <p:cNvSpPr/>
          <p:nvPr/>
        </p:nvSpPr>
        <p:spPr>
          <a:xfrm>
            <a:off x="950976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주장 가능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896112" y="2487168"/>
            <a:ext cx="452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우선 문제는 서로 다르게 나타났다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단위 개선안보다 호텔×Feature×Journey가 간결했다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 리뷰까지 역추적 가능한 실행안으로 압축했다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결과 재사용으로 후속 분석을 단순화했다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6355080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FCECE9"/>
          </a:solidFill>
          <a:ln cap="flat" cmpd="sng" w="15225">
            <a:solidFill>
              <a:srgbClr val="F3C2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0" name="Google Shape;560;p19"/>
          <p:cNvSpPr/>
          <p:nvPr/>
        </p:nvSpPr>
        <p:spPr>
          <a:xfrm>
            <a:off x="6665976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1" name="Google Shape;561;p19"/>
          <p:cNvSpPr/>
          <p:nvPr/>
        </p:nvSpPr>
        <p:spPr>
          <a:xfrm>
            <a:off x="6739128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주장 보류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6684264" y="2487168"/>
            <a:ext cx="4526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1,000개 전체에서 모델 정확도가 검증되었다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제시된 개선안이 실제 호텔 성과를 향상시킨다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리뷰를 현재 호텔 운영상태로 일반화할 수 있다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 지표가 인과적 효과를 추정한다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전문가 타당성 검증까지 완료되었다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1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 기여 구조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71" name="Google Shape;571;p21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21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530352" y="1627632"/>
            <a:ext cx="3456432" cy="1389888"/>
          </a:xfrm>
          <a:prstGeom prst="roundRect">
            <a:avLst>
              <a:gd fmla="val 5263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75" name="Google Shape;575;p21"/>
          <p:cNvSpPr/>
          <p:nvPr/>
        </p:nvSpPr>
        <p:spPr>
          <a:xfrm>
            <a:off x="530352" y="1627632"/>
            <a:ext cx="64008" cy="1389888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76" name="Google Shape;576;p21"/>
          <p:cNvSpPr/>
          <p:nvPr/>
        </p:nvSpPr>
        <p:spPr>
          <a:xfrm>
            <a:off x="731520" y="175564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731520" y="2130552"/>
            <a:ext cx="30906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리뷰별 생성은 결과량이 데이터 규모에 비례하고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의사결정의 우선순위를 직접 설명하지 못함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4370832" y="1627632"/>
            <a:ext cx="3456432" cy="1389888"/>
          </a:xfrm>
          <a:prstGeom prst="roundRect">
            <a:avLst>
              <a:gd fmla="val 5263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79" name="Google Shape;579;p21"/>
          <p:cNvSpPr/>
          <p:nvPr/>
        </p:nvSpPr>
        <p:spPr>
          <a:xfrm>
            <a:off x="4370832" y="1627632"/>
            <a:ext cx="64008" cy="1389888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0" name="Google Shape;580;p21"/>
          <p:cNvSpPr/>
          <p:nvPr/>
        </p:nvSpPr>
        <p:spPr>
          <a:xfrm>
            <a:off x="4572000" y="175564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4572000" y="2130552"/>
            <a:ext cx="30906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호텔×Feature 집계, 별점 관련성, IPA,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bootstrap 안정성, Journey, ID 역추적을 결합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8211312" y="1627632"/>
            <a:ext cx="3456432" cy="1389888"/>
          </a:xfrm>
          <a:prstGeom prst="roundRect">
            <a:avLst>
              <a:gd fmla="val 5263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3" name="Google Shape;583;p21"/>
          <p:cNvSpPr/>
          <p:nvPr/>
        </p:nvSpPr>
        <p:spPr>
          <a:xfrm>
            <a:off x="8211312" y="1627632"/>
            <a:ext cx="64008" cy="1389888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4" name="Google Shape;584;p21"/>
          <p:cNvSpPr/>
          <p:nvPr/>
        </p:nvSpPr>
        <p:spPr>
          <a:xfrm>
            <a:off x="8412480" y="175564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8412480" y="2130552"/>
            <a:ext cx="30906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8,258개 원시 후보를 15개 Q2와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 호텔별 최우선 과제로 압축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658368" y="3493008"/>
            <a:ext cx="3456432" cy="1481328"/>
          </a:xfrm>
          <a:prstGeom prst="roundRect">
            <a:avLst>
              <a:gd fmla="val 4938" name="adj"/>
            </a:avLst>
          </a:prstGeom>
          <a:solidFill>
            <a:srgbClr val="F0EDFA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7" name="Google Shape;587;p21"/>
          <p:cNvSpPr/>
          <p:nvPr/>
        </p:nvSpPr>
        <p:spPr>
          <a:xfrm>
            <a:off x="658368" y="3493008"/>
            <a:ext cx="64008" cy="1481328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88" name="Google Shape;588;p21"/>
          <p:cNvSpPr/>
          <p:nvPr/>
        </p:nvSpPr>
        <p:spPr>
          <a:xfrm>
            <a:off x="859536" y="362102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1 · 이론적 기여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59536" y="3995928"/>
            <a:ext cx="30906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분석을 분류 정확도 문제가 아닌 “우선순위의 안정성” 문제로 재정의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4498848" y="3493008"/>
            <a:ext cx="3456432" cy="1481328"/>
          </a:xfrm>
          <a:prstGeom prst="roundRect">
            <a:avLst>
              <a:gd fmla="val 4938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1" name="Google Shape;591;p21"/>
          <p:cNvSpPr/>
          <p:nvPr/>
        </p:nvSpPr>
        <p:spPr>
          <a:xfrm>
            <a:off x="4498848" y="3493008"/>
            <a:ext cx="64008" cy="1481328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2" name="Google Shape;592;p21"/>
          <p:cNvSpPr/>
          <p:nvPr/>
        </p:nvSpPr>
        <p:spPr>
          <a:xfrm>
            <a:off x="4700016" y="362102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 · 방법론적 기여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4700016" y="3995928"/>
            <a:ext cx="30906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별점 영향–IPA–bootstrap–Journey를 하나의 재현 가능한 의사결정 절차로 연결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8339328" y="3493008"/>
            <a:ext cx="3456432" cy="1481328"/>
          </a:xfrm>
          <a:prstGeom prst="roundRect">
            <a:avLst>
              <a:gd fmla="val 4938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5" name="Google Shape;595;p21"/>
          <p:cNvSpPr/>
          <p:nvPr/>
        </p:nvSpPr>
        <p:spPr>
          <a:xfrm>
            <a:off x="8339328" y="3493008"/>
            <a:ext cx="64008" cy="1481328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96" name="Google Shape;596;p21"/>
          <p:cNvSpPr/>
          <p:nvPr/>
        </p:nvSpPr>
        <p:spPr>
          <a:xfrm>
            <a:off x="8540496" y="362102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3 · 실무적 기여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8540496" y="3995928"/>
            <a:ext cx="30906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담당자가 검토 가능한 수로 압축하고 각 결과를 원 리뷰까지 감사 가능하게 구성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841248" y="5715000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1" i="0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논문의 중심 주장은 “더 많이 생성”이 아니라 “호텔별로 안정적이고 설명 가능한 우선순위를 만든다”이다.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2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사례 · 호텔 9587422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07" name="Google Shape;607;p22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22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566928" y="1627632"/>
            <a:ext cx="3429000" cy="329184"/>
          </a:xfrm>
          <a:prstGeom prst="roundRect">
            <a:avLst>
              <a:gd fmla="val 44444" name="adj"/>
            </a:avLst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1" name="Google Shape;611;p22"/>
          <p:cNvSpPr/>
          <p:nvPr/>
        </p:nvSpPr>
        <p:spPr>
          <a:xfrm>
            <a:off x="640080" y="1655064"/>
            <a:ext cx="3282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객실 크기/상태 × 체류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566928" y="2176272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3" name="Google Shape;613;p22"/>
          <p:cNvSpPr/>
          <p:nvPr/>
        </p:nvSpPr>
        <p:spPr>
          <a:xfrm>
            <a:off x="704088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0.970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704088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확률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2350008" y="2176272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6" name="Google Shape;616;p22"/>
          <p:cNvSpPr/>
          <p:nvPr/>
        </p:nvSpPr>
        <p:spPr>
          <a:xfrm>
            <a:off x="2487168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39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2487168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리뷰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566928" y="3712464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19" name="Google Shape;619;p22"/>
          <p:cNvSpPr/>
          <p:nvPr/>
        </p:nvSpPr>
        <p:spPr>
          <a:xfrm>
            <a:off x="704088" y="3877056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704088" y="43708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평균별점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2350008" y="3712464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2" name="Google Shape;622;p22"/>
          <p:cNvSpPr/>
          <p:nvPr/>
        </p:nvSpPr>
        <p:spPr>
          <a:xfrm>
            <a:off x="2487168" y="3877056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2487168" y="43708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평점 격차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4361688" y="1700784"/>
            <a:ext cx="3401568" cy="4187952"/>
          </a:xfrm>
          <a:prstGeom prst="roundRect">
            <a:avLst>
              <a:gd fmla="val 2151" name="adj"/>
            </a:avLst>
          </a:prstGeom>
          <a:solidFill>
            <a:srgbClr val="FFFFFF"/>
          </a:solidFill>
          <a:ln cap="flat" cmpd="sng" w="11425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5" name="Google Shape;625;p22"/>
          <p:cNvSpPr/>
          <p:nvPr/>
        </p:nvSpPr>
        <p:spPr>
          <a:xfrm>
            <a:off x="4617720" y="1938528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리뷰 · CH0165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4617720" y="2450592"/>
            <a:ext cx="28529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0" i="1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“의자를 놓을 공간이 없어 침대에 앉아야 하고, 화장실도 매우 작다.”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8083296" y="1700784"/>
            <a:ext cx="3529584" cy="4187952"/>
          </a:xfrm>
          <a:prstGeom prst="roundRect">
            <a:avLst>
              <a:gd fmla="val 2073" name="adj"/>
            </a:avLst>
          </a:prstGeom>
          <a:solidFill>
            <a:srgbClr val="EAF7F1"/>
          </a:solidFill>
          <a:ln cap="flat" cmpd="sng" w="114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28" name="Google Shape;628;p22"/>
          <p:cNvSpPr/>
          <p:nvPr/>
        </p:nvSpPr>
        <p:spPr>
          <a:xfrm>
            <a:off x="8357616" y="1938528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실행안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8357616" y="2487168"/>
            <a:ext cx="290779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700"/>
              <a:buFont typeface="Malgun Gothic"/>
              <a:buNone/>
            </a:pPr>
            <a:r>
              <a:rPr b="1" i="0" lang="en-US" sz="1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수납·정리 키트와 공간 사용 안내를 제공하고 체크인 당일 협소 불편을 조기 감지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8357616" y="48188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050"/>
              <a:buFont typeface="Malgun Gothic"/>
              <a:buNone/>
            </a:pPr>
            <a:r>
              <a:rPr b="1" i="0" lang="en-US" sz="10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 기준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8357616" y="5175504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근거 + 낮은 별점 +  Q2가 같은 방향을 지지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3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사례 · 호텔 306198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0" name="Google Shape;640;p23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23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566928" y="1627632"/>
            <a:ext cx="3429000" cy="329184"/>
          </a:xfrm>
          <a:prstGeom prst="roundRect">
            <a:avLst>
              <a:gd fmla="val 44444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4" name="Google Shape;644;p23"/>
          <p:cNvSpPr/>
          <p:nvPr/>
        </p:nvSpPr>
        <p:spPr>
          <a:xfrm>
            <a:off x="640080" y="1655064"/>
            <a:ext cx="3282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체크인/체크아웃/예약 × 퇴실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566928" y="2176272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6" name="Google Shape;646;p23"/>
          <p:cNvSpPr/>
          <p:nvPr/>
        </p:nvSpPr>
        <p:spPr>
          <a:xfrm>
            <a:off x="704088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0.776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704088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확률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2350008" y="2176272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9" name="Google Shape;649;p23"/>
          <p:cNvSpPr/>
          <p:nvPr/>
        </p:nvSpPr>
        <p:spPr>
          <a:xfrm>
            <a:off x="2487168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2487168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리뷰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566928" y="3712464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2" name="Google Shape;652;p23"/>
          <p:cNvSpPr/>
          <p:nvPr/>
        </p:nvSpPr>
        <p:spPr>
          <a:xfrm>
            <a:off x="704088" y="3877056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1.67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704088" y="43708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평균별점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2350008" y="3712464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5" name="Google Shape;655;p23"/>
          <p:cNvSpPr/>
          <p:nvPr/>
        </p:nvSpPr>
        <p:spPr>
          <a:xfrm>
            <a:off x="2487168" y="3877056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2.39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2487168" y="43708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평점 격차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4361688" y="1700784"/>
            <a:ext cx="3401568" cy="4187952"/>
          </a:xfrm>
          <a:prstGeom prst="roundRect">
            <a:avLst>
              <a:gd fmla="val 2151" name="adj"/>
            </a:avLst>
          </a:prstGeom>
          <a:solidFill>
            <a:srgbClr val="FFFFFF"/>
          </a:solidFill>
          <a:ln cap="flat" cmpd="sng" w="11425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8" name="Google Shape;658;p23"/>
          <p:cNvSpPr/>
          <p:nvPr/>
        </p:nvSpPr>
        <p:spPr>
          <a:xfrm>
            <a:off x="4617720" y="1938528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리뷰 · CH0004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4617720" y="2450592"/>
            <a:ext cx="28529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0" i="1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“여행사를 통해 늦은 체크아웃을 예약했지만 호텔에는 그 기록이 없었다.”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8083296" y="1700784"/>
            <a:ext cx="3529584" cy="4187952"/>
          </a:xfrm>
          <a:prstGeom prst="roundRect">
            <a:avLst>
              <a:gd fmla="val 2073" name="adj"/>
            </a:avLst>
          </a:prstGeom>
          <a:solidFill>
            <a:srgbClr val="EAF7F1"/>
          </a:solidFill>
          <a:ln cap="flat" cmpd="sng" w="114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1" name="Google Shape;661;p23"/>
          <p:cNvSpPr/>
          <p:nvPr/>
        </p:nvSpPr>
        <p:spPr>
          <a:xfrm>
            <a:off x="8357616" y="1938528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실행안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8357616" y="2487168"/>
            <a:ext cx="290779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700"/>
              <a:buFont typeface="Malgun Gothic"/>
              <a:buNone/>
            </a:pPr>
            <a:r>
              <a:rPr b="1" i="0" lang="en-US" sz="1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늦은 체크아웃 요청을 사전 확인하고, 문제가 생긴 뒤가 아니라 영향 발생 전에 보상·대안을 승인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3" name="Google Shape;663;p23"/>
          <p:cNvSpPr/>
          <p:nvPr/>
        </p:nvSpPr>
        <p:spPr>
          <a:xfrm>
            <a:off x="8357616" y="48188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050"/>
              <a:buFont typeface="Malgun Gothic"/>
              <a:buNone/>
            </a:pPr>
            <a:r>
              <a:rPr b="1" i="0" lang="en-US" sz="10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 기준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4" name="Google Shape;664;p23"/>
          <p:cNvSpPr/>
          <p:nvPr/>
        </p:nvSpPr>
        <p:spPr>
          <a:xfrm>
            <a:off x="8357616" y="5175504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근거 + 낮은 별점 + Q2가 같은 방향을 지지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4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사례 · 호텔 1447338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73" name="Google Shape;673;p24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24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5" name="Google Shape;675;p24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566928" y="1627632"/>
            <a:ext cx="3429000" cy="329184"/>
          </a:xfrm>
          <a:prstGeom prst="roundRect">
            <a:avLst>
              <a:gd fmla="val 44444" name="adj"/>
            </a:avLst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7" name="Google Shape;677;p24"/>
          <p:cNvSpPr/>
          <p:nvPr/>
        </p:nvSpPr>
        <p:spPr>
          <a:xfrm>
            <a:off x="640080" y="1655064"/>
            <a:ext cx="3282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청결/위생 × 체류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8" name="Google Shape;678;p24"/>
          <p:cNvSpPr/>
          <p:nvPr/>
        </p:nvSpPr>
        <p:spPr>
          <a:xfrm>
            <a:off x="566928" y="2176272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9" name="Google Shape;679;p24"/>
          <p:cNvSpPr/>
          <p:nvPr/>
        </p:nvSpPr>
        <p:spPr>
          <a:xfrm>
            <a:off x="704088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0.864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0" name="Google Shape;680;p24"/>
          <p:cNvSpPr/>
          <p:nvPr/>
        </p:nvSpPr>
        <p:spPr>
          <a:xfrm>
            <a:off x="704088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확률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2350008" y="2176272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82" name="Google Shape;682;p24"/>
          <p:cNvSpPr/>
          <p:nvPr/>
        </p:nvSpPr>
        <p:spPr>
          <a:xfrm>
            <a:off x="2487168" y="234086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3" name="Google Shape;683;p24"/>
          <p:cNvSpPr/>
          <p:nvPr/>
        </p:nvSpPr>
        <p:spPr>
          <a:xfrm>
            <a:off x="2487168" y="283464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리뷰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566928" y="3712464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85" name="Google Shape;685;p24"/>
          <p:cNvSpPr/>
          <p:nvPr/>
        </p:nvSpPr>
        <p:spPr>
          <a:xfrm>
            <a:off x="704088" y="3877056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3.43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6" name="Google Shape;686;p24"/>
          <p:cNvSpPr/>
          <p:nvPr/>
        </p:nvSpPr>
        <p:spPr>
          <a:xfrm>
            <a:off x="704088" y="43708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 평균별점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2350008" y="3712464"/>
            <a:ext cx="1572768" cy="1307592"/>
          </a:xfrm>
          <a:prstGeom prst="roundRect">
            <a:avLst>
              <a:gd fmla="val 5594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88" name="Google Shape;688;p24"/>
          <p:cNvSpPr/>
          <p:nvPr/>
        </p:nvSpPr>
        <p:spPr>
          <a:xfrm>
            <a:off x="2487168" y="3877056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9" name="Google Shape;689;p24"/>
          <p:cNvSpPr/>
          <p:nvPr/>
        </p:nvSpPr>
        <p:spPr>
          <a:xfrm>
            <a:off x="2487168" y="4370832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평점 격차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0" name="Google Shape;690;p24"/>
          <p:cNvSpPr/>
          <p:nvPr/>
        </p:nvSpPr>
        <p:spPr>
          <a:xfrm>
            <a:off x="4361688" y="1700784"/>
            <a:ext cx="3401568" cy="4187952"/>
          </a:xfrm>
          <a:prstGeom prst="roundRect">
            <a:avLst>
              <a:gd fmla="val 2151" name="adj"/>
            </a:avLst>
          </a:prstGeom>
          <a:solidFill>
            <a:srgbClr val="FFFFFF"/>
          </a:solidFill>
          <a:ln cap="flat" cmpd="sng" w="11425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1" name="Google Shape;691;p24"/>
          <p:cNvSpPr/>
          <p:nvPr/>
        </p:nvSpPr>
        <p:spPr>
          <a:xfrm>
            <a:off x="4617720" y="1938528"/>
            <a:ext cx="2852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리뷰 · CH0175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2" name="Google Shape;692;p24"/>
          <p:cNvSpPr/>
          <p:nvPr/>
        </p:nvSpPr>
        <p:spPr>
          <a:xfrm>
            <a:off x="4617720" y="2450592"/>
            <a:ext cx="28529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0" i="1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“금연층인데도 엘리베이터에서 나오자마자 담배 냄새가 났고, 객실 안에서는 더 심해졌다.”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3" name="Google Shape;693;p24"/>
          <p:cNvSpPr/>
          <p:nvPr/>
        </p:nvSpPr>
        <p:spPr>
          <a:xfrm>
            <a:off x="8083296" y="1700784"/>
            <a:ext cx="3529584" cy="4187952"/>
          </a:xfrm>
          <a:prstGeom prst="roundRect">
            <a:avLst>
              <a:gd fmla="val 2073" name="adj"/>
            </a:avLst>
          </a:prstGeom>
          <a:solidFill>
            <a:srgbClr val="EAF7F1"/>
          </a:solidFill>
          <a:ln cap="flat" cmpd="sng" w="114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4" name="Google Shape;694;p24"/>
          <p:cNvSpPr/>
          <p:nvPr/>
        </p:nvSpPr>
        <p:spPr>
          <a:xfrm>
            <a:off x="8357616" y="1938528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실행안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5" name="Google Shape;695;p24"/>
          <p:cNvSpPr/>
          <p:nvPr/>
        </p:nvSpPr>
        <p:spPr>
          <a:xfrm>
            <a:off x="8357616" y="2487168"/>
            <a:ext cx="290779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700"/>
              <a:buFont typeface="Malgun Gothic"/>
              <a:buNone/>
            </a:pPr>
            <a:r>
              <a:rPr b="1" i="0" lang="en-US" sz="1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금연층을 객실 단위가 아닌 층 단위로 관리하고, 환기·흡착·청소 후 냄새 확인 체크를 기록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8357616" y="48188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050"/>
              <a:buFont typeface="Malgun Gothic"/>
              <a:buNone/>
            </a:pPr>
            <a:r>
              <a:rPr b="1" i="0" lang="en-US" sz="10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 기준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7" name="Google Shape;697;p24"/>
          <p:cNvSpPr/>
          <p:nvPr/>
        </p:nvSpPr>
        <p:spPr>
          <a:xfrm>
            <a:off x="8357616" y="5175504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근거 + 낮은 별점 +  Q2가 같은 방향을 지지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6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절차와 재현성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6" name="Google Shape;706;p26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26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566928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AF1FF"/>
          </a:solidFill>
          <a:ln cap="flat" cmpd="sng" w="1395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10" name="Google Shape;710;p26"/>
          <p:cNvSpPr/>
          <p:nvPr/>
        </p:nvSpPr>
        <p:spPr>
          <a:xfrm>
            <a:off x="731520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1225296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고정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1225296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review_id·hotel_id·rating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원문 해시 저장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4389120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7F7F7"/>
          </a:solidFill>
          <a:ln cap="flat" cmpd="sng" w="1395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14" name="Google Shape;714;p26"/>
          <p:cNvSpPr/>
          <p:nvPr/>
        </p:nvSpPr>
        <p:spPr>
          <a:xfrm>
            <a:off x="4553712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5047488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 생성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5047488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Feature·Journey·감성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문장 보존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8211312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CECE9"/>
          </a:solidFill>
          <a:ln cap="flat" cmpd="sng" w="1395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18" name="Google Shape;718;p26"/>
          <p:cNvSpPr/>
          <p:nvPr/>
        </p:nvSpPr>
        <p:spPr>
          <a:xfrm>
            <a:off x="8375904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8869680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영향 연결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8869680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5의 rating relevance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impact_id 부여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1" name="Google Shape;721;p26"/>
          <p:cNvSpPr/>
          <p:nvPr/>
        </p:nvSpPr>
        <p:spPr>
          <a:xfrm>
            <a:off x="566928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0EDFA"/>
          </a:solidFill>
          <a:ln cap="flat" cmpd="sng" w="1395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22" name="Google Shape;722;p26"/>
          <p:cNvSpPr/>
          <p:nvPr/>
        </p:nvSpPr>
        <p:spPr>
          <a:xfrm>
            <a:off x="731520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3" name="Google Shape;723;p26"/>
          <p:cNvSpPr/>
          <p:nvPr/>
        </p:nvSpPr>
        <p:spPr>
          <a:xfrm>
            <a:off x="1225296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집계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4" name="Google Shape;724;p26"/>
          <p:cNvSpPr/>
          <p:nvPr/>
        </p:nvSpPr>
        <p:spPr>
          <a:xfrm>
            <a:off x="1225296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제거 후 중요도·성과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Q1–Q4 계산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5" name="Google Shape;725;p26"/>
          <p:cNvSpPr/>
          <p:nvPr/>
        </p:nvSpPr>
        <p:spPr>
          <a:xfrm>
            <a:off x="4389120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FF7DF"/>
          </a:solidFill>
          <a:ln cap="flat" cmpd="sng" w="13950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26" name="Google Shape;726;p26"/>
          <p:cNvSpPr/>
          <p:nvPr/>
        </p:nvSpPr>
        <p:spPr>
          <a:xfrm>
            <a:off x="4553712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7" name="Google Shape;727;p26"/>
          <p:cNvSpPr/>
          <p:nvPr/>
        </p:nvSpPr>
        <p:spPr>
          <a:xfrm>
            <a:off x="5047488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안정성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5047488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복원추출 500회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회 Q2 재판정·비율 계산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9" name="Google Shape;729;p26"/>
          <p:cNvSpPr/>
          <p:nvPr/>
        </p:nvSpPr>
        <p:spPr>
          <a:xfrm>
            <a:off x="8211312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AF7F1"/>
          </a:solidFill>
          <a:ln cap="flat" cmpd="sng" w="1395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30" name="Google Shape;730;p26"/>
          <p:cNvSpPr/>
          <p:nvPr/>
        </p:nvSpPr>
        <p:spPr>
          <a:xfrm>
            <a:off x="8375904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8869680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 감사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2" name="Google Shape;732;p26"/>
          <p:cNvSpPr/>
          <p:nvPr/>
        </p:nvSpPr>
        <p:spPr>
          <a:xfrm>
            <a:off x="8869680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Journey·실행안 연결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chain 누락 검사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3" name="Google Shape;733;p26"/>
          <p:cNvSpPr/>
          <p:nvPr/>
        </p:nvSpPr>
        <p:spPr>
          <a:xfrm>
            <a:off x="932688" y="5596128"/>
            <a:ext cx="4882896" cy="658368"/>
          </a:xfrm>
          <a:prstGeom prst="roundRect">
            <a:avLst>
              <a:gd fmla="val 8333" name="adj"/>
            </a:avLst>
          </a:prstGeom>
          <a:solidFill>
            <a:srgbClr val="EAF1FF"/>
          </a:solidFill>
          <a:ln cap="flat" cmpd="sng" w="11425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34" name="Google Shape;734;p26"/>
          <p:cNvSpPr/>
          <p:nvPr/>
        </p:nvSpPr>
        <p:spPr>
          <a:xfrm>
            <a:off x="1115568" y="5751576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재현 단위 · 코드 버전 · 입력 해시 · seed · 임계값 · 출력 ID 기록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5" name="Google Shape;735;p26"/>
          <p:cNvSpPr/>
          <p:nvPr/>
        </p:nvSpPr>
        <p:spPr>
          <a:xfrm>
            <a:off x="6364224" y="5596128"/>
            <a:ext cx="4882896" cy="658368"/>
          </a:xfrm>
          <a:prstGeom prst="roundRect">
            <a:avLst>
              <a:gd fmla="val 8333" name="adj"/>
            </a:avLst>
          </a:prstGeom>
          <a:solidFill>
            <a:srgbClr val="EAF7F1"/>
          </a:solidFill>
          <a:ln cap="flat" cmpd="sng" w="11425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36" name="Google Shape;736;p26"/>
          <p:cNvSpPr/>
          <p:nvPr/>
        </p:nvSpPr>
        <p:spPr>
          <a:xfrm>
            <a:off x="6547104" y="5751576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 단위 · recommendation_id에서 source_review_id까지 양방향 확인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7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3" name="Google Shape;743;p27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4" name="Google Shape;744;p27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우선과제 판정 규칙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45" name="Google Shape;745;p27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6" name="Google Shape;746;p27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8" name="Google Shape;748;p27"/>
          <p:cNvSpPr/>
          <p:nvPr/>
        </p:nvSpPr>
        <p:spPr>
          <a:xfrm>
            <a:off x="566925" y="1554473"/>
            <a:ext cx="11046000" cy="762900"/>
          </a:xfrm>
          <a:prstGeom prst="roundRect">
            <a:avLst>
              <a:gd fmla="val 9375" name="adj"/>
            </a:avLst>
          </a:prstGeom>
          <a:solidFill>
            <a:srgbClr val="EAF1FF"/>
          </a:solidFill>
          <a:ln cap="flat" cmpd="sng" w="1015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49" name="Google Shape;749;p27"/>
          <p:cNvSpPr/>
          <p:nvPr/>
        </p:nvSpPr>
        <p:spPr>
          <a:xfrm>
            <a:off x="749805" y="1709423"/>
            <a:ext cx="329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0" name="Google Shape;750;p27"/>
          <p:cNvSpPr/>
          <p:nvPr/>
        </p:nvSpPr>
        <p:spPr>
          <a:xfrm>
            <a:off x="1234437" y="1697504"/>
            <a:ext cx="1572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 게이트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1" name="Google Shape;751;p27"/>
          <p:cNvSpPr/>
          <p:nvPr/>
        </p:nvSpPr>
        <p:spPr>
          <a:xfrm>
            <a:off x="2944365" y="1697504"/>
            <a:ext cx="37032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최소 리뷰 수 충족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2" name="Google Shape;752;p27"/>
          <p:cNvSpPr/>
          <p:nvPr/>
        </p:nvSpPr>
        <p:spPr>
          <a:xfrm>
            <a:off x="6949437" y="1697504"/>
            <a:ext cx="43161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미충족 시 호텔 IPA 보류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p27"/>
          <p:cNvSpPr/>
          <p:nvPr/>
        </p:nvSpPr>
        <p:spPr>
          <a:xfrm>
            <a:off x="566925" y="2484169"/>
            <a:ext cx="11046000" cy="762900"/>
          </a:xfrm>
          <a:prstGeom prst="roundRect">
            <a:avLst>
              <a:gd fmla="val 9375" name="adj"/>
            </a:avLst>
          </a:prstGeom>
          <a:solidFill>
            <a:srgbClr val="E7F7F7"/>
          </a:solidFill>
          <a:ln cap="flat" cmpd="sng" w="1015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54" name="Google Shape;754;p27"/>
          <p:cNvSpPr/>
          <p:nvPr/>
        </p:nvSpPr>
        <p:spPr>
          <a:xfrm>
            <a:off x="749805" y="2639118"/>
            <a:ext cx="329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5" name="Google Shape;755;p27"/>
          <p:cNvSpPr/>
          <p:nvPr/>
        </p:nvSpPr>
        <p:spPr>
          <a:xfrm>
            <a:off x="1234437" y="2627199"/>
            <a:ext cx="1572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게이트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6" name="Google Shape;756;p27"/>
          <p:cNvSpPr/>
          <p:nvPr/>
        </p:nvSpPr>
        <p:spPr>
          <a:xfrm>
            <a:off x="2944365" y="2627199"/>
            <a:ext cx="37032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Feature의 고유 리뷰 수 충족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7" name="Google Shape;757;p27"/>
          <p:cNvSpPr/>
          <p:nvPr/>
        </p:nvSpPr>
        <p:spPr>
          <a:xfrm>
            <a:off x="6949437" y="2627199"/>
            <a:ext cx="43161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리뷰 과잉 일반화 방지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8" name="Google Shape;758;p27"/>
          <p:cNvSpPr/>
          <p:nvPr/>
        </p:nvSpPr>
        <p:spPr>
          <a:xfrm>
            <a:off x="566925" y="3413864"/>
            <a:ext cx="11046000" cy="762900"/>
          </a:xfrm>
          <a:prstGeom prst="roundRect">
            <a:avLst>
              <a:gd fmla="val 9375" name="adj"/>
            </a:avLst>
          </a:prstGeom>
          <a:solidFill>
            <a:srgbClr val="FCECE9"/>
          </a:solidFill>
          <a:ln cap="flat" cmpd="sng" w="1015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59" name="Google Shape;759;p27"/>
          <p:cNvSpPr/>
          <p:nvPr/>
        </p:nvSpPr>
        <p:spPr>
          <a:xfrm>
            <a:off x="749805" y="3568813"/>
            <a:ext cx="329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0" name="Google Shape;760;p27"/>
          <p:cNvSpPr/>
          <p:nvPr/>
        </p:nvSpPr>
        <p:spPr>
          <a:xfrm>
            <a:off x="1234437" y="3556894"/>
            <a:ext cx="1572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영향 게이트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1" name="Google Shape;761;p27"/>
          <p:cNvSpPr/>
          <p:nvPr/>
        </p:nvSpPr>
        <p:spPr>
          <a:xfrm>
            <a:off x="2944365" y="3556894"/>
            <a:ext cx="37032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별점 관련성과 부정 방향 확인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2" name="Google Shape;762;p27"/>
          <p:cNvSpPr/>
          <p:nvPr/>
        </p:nvSpPr>
        <p:spPr>
          <a:xfrm>
            <a:off x="6949437" y="3556894"/>
            <a:ext cx="43161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빈도만 높은 중립 이슈 제외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3" name="Google Shape;763;p27"/>
          <p:cNvSpPr/>
          <p:nvPr/>
        </p:nvSpPr>
        <p:spPr>
          <a:xfrm>
            <a:off x="566925" y="4343559"/>
            <a:ext cx="11046000" cy="762900"/>
          </a:xfrm>
          <a:prstGeom prst="roundRect">
            <a:avLst>
              <a:gd fmla="val 9375" name="adj"/>
            </a:avLst>
          </a:prstGeom>
          <a:solidFill>
            <a:srgbClr val="F0EDFA"/>
          </a:solidFill>
          <a:ln cap="flat" cmpd="sng" w="1015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64" name="Google Shape;764;p27"/>
          <p:cNvSpPr/>
          <p:nvPr/>
        </p:nvSpPr>
        <p:spPr>
          <a:xfrm>
            <a:off x="749805" y="4498508"/>
            <a:ext cx="3291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1234437" y="4486589"/>
            <a:ext cx="1572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 게이트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6" name="Google Shape;766;p27"/>
          <p:cNvSpPr/>
          <p:nvPr/>
        </p:nvSpPr>
        <p:spPr>
          <a:xfrm>
            <a:off x="2944365" y="4486589"/>
            <a:ext cx="37032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 높음·성과 낮음(Q2)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6949437" y="4486589"/>
            <a:ext cx="43161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우선 후보로 분류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8" name="Google Shape;768;p27"/>
          <p:cNvSpPr/>
          <p:nvPr/>
        </p:nvSpPr>
        <p:spPr>
          <a:xfrm>
            <a:off x="566925" y="5356687"/>
            <a:ext cx="11046000" cy="762900"/>
          </a:xfrm>
          <a:prstGeom prst="roundRect">
            <a:avLst>
              <a:gd fmla="val 9375" name="adj"/>
            </a:avLst>
          </a:prstGeom>
          <a:solidFill>
            <a:srgbClr val="EAF7F1"/>
          </a:solidFill>
          <a:ln cap="flat" cmpd="sng" w="1015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69" name="Google Shape;769;p27"/>
          <p:cNvSpPr/>
          <p:nvPr/>
        </p:nvSpPr>
        <p:spPr>
          <a:xfrm>
            <a:off x="749805" y="5511636"/>
            <a:ext cx="329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1234437" y="5499717"/>
            <a:ext cx="1572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실행성 게이트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2944365" y="5499717"/>
            <a:ext cx="3703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근거·Journey·담당·시점 연결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6949437" y="5499717"/>
            <a:ext cx="43161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호텔별 Top 과제로 출력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9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0" name="Google Shape;780;p29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타당성 위협과 대응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1" name="Google Shape;781;p29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2" name="Google Shape;782;p29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3" name="Google Shape;783;p29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4" name="Google Shape;784;p29"/>
          <p:cNvSpPr/>
          <p:nvPr/>
        </p:nvSpPr>
        <p:spPr>
          <a:xfrm>
            <a:off x="658368" y="1554480"/>
            <a:ext cx="1965960" cy="310896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위협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2788920" y="1554480"/>
            <a:ext cx="3794760" cy="310896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논문에서 피할 주장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6748272" y="1554480"/>
            <a:ext cx="4709160" cy="310896"/>
          </a:xfrm>
          <a:prstGeom prst="rect">
            <a:avLst/>
          </a:prstGeom>
          <a:solidFill>
            <a:srgbClr val="1725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대응·보고 방식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7" name="Google Shape;787;p29"/>
          <p:cNvSpPr/>
          <p:nvPr/>
        </p:nvSpPr>
        <p:spPr>
          <a:xfrm>
            <a:off x="658368" y="1938528"/>
            <a:ext cx="19659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88" name="Google Shape;788;p29"/>
          <p:cNvSpPr/>
          <p:nvPr/>
        </p:nvSpPr>
        <p:spPr>
          <a:xfrm>
            <a:off x="2788920" y="1938528"/>
            <a:ext cx="37947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89" name="Google Shape;789;p29"/>
          <p:cNvSpPr/>
          <p:nvPr/>
        </p:nvSpPr>
        <p:spPr>
          <a:xfrm>
            <a:off x="6748272" y="1938528"/>
            <a:ext cx="47091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90" name="Google Shape;790;p29"/>
          <p:cNvSpPr/>
          <p:nvPr/>
        </p:nvSpPr>
        <p:spPr>
          <a:xfrm>
            <a:off x="768096" y="20482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080"/>
              <a:buFont typeface="Malgun Gothic"/>
              <a:buNone/>
            </a:pPr>
            <a:r>
              <a:rPr b="1" i="0" lang="en-US" sz="108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 타당성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1" name="Google Shape;791;p29"/>
          <p:cNvSpPr/>
          <p:nvPr/>
        </p:nvSpPr>
        <p:spPr>
          <a:xfrm>
            <a:off x="2898648" y="202996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중요도를 언급량만으로 해석할 위험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2" name="Google Shape;792;p29"/>
          <p:cNvSpPr/>
          <p:nvPr/>
        </p:nvSpPr>
        <p:spPr>
          <a:xfrm>
            <a:off x="6858000" y="202996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20"/>
              <a:buFont typeface="Malgun Gothic"/>
              <a:buNone/>
            </a:pPr>
            <a:r>
              <a:rPr b="1" i="0" lang="en-US" sz="10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5 별점 관련성·평점 격차를 함께 사용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3" name="Google Shape;793;p29"/>
          <p:cNvSpPr/>
          <p:nvPr/>
        </p:nvSpPr>
        <p:spPr>
          <a:xfrm>
            <a:off x="658368" y="2578608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94" name="Google Shape;794;p29"/>
          <p:cNvSpPr/>
          <p:nvPr/>
        </p:nvSpPr>
        <p:spPr>
          <a:xfrm>
            <a:off x="2788920" y="2578608"/>
            <a:ext cx="37947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95" name="Google Shape;795;p29"/>
          <p:cNvSpPr/>
          <p:nvPr/>
        </p:nvSpPr>
        <p:spPr>
          <a:xfrm>
            <a:off x="6748272" y="2578608"/>
            <a:ext cx="4709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796" name="Google Shape;796;p29"/>
          <p:cNvSpPr/>
          <p:nvPr/>
        </p:nvSpPr>
        <p:spPr>
          <a:xfrm>
            <a:off x="768096" y="268833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080"/>
              <a:buFont typeface="Malgun Gothic"/>
              <a:buNone/>
            </a:pPr>
            <a:r>
              <a:rPr b="1" i="0" lang="en-US" sz="108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내적 타당성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7" name="Google Shape;797;p29"/>
          <p:cNvSpPr/>
          <p:nvPr/>
        </p:nvSpPr>
        <p:spPr>
          <a:xfrm>
            <a:off x="2898648" y="267004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관찰자료로 인과효과를 주장할 위험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8" name="Google Shape;798;p29"/>
          <p:cNvSpPr/>
          <p:nvPr/>
        </p:nvSpPr>
        <p:spPr>
          <a:xfrm>
            <a:off x="6858000" y="267004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20"/>
              <a:buFont typeface="Malgun Gothic"/>
              <a:buNone/>
            </a:pPr>
            <a:r>
              <a:rPr b="1" i="0" lang="en-US" sz="10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우선순위 연관성으로 제한하고 인과 표현 배제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9" name="Google Shape;799;p29"/>
          <p:cNvSpPr/>
          <p:nvPr/>
        </p:nvSpPr>
        <p:spPr>
          <a:xfrm>
            <a:off x="658368" y="3218688"/>
            <a:ext cx="19659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0" name="Google Shape;800;p29"/>
          <p:cNvSpPr/>
          <p:nvPr/>
        </p:nvSpPr>
        <p:spPr>
          <a:xfrm>
            <a:off x="2788920" y="3218688"/>
            <a:ext cx="37947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1" name="Google Shape;801;p29"/>
          <p:cNvSpPr/>
          <p:nvPr/>
        </p:nvSpPr>
        <p:spPr>
          <a:xfrm>
            <a:off x="6748272" y="3218688"/>
            <a:ext cx="47091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2" name="Google Shape;802;p29"/>
          <p:cNvSpPr/>
          <p:nvPr/>
        </p:nvSpPr>
        <p:spPr>
          <a:xfrm>
            <a:off x="768096" y="332841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080"/>
              <a:buFont typeface="Malgun Gothic"/>
              <a:buNone/>
            </a:pPr>
            <a:r>
              <a:rPr b="1" i="0" lang="en-US" sz="108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외적 타당성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3" name="Google Shape;803;p29"/>
          <p:cNvSpPr/>
          <p:nvPr/>
        </p:nvSpPr>
        <p:spPr>
          <a:xfrm>
            <a:off x="2898648" y="331012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1,000개·137호텔의 불균형 표본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4" name="Google Shape;804;p29"/>
          <p:cNvSpPr/>
          <p:nvPr/>
        </p:nvSpPr>
        <p:spPr>
          <a:xfrm>
            <a:off x="6858000" y="331012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20"/>
              <a:buFont typeface="Malgun Gothic"/>
              <a:buNone/>
            </a:pPr>
            <a:r>
              <a:rPr b="1" i="0" lang="en-US" sz="10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방법론 시범으로 규정, 충분한 호텔만 분석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5" name="Google Shape;805;p29"/>
          <p:cNvSpPr/>
          <p:nvPr/>
        </p:nvSpPr>
        <p:spPr>
          <a:xfrm>
            <a:off x="658368" y="3858768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6" name="Google Shape;806;p29"/>
          <p:cNvSpPr/>
          <p:nvPr/>
        </p:nvSpPr>
        <p:spPr>
          <a:xfrm>
            <a:off x="2788920" y="3858768"/>
            <a:ext cx="37947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7" name="Google Shape;807;p29"/>
          <p:cNvSpPr/>
          <p:nvPr/>
        </p:nvSpPr>
        <p:spPr>
          <a:xfrm>
            <a:off x="6748272" y="3858768"/>
            <a:ext cx="4709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8" name="Google Shape;808;p29"/>
          <p:cNvSpPr/>
          <p:nvPr/>
        </p:nvSpPr>
        <p:spPr>
          <a:xfrm>
            <a:off x="768096" y="396849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080"/>
              <a:buFont typeface="Malgun Gothic"/>
              <a:buNone/>
            </a:pPr>
            <a:r>
              <a:rPr b="1" i="0" lang="en-US" sz="108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신뢰도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9" name="Google Shape;809;p29"/>
          <p:cNvSpPr/>
          <p:nvPr/>
        </p:nvSpPr>
        <p:spPr>
          <a:xfrm>
            <a:off x="2898648" y="395020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label 오분류와 경계 사례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0" name="Google Shape;810;p29"/>
          <p:cNvSpPr/>
          <p:nvPr/>
        </p:nvSpPr>
        <p:spPr>
          <a:xfrm>
            <a:off x="6858000" y="395020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20"/>
              <a:buFont typeface="Malgun Gothic"/>
              <a:buNone/>
            </a:pPr>
            <a:r>
              <a:rPr b="1" i="0" lang="en-US" sz="10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199 비교, 근거 문장 보존, 누락 검사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1" name="Google Shape;811;p29"/>
          <p:cNvSpPr/>
          <p:nvPr/>
        </p:nvSpPr>
        <p:spPr>
          <a:xfrm>
            <a:off x="658368" y="4498848"/>
            <a:ext cx="19659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2" name="Google Shape;812;p29"/>
          <p:cNvSpPr/>
          <p:nvPr/>
        </p:nvSpPr>
        <p:spPr>
          <a:xfrm>
            <a:off x="2788920" y="4498848"/>
            <a:ext cx="37947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3" name="Google Shape;813;p29"/>
          <p:cNvSpPr/>
          <p:nvPr/>
        </p:nvSpPr>
        <p:spPr>
          <a:xfrm>
            <a:off x="6748272" y="4498848"/>
            <a:ext cx="4709160" cy="566928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4" name="Google Shape;814;p29"/>
          <p:cNvSpPr/>
          <p:nvPr/>
        </p:nvSpPr>
        <p:spPr>
          <a:xfrm>
            <a:off x="768096" y="460857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080"/>
              <a:buFont typeface="Malgun Gothic"/>
              <a:buNone/>
            </a:pPr>
            <a:r>
              <a:rPr b="1" i="0" lang="en-US" sz="108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편향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5" name="Google Shape;815;p29"/>
          <p:cNvSpPr/>
          <p:nvPr/>
        </p:nvSpPr>
        <p:spPr>
          <a:xfrm>
            <a:off x="2898648" y="459028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 사례만 강조할 위험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6" name="Google Shape;816;p29"/>
          <p:cNvSpPr/>
          <p:nvPr/>
        </p:nvSpPr>
        <p:spPr>
          <a:xfrm>
            <a:off x="6858000" y="459028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20"/>
              <a:buFont typeface="Malgun Gothic"/>
              <a:buNone/>
            </a:pPr>
            <a:r>
              <a:rPr b="1" i="0" lang="en-US" sz="10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HOLD 호텔 수와 제외 흐름을 함께 보고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7" name="Google Shape;817;p29"/>
          <p:cNvSpPr/>
          <p:nvPr/>
        </p:nvSpPr>
        <p:spPr>
          <a:xfrm>
            <a:off x="658368" y="5138928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8" name="Google Shape;818;p29"/>
          <p:cNvSpPr/>
          <p:nvPr/>
        </p:nvSpPr>
        <p:spPr>
          <a:xfrm>
            <a:off x="2788920" y="5138928"/>
            <a:ext cx="37947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19" name="Google Shape;819;p29"/>
          <p:cNvSpPr/>
          <p:nvPr/>
        </p:nvSpPr>
        <p:spPr>
          <a:xfrm>
            <a:off x="6748272" y="5138928"/>
            <a:ext cx="47091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20" name="Google Shape;820;p29"/>
          <p:cNvSpPr/>
          <p:nvPr/>
        </p:nvSpPr>
        <p:spPr>
          <a:xfrm>
            <a:off x="768096" y="52486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080"/>
              <a:buFont typeface="Malgun Gothic"/>
              <a:buNone/>
            </a:pPr>
            <a:r>
              <a:rPr b="1" i="0" lang="en-US" sz="108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타당성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1" name="Google Shape;821;p29"/>
          <p:cNvSpPr/>
          <p:nvPr/>
        </p:nvSpPr>
        <p:spPr>
          <a:xfrm>
            <a:off x="2898648" y="523036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20"/>
              <a:buFont typeface="Malgun Gothic"/>
              <a:buNone/>
            </a:pPr>
            <a:r>
              <a:rPr b="0" i="0" lang="en-US" sz="10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오래된 리뷰를 현재 상태로 일반화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2" name="Google Shape;822;p29"/>
          <p:cNvSpPr/>
          <p:nvPr/>
        </p:nvSpPr>
        <p:spPr>
          <a:xfrm>
            <a:off x="6858000" y="523036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20"/>
              <a:buFont typeface="Malgun Gothic"/>
              <a:buNone/>
            </a:pPr>
            <a:r>
              <a:rPr b="1" i="0" lang="en-US" sz="10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기간 공개, 최근 기간 민감도와 표본 손실 보고</a:t>
            </a:r>
            <a:endParaRPr b="0" i="0" sz="10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3" name="Google Shape;823;p29"/>
          <p:cNvSpPr/>
          <p:nvPr/>
        </p:nvSpPr>
        <p:spPr>
          <a:xfrm>
            <a:off x="841248" y="5971032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300"/>
              <a:buFont typeface="Malgun Gothic"/>
              <a:buNone/>
            </a:pPr>
            <a:r>
              <a:rPr b="1" i="0" lang="en-US" sz="13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핵심: 정확도·효과·현재성은 검증 범위를 넘지 않도록 주장 강도를 데이터 수준에 맞춘다.</a:t>
            </a:r>
            <a:endParaRPr b="0" i="0" sz="13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0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0" name="Google Shape;830;p30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1" name="Google Shape;831;p30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 작성 설계도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32" name="Google Shape;832;p30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30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4" name="Google Shape;834;p30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5" name="Google Shape;835;p30"/>
          <p:cNvSpPr/>
          <p:nvPr/>
        </p:nvSpPr>
        <p:spPr>
          <a:xfrm>
            <a:off x="566928" y="1481328"/>
            <a:ext cx="11018520" cy="603504"/>
          </a:xfrm>
          <a:prstGeom prst="roundRect">
            <a:avLst>
              <a:gd fmla="val 7576" name="adj"/>
            </a:avLst>
          </a:prstGeom>
          <a:solidFill>
            <a:srgbClr val="F6F8FB"/>
          </a:solidFill>
          <a:ln cap="flat" cmpd="sng" w="10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36" name="Google Shape;836;p30"/>
          <p:cNvSpPr/>
          <p:nvPr/>
        </p:nvSpPr>
        <p:spPr>
          <a:xfrm>
            <a:off x="749808" y="160020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Introduction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7" name="Google Shape;837;p30"/>
          <p:cNvSpPr/>
          <p:nvPr/>
        </p:nvSpPr>
        <p:spPr>
          <a:xfrm>
            <a:off x="2286000" y="1572768"/>
            <a:ext cx="6812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80"/>
              <a:buFont typeface="Malgun Gothic"/>
              <a:buNone/>
            </a:pPr>
            <a:r>
              <a:rPr b="0" i="0" lang="en-US" sz="108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리뷰별 생성의 한계 → 호텔 우선순위 공백 → 세 가지 기여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8" name="Google Shape;838;p30"/>
          <p:cNvSpPr/>
          <p:nvPr/>
        </p:nvSpPr>
        <p:spPr>
          <a:xfrm>
            <a:off x="9281160" y="1572768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00"/>
              <a:buFont typeface="Malgun Gothic"/>
              <a:buNone/>
            </a:pPr>
            <a:r>
              <a:rPr b="1" i="0" lang="en-US" sz="10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2·3·21</a:t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9" name="Google Shape;839;p30"/>
          <p:cNvSpPr/>
          <p:nvPr/>
        </p:nvSpPr>
        <p:spPr>
          <a:xfrm>
            <a:off x="566928" y="2231136"/>
            <a:ext cx="1101852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0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40" name="Google Shape;840;p30"/>
          <p:cNvSpPr/>
          <p:nvPr/>
        </p:nvSpPr>
        <p:spPr>
          <a:xfrm>
            <a:off x="749808" y="235000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Literature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1" name="Google Shape;841;p30"/>
          <p:cNvSpPr/>
          <p:nvPr/>
        </p:nvSpPr>
        <p:spPr>
          <a:xfrm>
            <a:off x="2286000" y="2322576"/>
            <a:ext cx="6812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80"/>
              <a:buFont typeface="Malgun Gothic"/>
              <a:buNone/>
            </a:pPr>
            <a:r>
              <a:rPr b="0" i="0" lang="en-US" sz="108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리뷰 분석 · IPA · 설명가능성 · 불확실성/안정성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2" name="Google Shape;842;p30"/>
          <p:cNvSpPr/>
          <p:nvPr/>
        </p:nvSpPr>
        <p:spPr>
          <a:xfrm>
            <a:off x="9281160" y="232257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00"/>
              <a:buFont typeface="Malgun Gothic"/>
              <a:buNone/>
            </a:pPr>
            <a:r>
              <a:rPr b="1" i="0" lang="en-US" sz="10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개념 비교표 추가</a:t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3" name="Google Shape;843;p30"/>
          <p:cNvSpPr/>
          <p:nvPr/>
        </p:nvSpPr>
        <p:spPr>
          <a:xfrm>
            <a:off x="566928" y="2980944"/>
            <a:ext cx="11018520" cy="603504"/>
          </a:xfrm>
          <a:prstGeom prst="roundRect">
            <a:avLst>
              <a:gd fmla="val 7576" name="adj"/>
            </a:avLst>
          </a:prstGeom>
          <a:solidFill>
            <a:srgbClr val="F6F8FB"/>
          </a:solidFill>
          <a:ln cap="flat" cmpd="sng" w="10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44" name="Google Shape;844;p30"/>
          <p:cNvSpPr/>
          <p:nvPr/>
        </p:nvSpPr>
        <p:spPr>
          <a:xfrm>
            <a:off x="749808" y="3099816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Methods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5" name="Google Shape;845;p30"/>
          <p:cNvSpPr/>
          <p:nvPr/>
        </p:nvSpPr>
        <p:spPr>
          <a:xfrm>
            <a:off x="2286000" y="3072384"/>
            <a:ext cx="6812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80"/>
              <a:buFont typeface="Malgun Gothic"/>
              <a:buNone/>
            </a:pPr>
            <a:r>
              <a:rPr b="0" i="0" lang="en-US" sz="108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데이터·Agent 1–5·호텔 집계·IPA·bootstrap·Journey·역추적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6" name="Google Shape;846;p30"/>
          <p:cNvSpPr/>
          <p:nvPr/>
        </p:nvSpPr>
        <p:spPr>
          <a:xfrm>
            <a:off x="9281160" y="307238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00"/>
              <a:buFont typeface="Malgun Gothic"/>
              <a:buNone/>
            </a:pPr>
            <a:r>
              <a:rPr b="1" i="0" lang="en-US" sz="10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4·5·7·8·14·25–27</a:t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30"/>
          <p:cNvSpPr/>
          <p:nvPr/>
        </p:nvSpPr>
        <p:spPr>
          <a:xfrm>
            <a:off x="566928" y="3730752"/>
            <a:ext cx="1101852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0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48" name="Google Shape;848;p30"/>
          <p:cNvSpPr/>
          <p:nvPr/>
        </p:nvSpPr>
        <p:spPr>
          <a:xfrm>
            <a:off x="749808" y="3849624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Results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9" name="Google Shape;849;p30"/>
          <p:cNvSpPr/>
          <p:nvPr/>
        </p:nvSpPr>
        <p:spPr>
          <a:xfrm>
            <a:off x="2286000" y="3822192"/>
            <a:ext cx="6812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80"/>
              <a:buFont typeface="Malgun Gothic"/>
              <a:buNone/>
            </a:pPr>
            <a:r>
              <a:rPr b="0" i="0" lang="en-US" sz="108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 흐름 → Q1–Q4 →  Q2 → Top 5 → 세 사례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0" name="Google Shape;850;p30"/>
          <p:cNvSpPr/>
          <p:nvPr/>
        </p:nvSpPr>
        <p:spPr>
          <a:xfrm>
            <a:off x="9281160" y="382219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00"/>
              <a:buFont typeface="Malgun Gothic"/>
              <a:buNone/>
            </a:pPr>
            <a:r>
              <a:rPr b="1" i="0" lang="en-US" sz="10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6·9–12·22–24</a:t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1" name="Google Shape;851;p30"/>
          <p:cNvSpPr/>
          <p:nvPr/>
        </p:nvSpPr>
        <p:spPr>
          <a:xfrm>
            <a:off x="566928" y="4480560"/>
            <a:ext cx="11018520" cy="603504"/>
          </a:xfrm>
          <a:prstGeom prst="roundRect">
            <a:avLst>
              <a:gd fmla="val 7576" name="adj"/>
            </a:avLst>
          </a:prstGeom>
          <a:solidFill>
            <a:srgbClr val="F6F8FB"/>
          </a:solidFill>
          <a:ln cap="flat" cmpd="sng" w="10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52" name="Google Shape;852;p30"/>
          <p:cNvSpPr/>
          <p:nvPr/>
        </p:nvSpPr>
        <p:spPr>
          <a:xfrm>
            <a:off x="749808" y="459943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Robustness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3" name="Google Shape;853;p30"/>
          <p:cNvSpPr/>
          <p:nvPr/>
        </p:nvSpPr>
        <p:spPr>
          <a:xfrm>
            <a:off x="2286000" y="4572000"/>
            <a:ext cx="6812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80"/>
              <a:buFont typeface="Malgun Gothic"/>
              <a:buNone/>
            </a:pPr>
            <a:r>
              <a:rPr b="0" i="0" lang="en-US" sz="108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대안 임계값·집계·기간·Agent 품질 비교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4" name="Google Shape;854;p30"/>
          <p:cNvSpPr/>
          <p:nvPr/>
        </p:nvSpPr>
        <p:spPr>
          <a:xfrm>
            <a:off x="9281160" y="45720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00"/>
              <a:buFont typeface="Malgun Gothic"/>
              <a:buNone/>
            </a:pPr>
            <a:r>
              <a:rPr b="1" i="0" lang="en-US" sz="10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28</a:t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5" name="Google Shape;855;p30"/>
          <p:cNvSpPr/>
          <p:nvPr/>
        </p:nvSpPr>
        <p:spPr>
          <a:xfrm>
            <a:off x="566928" y="5230368"/>
            <a:ext cx="1101852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0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56" name="Google Shape;856;p30"/>
          <p:cNvSpPr/>
          <p:nvPr/>
        </p:nvSpPr>
        <p:spPr>
          <a:xfrm>
            <a:off x="749808" y="534924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Discussion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7" name="Google Shape;857;p30"/>
          <p:cNvSpPr/>
          <p:nvPr/>
        </p:nvSpPr>
        <p:spPr>
          <a:xfrm>
            <a:off x="2286000" y="5321808"/>
            <a:ext cx="6812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80"/>
              <a:buFont typeface="Malgun Gothic"/>
              <a:buNone/>
            </a:pPr>
            <a:r>
              <a:rPr b="0" i="0" lang="en-US" sz="108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기여·실무 적용·타당성 위협·일반화 범위</a:t>
            </a:r>
            <a:endParaRPr b="0" i="0" sz="108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8" name="Google Shape;858;p30"/>
          <p:cNvSpPr/>
          <p:nvPr/>
        </p:nvSpPr>
        <p:spPr>
          <a:xfrm>
            <a:off x="9281160" y="5321808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000"/>
              <a:buFont typeface="Malgun Gothic"/>
              <a:buNone/>
            </a:pPr>
            <a:r>
              <a:rPr b="1" i="0" lang="en-US" sz="10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19·21·29</a:t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9" name="Google Shape;859;p30"/>
          <p:cNvSpPr/>
          <p:nvPr/>
        </p:nvSpPr>
        <p:spPr>
          <a:xfrm>
            <a:off x="841248" y="5943600"/>
            <a:ext cx="3246120" cy="566928"/>
          </a:xfrm>
          <a:prstGeom prst="roundRect">
            <a:avLst>
              <a:gd fmla="val 9677" name="adj"/>
            </a:avLst>
          </a:prstGeom>
          <a:solidFill>
            <a:srgbClr val="EAF7F1"/>
          </a:solidFill>
          <a:ln cap="flat" cmpd="sng" w="11425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0" name="Google Shape;860;p30"/>
          <p:cNvSpPr/>
          <p:nvPr/>
        </p:nvSpPr>
        <p:spPr>
          <a:xfrm>
            <a:off x="987552" y="6071616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Methods = 데이터·절차·산식·판정기준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1" name="Google Shape;861;p30"/>
          <p:cNvSpPr/>
          <p:nvPr/>
        </p:nvSpPr>
        <p:spPr>
          <a:xfrm>
            <a:off x="4462272" y="5943600"/>
            <a:ext cx="3246120" cy="566928"/>
          </a:xfrm>
          <a:prstGeom prst="roundRect">
            <a:avLst>
              <a:gd fmla="val 9677" name="adj"/>
            </a:avLst>
          </a:prstGeom>
          <a:solidFill>
            <a:srgbClr val="EAF1FF"/>
          </a:solidFill>
          <a:ln cap="flat" cmpd="sng" w="11425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2" name="Google Shape;862;p30"/>
          <p:cNvSpPr/>
          <p:nvPr/>
        </p:nvSpPr>
        <p:spPr>
          <a:xfrm>
            <a:off x="4608576" y="6071616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Results = 관측값·표·검정 결과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3" name="Google Shape;863;p30"/>
          <p:cNvSpPr/>
          <p:nvPr/>
        </p:nvSpPr>
        <p:spPr>
          <a:xfrm>
            <a:off x="8083296" y="5943600"/>
            <a:ext cx="3246120" cy="566928"/>
          </a:xfrm>
          <a:prstGeom prst="roundRect">
            <a:avLst>
              <a:gd fmla="val 9677" name="adj"/>
            </a:avLst>
          </a:prstGeom>
          <a:solidFill>
            <a:srgbClr val="F0EDFA"/>
          </a:solidFill>
          <a:ln cap="flat" cmpd="sng" w="11425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64" name="Google Shape;864;p30"/>
          <p:cNvSpPr/>
          <p:nvPr/>
        </p:nvSpPr>
        <p:spPr>
          <a:xfrm>
            <a:off x="8229600" y="6071616"/>
            <a:ext cx="29535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Discussion = 결과의 의미·한계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3B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71" name="Google Shape;871;p31"/>
          <p:cNvSpPr/>
          <p:nvPr/>
        </p:nvSpPr>
        <p:spPr>
          <a:xfrm rot="1500000">
            <a:off x="7772400" y="-1097280"/>
            <a:ext cx="5212080" cy="52120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77DFF">
              <a:alpha val="52157"/>
            </a:srgbClr>
          </a:solidFill>
          <a:ln cap="flat" cmpd="sng" w="12700">
            <a:solidFill>
              <a:srgbClr val="377D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72" name="Google Shape;872;p31"/>
          <p:cNvSpPr/>
          <p:nvPr/>
        </p:nvSpPr>
        <p:spPr>
          <a:xfrm rot="-9000000">
            <a:off x="8778240" y="338328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0A7B5">
              <a:alpha val="38039"/>
            </a:srgbClr>
          </a:solidFill>
          <a:ln cap="flat" cmpd="sng" w="12700">
            <a:solidFill>
              <a:srgbClr val="00A7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73" name="Google Shape;873;p31"/>
          <p:cNvSpPr/>
          <p:nvPr/>
        </p:nvSpPr>
        <p:spPr>
          <a:xfrm>
            <a:off x="713232" y="658368"/>
            <a:ext cx="2450592" cy="329184"/>
          </a:xfrm>
          <a:prstGeom prst="roundRect">
            <a:avLst>
              <a:gd fmla="val 44444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74" name="Google Shape;874;p31"/>
          <p:cNvSpPr/>
          <p:nvPr/>
        </p:nvSpPr>
        <p:spPr>
          <a:xfrm>
            <a:off x="786384" y="68580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연구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713232" y="1325880"/>
            <a:ext cx="81381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1" i="0" lang="en-US" sz="40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검증</a:t>
            </a:r>
            <a:endParaRPr b="0" i="0" sz="4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6" name="Google Shape;876;p31"/>
          <p:cNvSpPr/>
          <p:nvPr/>
        </p:nvSpPr>
        <p:spPr>
          <a:xfrm>
            <a:off x="731520" y="239572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700"/>
              <a:buFont typeface="Malgun Gothic"/>
              <a:buNone/>
            </a:pPr>
            <a:r>
              <a:rPr b="0" i="0" lang="en-US" sz="1700" u="none" cap="none">
                <a:solidFill>
                  <a:srgbClr val="DCE6F5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30장 뒤에 이어지는 세 가지 실험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7" name="Google Shape;877;p31"/>
          <p:cNvSpPr/>
          <p:nvPr/>
        </p:nvSpPr>
        <p:spPr>
          <a:xfrm>
            <a:off x="731520" y="3950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질문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8" name="Google Shape;878;p31"/>
          <p:cNvSpPr/>
          <p:nvPr/>
        </p:nvSpPr>
        <p:spPr>
          <a:xfrm>
            <a:off x="731520" y="4334256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확장성 · 아키텍처 · 의사결정 영향</a:t>
            </a:r>
            <a:endParaRPr b="0" i="0" sz="2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9" name="Google Shape;879;p31"/>
          <p:cNvSpPr/>
          <p:nvPr/>
        </p:nvSpPr>
        <p:spPr>
          <a:xfrm>
            <a:off x="731520" y="61081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1050"/>
              <a:buFont typeface="Malgun Gothic"/>
              <a:buNone/>
            </a:pPr>
            <a:r>
              <a:t/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0" name="Google Shape;880;p31"/>
          <p:cNvSpPr/>
          <p:nvPr/>
        </p:nvSpPr>
        <p:spPr>
          <a:xfrm>
            <a:off x="10698480" y="610819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900"/>
              <a:buFont typeface="Malgun Gothic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2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7" name="Google Shape;887;p32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가지 추가 실험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89" name="Google Shape;889;p32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32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1" name="Google Shape;891;p32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2" name="Google Shape;892;p32"/>
          <p:cNvSpPr/>
          <p:nvPr/>
        </p:nvSpPr>
        <p:spPr>
          <a:xfrm>
            <a:off x="530352" y="1627632"/>
            <a:ext cx="3456432" cy="1389888"/>
          </a:xfrm>
          <a:prstGeom prst="roundRect">
            <a:avLst>
              <a:gd fmla="val 5263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93" name="Google Shape;893;p32"/>
          <p:cNvSpPr/>
          <p:nvPr/>
        </p:nvSpPr>
        <p:spPr>
          <a:xfrm>
            <a:off x="530352" y="1627632"/>
            <a:ext cx="64008" cy="1389888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94" name="Google Shape;894;p32"/>
          <p:cNvSpPr/>
          <p:nvPr/>
        </p:nvSpPr>
        <p:spPr>
          <a:xfrm>
            <a:off x="731520" y="175564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5" name="Google Shape;895;p32"/>
          <p:cNvSpPr/>
          <p:nvPr/>
        </p:nvSpPr>
        <p:spPr>
          <a:xfrm>
            <a:off x="731520" y="2130552"/>
            <a:ext cx="30906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분석만으로는 현재성·구조 필요성·오류 영향을 분리하기 어렵다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6" name="Google Shape;896;p32"/>
          <p:cNvSpPr/>
          <p:nvPr/>
        </p:nvSpPr>
        <p:spPr>
          <a:xfrm>
            <a:off x="4370832" y="1627632"/>
            <a:ext cx="3456432" cy="1389888"/>
          </a:xfrm>
          <a:prstGeom prst="roundRect">
            <a:avLst>
              <a:gd fmla="val 5263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97" name="Google Shape;897;p32"/>
          <p:cNvSpPr/>
          <p:nvPr/>
        </p:nvSpPr>
        <p:spPr>
          <a:xfrm>
            <a:off x="4370832" y="1627632"/>
            <a:ext cx="64008" cy="1389888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98" name="Google Shape;898;p32"/>
          <p:cNvSpPr/>
          <p:nvPr/>
        </p:nvSpPr>
        <p:spPr>
          <a:xfrm>
            <a:off x="4572000" y="175564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9" name="Google Shape;899;p32"/>
          <p:cNvSpPr/>
          <p:nvPr/>
        </p:nvSpPr>
        <p:spPr>
          <a:xfrm>
            <a:off x="4572000" y="2130552"/>
            <a:ext cx="30906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표본, 통제 비교, 우선순위 보존을 독립 실험으로 검증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0" name="Google Shape;900;p32"/>
          <p:cNvSpPr/>
          <p:nvPr/>
        </p:nvSpPr>
        <p:spPr>
          <a:xfrm>
            <a:off x="8211312" y="1627632"/>
            <a:ext cx="3456432" cy="1389888"/>
          </a:xfrm>
          <a:prstGeom prst="roundRect">
            <a:avLst>
              <a:gd fmla="val 5263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1" name="Google Shape;901;p32"/>
          <p:cNvSpPr/>
          <p:nvPr/>
        </p:nvSpPr>
        <p:spPr>
          <a:xfrm>
            <a:off x="8211312" y="1627632"/>
            <a:ext cx="64008" cy="1389888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2" name="Google Shape;902;p32"/>
          <p:cNvSpPr/>
          <p:nvPr/>
        </p:nvSpPr>
        <p:spPr>
          <a:xfrm>
            <a:off x="8412480" y="175564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3" name="Google Shape;903;p32"/>
          <p:cNvSpPr/>
          <p:nvPr/>
        </p:nvSpPr>
        <p:spPr>
          <a:xfrm>
            <a:off x="8412480" y="2130552"/>
            <a:ext cx="30906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크기보다 결론의 재현성과 의사결정 안전성을 평가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4" name="Google Shape;904;p32"/>
          <p:cNvSpPr/>
          <p:nvPr/>
        </p:nvSpPr>
        <p:spPr>
          <a:xfrm>
            <a:off x="658368" y="3493008"/>
            <a:ext cx="3456432" cy="1481328"/>
          </a:xfrm>
          <a:prstGeom prst="roundRect">
            <a:avLst>
              <a:gd fmla="val 4938" name="adj"/>
            </a:avLst>
          </a:prstGeom>
          <a:solidFill>
            <a:srgbClr val="F0EDFA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5" name="Google Shape;905;p32"/>
          <p:cNvSpPr/>
          <p:nvPr/>
        </p:nvSpPr>
        <p:spPr>
          <a:xfrm>
            <a:off x="658368" y="3493008"/>
            <a:ext cx="64008" cy="1481328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6" name="Google Shape;906;p32"/>
          <p:cNvSpPr/>
          <p:nvPr/>
        </p:nvSpPr>
        <p:spPr>
          <a:xfrm>
            <a:off x="859536" y="362102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1 · 확장성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7" name="Google Shape;907;p32"/>
          <p:cNvSpPr/>
          <p:nvPr/>
        </p:nvSpPr>
        <p:spPr>
          <a:xfrm>
            <a:off x="859536" y="3995928"/>
            <a:ext cx="30906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19,561건 모집단과 최근기간 표본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8" name="Google Shape;908;p32"/>
          <p:cNvSpPr/>
          <p:nvPr/>
        </p:nvSpPr>
        <p:spPr>
          <a:xfrm>
            <a:off x="4498848" y="3493008"/>
            <a:ext cx="3456432" cy="1481328"/>
          </a:xfrm>
          <a:prstGeom prst="roundRect">
            <a:avLst>
              <a:gd fmla="val 4938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09" name="Google Shape;909;p32"/>
          <p:cNvSpPr/>
          <p:nvPr/>
        </p:nvSpPr>
        <p:spPr>
          <a:xfrm>
            <a:off x="4498848" y="3493008"/>
            <a:ext cx="64008" cy="1481328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0" name="Google Shape;910;p32"/>
          <p:cNvSpPr/>
          <p:nvPr/>
        </p:nvSpPr>
        <p:spPr>
          <a:xfrm>
            <a:off x="4700016" y="362102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 · 아키텍처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1" name="Google Shape;911;p32"/>
          <p:cNvSpPr/>
          <p:nvPr/>
        </p:nvSpPr>
        <p:spPr>
          <a:xfrm>
            <a:off x="4700016" y="3995928"/>
            <a:ext cx="30906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모델의 단일·멀티 비교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2" name="Google Shape;912;p32"/>
          <p:cNvSpPr/>
          <p:nvPr/>
        </p:nvSpPr>
        <p:spPr>
          <a:xfrm>
            <a:off x="8339328" y="3493008"/>
            <a:ext cx="3456432" cy="1481328"/>
          </a:xfrm>
          <a:prstGeom prst="roundRect">
            <a:avLst>
              <a:gd fmla="val 4938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3" name="Google Shape;913;p32"/>
          <p:cNvSpPr/>
          <p:nvPr/>
        </p:nvSpPr>
        <p:spPr>
          <a:xfrm>
            <a:off x="8339328" y="3493008"/>
            <a:ext cx="64008" cy="1481328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14" name="Google Shape;914;p32"/>
          <p:cNvSpPr/>
          <p:nvPr/>
        </p:nvSpPr>
        <p:spPr>
          <a:xfrm>
            <a:off x="8540496" y="3621024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3 · 오류 영향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5" name="Google Shape;915;p32"/>
          <p:cNvSpPr/>
          <p:nvPr/>
        </p:nvSpPr>
        <p:spPr>
          <a:xfrm>
            <a:off x="8540496" y="3995928"/>
            <a:ext cx="30906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RQ1 오차가 RQ2를 바꾸는지 검증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6" name="Google Shape;916;p32"/>
          <p:cNvSpPr/>
          <p:nvPr/>
        </p:nvSpPr>
        <p:spPr>
          <a:xfrm>
            <a:off x="841248" y="5715000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1" i="0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크기를 늘리는 데서 끝나지 않고, 결론의 신뢰도를 세 방향에서 검증한다.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3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4" name="Google Shape;924;p33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19,561건 확장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25" name="Google Shape;925;p33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33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7" name="Google Shape;927;p33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56692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29" name="Google Shape;929;p33"/>
          <p:cNvSpPr/>
          <p:nvPr/>
        </p:nvSpPr>
        <p:spPr>
          <a:xfrm>
            <a:off x="70408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19,762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0" name="Google Shape;930;p33"/>
          <p:cNvSpPr/>
          <p:nvPr/>
        </p:nvSpPr>
        <p:spPr>
          <a:xfrm>
            <a:off x="70408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원자료 리뷰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1" name="Google Shape;931;p33"/>
          <p:cNvSpPr/>
          <p:nvPr/>
        </p:nvSpPr>
        <p:spPr>
          <a:xfrm>
            <a:off x="70408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2015–2025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276148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33" name="Google Shape;933;p33"/>
          <p:cNvSpPr/>
          <p:nvPr/>
        </p:nvSpPr>
        <p:spPr>
          <a:xfrm>
            <a:off x="289864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260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4" name="Google Shape;934;p33"/>
          <p:cNvSpPr/>
          <p:nvPr/>
        </p:nvSpPr>
        <p:spPr>
          <a:xfrm>
            <a:off x="289864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5" name="Google Shape;935;p33"/>
          <p:cNvSpPr/>
          <p:nvPr/>
        </p:nvSpPr>
        <p:spPr>
          <a:xfrm>
            <a:off x="289864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위치코드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6" name="Google Shape;936;p33"/>
          <p:cNvSpPr/>
          <p:nvPr/>
        </p:nvSpPr>
        <p:spPr>
          <a:xfrm>
            <a:off x="495604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37" name="Google Shape;937;p33"/>
          <p:cNvSpPr/>
          <p:nvPr/>
        </p:nvSpPr>
        <p:spPr>
          <a:xfrm>
            <a:off x="509320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199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8" name="Google Shape;938;p33"/>
          <p:cNvSpPr/>
          <p:nvPr/>
        </p:nvSpPr>
        <p:spPr>
          <a:xfrm>
            <a:off x="509320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제외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9" name="Google Shape;939;p33"/>
          <p:cNvSpPr/>
          <p:nvPr/>
        </p:nvSpPr>
        <p:spPr>
          <a:xfrm>
            <a:off x="509320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독립성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0" name="Google Shape;940;p33"/>
          <p:cNvSpPr/>
          <p:nvPr/>
        </p:nvSpPr>
        <p:spPr>
          <a:xfrm>
            <a:off x="715060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41" name="Google Shape;941;p33"/>
          <p:cNvSpPr/>
          <p:nvPr/>
        </p:nvSpPr>
        <p:spPr>
          <a:xfrm>
            <a:off x="728776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2" name="Google Shape;942;p33"/>
          <p:cNvSpPr/>
          <p:nvPr/>
        </p:nvSpPr>
        <p:spPr>
          <a:xfrm>
            <a:off x="728776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제거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3" name="Google Shape;943;p33"/>
          <p:cNvSpPr/>
          <p:nvPr/>
        </p:nvSpPr>
        <p:spPr>
          <a:xfrm>
            <a:off x="728776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잔여 중복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4" name="Google Shape;944;p33"/>
          <p:cNvSpPr/>
          <p:nvPr/>
        </p:nvSpPr>
        <p:spPr>
          <a:xfrm>
            <a:off x="934516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45" name="Google Shape;945;p33"/>
          <p:cNvSpPr/>
          <p:nvPr/>
        </p:nvSpPr>
        <p:spPr>
          <a:xfrm>
            <a:off x="948232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19,561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6" name="Google Shape;946;p33"/>
          <p:cNvSpPr/>
          <p:nvPr/>
        </p:nvSpPr>
        <p:spPr>
          <a:xfrm>
            <a:off x="948232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모집단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7" name="Google Shape;947;p33"/>
          <p:cNvSpPr/>
          <p:nvPr/>
        </p:nvSpPr>
        <p:spPr>
          <a:xfrm>
            <a:off x="948232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분석 대상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8" name="Google Shape;948;p33"/>
          <p:cNvSpPr/>
          <p:nvPr/>
        </p:nvSpPr>
        <p:spPr>
          <a:xfrm>
            <a:off x="566928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49" name="Google Shape;949;p33"/>
          <p:cNvSpPr/>
          <p:nvPr/>
        </p:nvSpPr>
        <p:spPr>
          <a:xfrm>
            <a:off x="566928" y="3584448"/>
            <a:ext cx="64008" cy="1417320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0" name="Google Shape;950;p33"/>
          <p:cNvSpPr/>
          <p:nvPr/>
        </p:nvSpPr>
        <p:spPr>
          <a:xfrm>
            <a:off x="768096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기간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1" name="Google Shape;951;p33"/>
          <p:cNvSpPr/>
          <p:nvPr/>
        </p:nvSpPr>
        <p:spPr>
          <a:xfrm>
            <a:off x="768096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2015.01–2025.03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2" name="Google Shape;952;p33"/>
          <p:cNvSpPr/>
          <p:nvPr/>
        </p:nvSpPr>
        <p:spPr>
          <a:xfrm>
            <a:off x="4242816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3" name="Google Shape;953;p33"/>
          <p:cNvSpPr/>
          <p:nvPr/>
        </p:nvSpPr>
        <p:spPr>
          <a:xfrm>
            <a:off x="4242816" y="3584448"/>
            <a:ext cx="64008" cy="1417320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4" name="Google Shape;954;p33"/>
          <p:cNvSpPr/>
          <p:nvPr/>
        </p:nvSpPr>
        <p:spPr>
          <a:xfrm>
            <a:off x="4443984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1,000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5" name="Google Shape;955;p33"/>
          <p:cNvSpPr/>
          <p:nvPr/>
        </p:nvSpPr>
        <p:spPr>
          <a:xfrm>
            <a:off x="4443984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원본행 100% 매칭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6" name="Google Shape;956;p33"/>
          <p:cNvSpPr/>
          <p:nvPr/>
        </p:nvSpPr>
        <p:spPr>
          <a:xfrm>
            <a:off x="7918704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7" name="Google Shape;957;p33"/>
          <p:cNvSpPr/>
          <p:nvPr/>
        </p:nvSpPr>
        <p:spPr>
          <a:xfrm>
            <a:off x="7918704" y="3584448"/>
            <a:ext cx="64008" cy="1417320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58" name="Google Shape;958;p33"/>
          <p:cNvSpPr/>
          <p:nvPr/>
        </p:nvSpPr>
        <p:spPr>
          <a:xfrm>
            <a:off x="8119872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독립성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9" name="Google Shape;959;p33"/>
          <p:cNvSpPr/>
          <p:nvPr/>
        </p:nvSpPr>
        <p:spPr>
          <a:xfrm>
            <a:off x="8119872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Gold·평가표본 제외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4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6" name="Google Shape;966;p34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7" name="Google Shape;967;p34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모집단 확인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68" name="Google Shape;968;p34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9" name="Google Shape;969;p34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1" name="Google Shape;971;p34"/>
          <p:cNvSpPr/>
          <p:nvPr/>
        </p:nvSpPr>
        <p:spPr>
          <a:xfrm>
            <a:off x="6583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FCECE9"/>
          </a:solidFill>
          <a:ln cap="flat" cmpd="sng" w="165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72" name="Google Shape;972;p34"/>
          <p:cNvSpPr/>
          <p:nvPr/>
        </p:nvSpPr>
        <p:spPr>
          <a:xfrm>
            <a:off x="7955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19,762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3" name="Google Shape;973;p34"/>
          <p:cNvSpPr/>
          <p:nvPr/>
        </p:nvSpPr>
        <p:spPr>
          <a:xfrm>
            <a:off x="7955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원자료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74" name="Google Shape;974;p34"/>
          <p:cNvCxnSpPr/>
          <p:nvPr/>
        </p:nvCxnSpPr>
        <p:spPr>
          <a:xfrm>
            <a:off x="30358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5" name="Google Shape;975;p34"/>
          <p:cNvSpPr/>
          <p:nvPr/>
        </p:nvSpPr>
        <p:spPr>
          <a:xfrm>
            <a:off x="34015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F0EDFA"/>
          </a:solidFill>
          <a:ln cap="flat" cmpd="sng" w="165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76" name="Google Shape;976;p34"/>
          <p:cNvSpPr/>
          <p:nvPr/>
        </p:nvSpPr>
        <p:spPr>
          <a:xfrm>
            <a:off x="35387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−199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7" name="Google Shape;977;p34"/>
          <p:cNvSpPr/>
          <p:nvPr/>
        </p:nvSpPr>
        <p:spPr>
          <a:xfrm>
            <a:off x="35387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제외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78" name="Google Shape;978;p34"/>
          <p:cNvCxnSpPr/>
          <p:nvPr/>
        </p:nvCxnSpPr>
        <p:spPr>
          <a:xfrm>
            <a:off x="57790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9" name="Google Shape;979;p34"/>
          <p:cNvSpPr/>
          <p:nvPr/>
        </p:nvSpPr>
        <p:spPr>
          <a:xfrm>
            <a:off x="61447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EAF1FF"/>
          </a:solidFill>
          <a:ln cap="flat" cmpd="sng" w="165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80" name="Google Shape;980;p34"/>
          <p:cNvSpPr/>
          <p:nvPr/>
        </p:nvSpPr>
        <p:spPr>
          <a:xfrm>
            <a:off x="62819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−2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1" name="Google Shape;981;p34"/>
          <p:cNvSpPr/>
          <p:nvPr/>
        </p:nvSpPr>
        <p:spPr>
          <a:xfrm>
            <a:off x="62819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제거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82" name="Google Shape;982;p34"/>
          <p:cNvCxnSpPr/>
          <p:nvPr/>
        </p:nvCxnSpPr>
        <p:spPr>
          <a:xfrm>
            <a:off x="85222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3" name="Google Shape;983;p34"/>
          <p:cNvSpPr/>
          <p:nvPr/>
        </p:nvSpPr>
        <p:spPr>
          <a:xfrm>
            <a:off x="88879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EAF7F1"/>
          </a:solidFill>
          <a:ln cap="flat" cmpd="sng" w="165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84" name="Google Shape;984;p34"/>
          <p:cNvSpPr/>
          <p:nvPr/>
        </p:nvSpPr>
        <p:spPr>
          <a:xfrm>
            <a:off x="90251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19,561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5" name="Google Shape;985;p34"/>
          <p:cNvSpPr/>
          <p:nvPr/>
        </p:nvSpPr>
        <p:spPr>
          <a:xfrm>
            <a:off x="90251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모집단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6" name="Google Shape;986;p34"/>
          <p:cNvSpPr/>
          <p:nvPr/>
        </p:nvSpPr>
        <p:spPr>
          <a:xfrm>
            <a:off x="786384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87" name="Google Shape;987;p34"/>
          <p:cNvSpPr/>
          <p:nvPr/>
        </p:nvSpPr>
        <p:spPr>
          <a:xfrm>
            <a:off x="786384" y="4407408"/>
            <a:ext cx="64008" cy="1097280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88" name="Google Shape;988;p34"/>
          <p:cNvSpPr/>
          <p:nvPr/>
        </p:nvSpPr>
        <p:spPr>
          <a:xfrm>
            <a:off x="987552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 · 제외 규칙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9" name="Google Shape;989;p34"/>
          <p:cNvSpPr/>
          <p:nvPr/>
        </p:nvSpPr>
        <p:spPr>
          <a:xfrm>
            <a:off x="987552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199는 정확도 평가에만 사용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0" name="Google Shape;990;p34"/>
          <p:cNvSpPr/>
          <p:nvPr/>
        </p:nvSpPr>
        <p:spPr>
          <a:xfrm>
            <a:off x="4434840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91" name="Google Shape;991;p34"/>
          <p:cNvSpPr/>
          <p:nvPr/>
        </p:nvSpPr>
        <p:spPr>
          <a:xfrm>
            <a:off x="4434840" y="4407408"/>
            <a:ext cx="64008" cy="1097280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92" name="Google Shape;992;p34"/>
          <p:cNvSpPr/>
          <p:nvPr/>
        </p:nvSpPr>
        <p:spPr>
          <a:xfrm>
            <a:off x="4636008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2 · 정규화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3" name="Google Shape;993;p34"/>
          <p:cNvSpPr/>
          <p:nvPr/>
        </p:nvSpPr>
        <p:spPr>
          <a:xfrm>
            <a:off x="4636008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호텔·날짜·평점·원문 기준 중복 검사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4" name="Google Shape;994;p34"/>
          <p:cNvSpPr/>
          <p:nvPr/>
        </p:nvSpPr>
        <p:spPr>
          <a:xfrm>
            <a:off x="8083296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95" name="Google Shape;995;p34"/>
          <p:cNvSpPr/>
          <p:nvPr/>
        </p:nvSpPr>
        <p:spPr>
          <a:xfrm>
            <a:off x="8083296" y="4407408"/>
            <a:ext cx="64008" cy="1097280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996" name="Google Shape;996;p34"/>
          <p:cNvSpPr/>
          <p:nvPr/>
        </p:nvSpPr>
        <p:spPr>
          <a:xfrm>
            <a:off x="8284464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3 · 재현성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7" name="Google Shape;997;p34"/>
          <p:cNvSpPr/>
          <p:nvPr/>
        </p:nvSpPr>
        <p:spPr>
          <a:xfrm>
            <a:off x="8284464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제외 사유와 원본행 ID를 함께 저장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8" name="Google Shape;998;p34"/>
          <p:cNvSpPr/>
          <p:nvPr/>
        </p:nvSpPr>
        <p:spPr>
          <a:xfrm>
            <a:off x="1033272" y="5925312"/>
            <a:ext cx="10113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수치는 원자료 총량이 아니라 사전 정의된 제외 규칙을 통과한 분석 모집단이다.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5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5" name="Google Shape;1005;p35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6" name="Google Shape;1006;p35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최근기간 표본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07" name="Google Shape;1007;p35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8" name="Google Shape;1008;p35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9" name="Google Shape;1009;p35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0" name="Google Shape;1010;p35"/>
          <p:cNvSpPr/>
          <p:nvPr/>
        </p:nvSpPr>
        <p:spPr>
          <a:xfrm>
            <a:off x="640080" y="1691640"/>
            <a:ext cx="10881360" cy="658368"/>
          </a:xfrm>
          <a:prstGeom prst="chevron">
            <a:avLst>
              <a:gd fmla="val 50000" name="adj"/>
            </a:avLst>
          </a:prstGeom>
          <a:solidFill>
            <a:srgbClr val="DDE9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11" name="Google Shape;1011;p35"/>
          <p:cNvSpPr/>
          <p:nvPr/>
        </p:nvSpPr>
        <p:spPr>
          <a:xfrm>
            <a:off x="960120" y="1801368"/>
            <a:ext cx="576712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700"/>
              <a:buFont typeface="Malgun Gothic"/>
              <a:buNone/>
            </a:pPr>
            <a:r>
              <a:rPr b="1" i="0" lang="en-US" sz="1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2,643 최근 후보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2" name="Google Shape;1012;p35"/>
          <p:cNvSpPr/>
          <p:nvPr/>
        </p:nvSpPr>
        <p:spPr>
          <a:xfrm>
            <a:off x="6842455" y="1801368"/>
            <a:ext cx="38084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2023–2025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3" name="Google Shape;1013;p35"/>
          <p:cNvSpPr/>
          <p:nvPr/>
        </p:nvSpPr>
        <p:spPr>
          <a:xfrm>
            <a:off x="1325880" y="2487168"/>
            <a:ext cx="9509760" cy="658368"/>
          </a:xfrm>
          <a:prstGeom prst="chevron">
            <a:avLst>
              <a:gd fmla="val 50000" name="adj"/>
            </a:avLst>
          </a:prstGeom>
          <a:solidFill>
            <a:srgbClr val="CBEDE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14" name="Google Shape;1014;p35"/>
          <p:cNvSpPr/>
          <p:nvPr/>
        </p:nvSpPr>
        <p:spPr>
          <a:xfrm>
            <a:off x="1645920" y="2596896"/>
            <a:ext cx="504017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50"/>
              <a:buFont typeface="Malgun Gothic"/>
              <a:buNone/>
            </a:pPr>
            <a:r>
              <a:rPr b="1" i="0" lang="en-US" sz="16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2,501 후보</a:t>
            </a:r>
            <a:endParaRPr b="0" i="0" sz="16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5" name="Google Shape;1015;p35"/>
          <p:cNvSpPr/>
          <p:nvPr/>
        </p:nvSpPr>
        <p:spPr>
          <a:xfrm>
            <a:off x="6746443" y="2596896"/>
            <a:ext cx="3328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1,000 제외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6" name="Google Shape;1016;p35"/>
          <p:cNvSpPr/>
          <p:nvPr/>
        </p:nvSpPr>
        <p:spPr>
          <a:xfrm>
            <a:off x="2148840" y="3282696"/>
            <a:ext cx="7863840" cy="658368"/>
          </a:xfrm>
          <a:prstGeom prst="chevron">
            <a:avLst>
              <a:gd fmla="val 50000" name="adj"/>
            </a:avLst>
          </a:prstGeom>
          <a:solidFill>
            <a:srgbClr val="DDD8F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17" name="Google Shape;1017;p35"/>
          <p:cNvSpPr/>
          <p:nvPr/>
        </p:nvSpPr>
        <p:spPr>
          <a:xfrm>
            <a:off x="2468880" y="3392424"/>
            <a:ext cx="4167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1,000 주 표본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8" name="Google Shape;1018;p35"/>
          <p:cNvSpPr/>
          <p:nvPr/>
        </p:nvSpPr>
        <p:spPr>
          <a:xfrm>
            <a:off x="6631229" y="3392424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102개 호텔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9" name="Google Shape;1019;p35"/>
          <p:cNvSpPr/>
          <p:nvPr/>
        </p:nvSpPr>
        <p:spPr>
          <a:xfrm>
            <a:off x="2971800" y="4078224"/>
            <a:ext cx="6217920" cy="658368"/>
          </a:xfrm>
          <a:prstGeom prst="chevron">
            <a:avLst>
              <a:gd fmla="val 50000" name="adj"/>
            </a:avLst>
          </a:prstGeom>
          <a:solidFill>
            <a:srgbClr val="FBE6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20" name="Google Shape;1020;p35"/>
          <p:cNvSpPr/>
          <p:nvPr/>
        </p:nvSpPr>
        <p:spPr>
          <a:xfrm>
            <a:off x="3291840" y="4187952"/>
            <a:ext cx="329549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50"/>
              <a:buFont typeface="Malgun Gothic"/>
              <a:buNone/>
            </a:pPr>
            <a:r>
              <a:rPr b="1" i="0" lang="en-US" sz="15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300 균형 표본</a:t>
            </a:r>
            <a:endParaRPr b="0" i="0" sz="15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1" name="Google Shape;1021;p35"/>
          <p:cNvSpPr/>
          <p:nvPr/>
        </p:nvSpPr>
        <p:spPr>
          <a:xfrm>
            <a:off x="6516014" y="4187952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10개 호텔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2" name="Google Shape;1022;p35"/>
          <p:cNvSpPr/>
          <p:nvPr/>
        </p:nvSpPr>
        <p:spPr>
          <a:xfrm>
            <a:off x="3794760" y="4873752"/>
            <a:ext cx="4572000" cy="658368"/>
          </a:xfrm>
          <a:prstGeom prst="chevron">
            <a:avLst>
              <a:gd fmla="val 50000" name="adj"/>
            </a:avLst>
          </a:prstGeom>
          <a:solidFill>
            <a:srgbClr val="CDEBD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23" name="Google Shape;1023;p35"/>
          <p:cNvSpPr/>
          <p:nvPr/>
        </p:nvSpPr>
        <p:spPr>
          <a:xfrm>
            <a:off x="4114800" y="498348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500"/>
              <a:buFont typeface="Malgun Gothic"/>
              <a:buNone/>
            </a:pPr>
            <a:r>
              <a:rPr b="1" i="0" lang="en-US" sz="15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0 중복</a:t>
            </a:r>
            <a:endParaRPr b="0" i="0" sz="1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6400800" y="49834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Gold·기존·패널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5" name="Google Shape;1025;p35"/>
          <p:cNvSpPr/>
          <p:nvPr/>
        </p:nvSpPr>
        <p:spPr>
          <a:xfrm>
            <a:off x="987552" y="5870448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300"/>
              <a:buFont typeface="Malgun Gothic"/>
              <a:buNone/>
            </a:pPr>
            <a:r>
              <a:rPr b="1" i="0" lang="en-US" sz="13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표본은 현재성을, 호텔 균형 표본은 특정 대형 호텔 편중을 별도로 점검한다.</a:t>
            </a:r>
            <a:endParaRPr b="0" i="0" sz="13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6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2" name="Google Shape;1032;p36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3" name="Google Shape;1033;p36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최근표본 대표성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34" name="Google Shape;1034;p36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5" name="Google Shape;1035;p36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6" name="Google Shape;1036;p36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7" name="Google Shape;1037;p36"/>
          <p:cNvSpPr/>
          <p:nvPr/>
        </p:nvSpPr>
        <p:spPr>
          <a:xfrm>
            <a:off x="56692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38" name="Google Shape;1038;p36"/>
          <p:cNvSpPr/>
          <p:nvPr/>
        </p:nvSpPr>
        <p:spPr>
          <a:xfrm>
            <a:off x="70408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1,000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9" name="Google Shape;1039;p36"/>
          <p:cNvSpPr/>
          <p:nvPr/>
        </p:nvSpPr>
        <p:spPr>
          <a:xfrm>
            <a:off x="70408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주 표본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0" name="Google Shape;1040;p36"/>
          <p:cNvSpPr/>
          <p:nvPr/>
        </p:nvSpPr>
        <p:spPr>
          <a:xfrm>
            <a:off x="70408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2023–2025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1" name="Google Shape;1041;p36"/>
          <p:cNvSpPr/>
          <p:nvPr/>
        </p:nvSpPr>
        <p:spPr>
          <a:xfrm>
            <a:off x="276148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42" name="Google Shape;1042;p36"/>
          <p:cNvSpPr/>
          <p:nvPr/>
        </p:nvSpPr>
        <p:spPr>
          <a:xfrm>
            <a:off x="289864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102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3" name="Google Shape;1043;p36"/>
          <p:cNvSpPr/>
          <p:nvPr/>
        </p:nvSpPr>
        <p:spPr>
          <a:xfrm>
            <a:off x="289864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4" name="Google Shape;1044;p36"/>
          <p:cNvSpPr/>
          <p:nvPr/>
        </p:nvSpPr>
        <p:spPr>
          <a:xfrm>
            <a:off x="289864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분포 유지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495604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46" name="Google Shape;1046;p36"/>
          <p:cNvSpPr/>
          <p:nvPr/>
        </p:nvSpPr>
        <p:spPr>
          <a:xfrm>
            <a:off x="509320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0.00069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7" name="Google Shape;1047;p36"/>
          <p:cNvSpPr/>
          <p:nvPr/>
        </p:nvSpPr>
        <p:spPr>
          <a:xfrm>
            <a:off x="509320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Rating TVD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8" name="Google Shape;1048;p36"/>
          <p:cNvSpPr/>
          <p:nvPr/>
        </p:nvSpPr>
        <p:spPr>
          <a:xfrm>
            <a:off x="509320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거의 동일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9" name="Google Shape;1049;p36"/>
          <p:cNvSpPr/>
          <p:nvPr/>
        </p:nvSpPr>
        <p:spPr>
          <a:xfrm>
            <a:off x="715060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0" name="Google Shape;1050;p36"/>
          <p:cNvSpPr/>
          <p:nvPr/>
        </p:nvSpPr>
        <p:spPr>
          <a:xfrm>
            <a:off x="728776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0.01147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1" name="Google Shape;1051;p36"/>
          <p:cNvSpPr/>
          <p:nvPr/>
        </p:nvSpPr>
        <p:spPr>
          <a:xfrm>
            <a:off x="728776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Year TVD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2" name="Google Shape;1052;p36"/>
          <p:cNvSpPr/>
          <p:nvPr/>
        </p:nvSpPr>
        <p:spPr>
          <a:xfrm>
            <a:off x="728776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낮은 차이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3" name="Google Shape;1053;p36"/>
          <p:cNvSpPr/>
          <p:nvPr/>
        </p:nvSpPr>
        <p:spPr>
          <a:xfrm>
            <a:off x="9345168" y="1664208"/>
            <a:ext cx="1993392" cy="1536192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4" name="Google Shape;1054;p36"/>
          <p:cNvSpPr/>
          <p:nvPr/>
        </p:nvSpPr>
        <p:spPr>
          <a:xfrm>
            <a:off x="9482328" y="1828800"/>
            <a:ext cx="17190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0.06618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5" name="Google Shape;1055;p36"/>
          <p:cNvSpPr/>
          <p:nvPr/>
        </p:nvSpPr>
        <p:spPr>
          <a:xfrm>
            <a:off x="9482328" y="2322576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Hotel TVD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6" name="Google Shape;1056;p36"/>
          <p:cNvSpPr/>
          <p:nvPr/>
        </p:nvSpPr>
        <p:spPr>
          <a:xfrm>
            <a:off x="9482328" y="2651760"/>
            <a:ext cx="17190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 가능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7" name="Google Shape;1057;p36"/>
          <p:cNvSpPr/>
          <p:nvPr/>
        </p:nvSpPr>
        <p:spPr>
          <a:xfrm>
            <a:off x="566928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8" name="Google Shape;1058;p36"/>
          <p:cNvSpPr/>
          <p:nvPr/>
        </p:nvSpPr>
        <p:spPr>
          <a:xfrm>
            <a:off x="566928" y="3584448"/>
            <a:ext cx="64008" cy="1417320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59" name="Google Shape;1059;p36"/>
          <p:cNvSpPr/>
          <p:nvPr/>
        </p:nvSpPr>
        <p:spPr>
          <a:xfrm>
            <a:off x="768096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중복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0" name="Google Shape;1060;p36"/>
          <p:cNvSpPr/>
          <p:nvPr/>
        </p:nvSpPr>
        <p:spPr>
          <a:xfrm>
            <a:off x="768096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0건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1" name="Google Shape;1061;p36"/>
          <p:cNvSpPr/>
          <p:nvPr/>
        </p:nvSpPr>
        <p:spPr>
          <a:xfrm>
            <a:off x="4242816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2" name="Google Shape;1062;p36"/>
          <p:cNvSpPr/>
          <p:nvPr/>
        </p:nvSpPr>
        <p:spPr>
          <a:xfrm>
            <a:off x="4242816" y="3584448"/>
            <a:ext cx="64008" cy="1417320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3" name="Google Shape;1063;p36"/>
          <p:cNvSpPr/>
          <p:nvPr/>
        </p:nvSpPr>
        <p:spPr>
          <a:xfrm>
            <a:off x="4443984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1,000 중복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4" name="Google Shape;1064;p36"/>
          <p:cNvSpPr/>
          <p:nvPr/>
        </p:nvSpPr>
        <p:spPr>
          <a:xfrm>
            <a:off x="4443984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0건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5" name="Google Shape;1065;p36"/>
          <p:cNvSpPr/>
          <p:nvPr/>
        </p:nvSpPr>
        <p:spPr>
          <a:xfrm>
            <a:off x="7918704" y="3584448"/>
            <a:ext cx="340156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6" name="Google Shape;1066;p36"/>
          <p:cNvSpPr/>
          <p:nvPr/>
        </p:nvSpPr>
        <p:spPr>
          <a:xfrm>
            <a:off x="7918704" y="3584448"/>
            <a:ext cx="64008" cy="1417320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67" name="Google Shape;1067;p36"/>
          <p:cNvSpPr/>
          <p:nvPr/>
        </p:nvSpPr>
        <p:spPr>
          <a:xfrm>
            <a:off x="8119872" y="3712464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균형 패널 중복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8" name="Google Shape;1068;p36"/>
          <p:cNvSpPr/>
          <p:nvPr/>
        </p:nvSpPr>
        <p:spPr>
          <a:xfrm>
            <a:off x="8119872" y="4087368"/>
            <a:ext cx="3035808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0건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37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5" name="Google Shape;1075;p37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6" name="Google Shape;1076;p37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최근기간인가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77" name="Google Shape;1077;p37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8" name="Google Shape;1078;p37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9" name="Google Shape;1079;p37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0" name="Google Shape;1080;p37"/>
          <p:cNvSpPr/>
          <p:nvPr/>
        </p:nvSpPr>
        <p:spPr>
          <a:xfrm>
            <a:off x="566928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EAF7F1"/>
          </a:solidFill>
          <a:ln cap="flat" cmpd="sng" w="152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81" name="Google Shape;1081;p37"/>
          <p:cNvSpPr/>
          <p:nvPr/>
        </p:nvSpPr>
        <p:spPr>
          <a:xfrm>
            <a:off x="877824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82" name="Google Shape;1082;p37"/>
          <p:cNvSpPr/>
          <p:nvPr/>
        </p:nvSpPr>
        <p:spPr>
          <a:xfrm>
            <a:off x="950976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확인된 변화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3" name="Google Shape;1083;p37"/>
          <p:cNvSpPr/>
          <p:nvPr/>
        </p:nvSpPr>
        <p:spPr>
          <a:xfrm>
            <a:off x="896112" y="2487168"/>
            <a:ext cx="4526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평균 3.677 → 최근 4.144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5점 비중 58.4%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평점 분포가 과거와 이동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현재성 검증이 필요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4" name="Google Shape;1084;p37"/>
          <p:cNvSpPr/>
          <p:nvPr/>
        </p:nvSpPr>
        <p:spPr>
          <a:xfrm>
            <a:off x="6355080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FCECE9"/>
          </a:solidFill>
          <a:ln cap="flat" cmpd="sng" w="15225">
            <a:solidFill>
              <a:srgbClr val="F3C2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85" name="Google Shape;1085;p37"/>
          <p:cNvSpPr/>
          <p:nvPr/>
        </p:nvSpPr>
        <p:spPr>
          <a:xfrm>
            <a:off x="6665976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086" name="Google Shape;1086;p37"/>
          <p:cNvSpPr/>
          <p:nvPr/>
        </p:nvSpPr>
        <p:spPr>
          <a:xfrm>
            <a:off x="6739128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아직 모르는 원인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7" name="Google Shape;1087;p37"/>
          <p:cNvSpPr/>
          <p:nvPr/>
        </p:nvSpPr>
        <p:spPr>
          <a:xfrm>
            <a:off x="6684264" y="2487168"/>
            <a:ext cx="4526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서비스 개선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구성 변화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 이용행태 변화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 선택 편향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8" name="Google Shape;1088;p37"/>
          <p:cNvSpPr/>
          <p:nvPr/>
        </p:nvSpPr>
        <p:spPr>
          <a:xfrm>
            <a:off x="960120" y="6126480"/>
            <a:ext cx="10287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350"/>
              <a:buFont typeface="Malgun Gothic"/>
              <a:buNone/>
            </a:pPr>
            <a:r>
              <a:rPr b="1" i="0" lang="en-US" sz="13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최근표본은 “현재 성과”를 확인하지만 변화의 인과 원인까지 설명하지는 않는다.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8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5" name="Google Shape;1095;p38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6" name="Google Shape;1096;p38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순서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97" name="Google Shape;1097;p38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8" name="Google Shape;1098;p38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9" name="Google Shape;1099;p38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0" name="Google Shape;1100;p38"/>
          <p:cNvSpPr/>
          <p:nvPr/>
        </p:nvSpPr>
        <p:spPr>
          <a:xfrm>
            <a:off x="566928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AF1FF"/>
          </a:solidFill>
          <a:ln cap="flat" cmpd="sng" w="1395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01" name="Google Shape;1101;p38"/>
          <p:cNvSpPr/>
          <p:nvPr/>
        </p:nvSpPr>
        <p:spPr>
          <a:xfrm>
            <a:off x="731520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2" name="Google Shape;1102;p38"/>
          <p:cNvSpPr/>
          <p:nvPr/>
        </p:nvSpPr>
        <p:spPr>
          <a:xfrm>
            <a:off x="1225296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모집단 확정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3" name="Google Shape;1103;p38"/>
          <p:cNvSpPr/>
          <p:nvPr/>
        </p:nvSpPr>
        <p:spPr>
          <a:xfrm>
            <a:off x="1225296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19,561건 ID·제외표 생성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4" name="Google Shape;1104;p38"/>
          <p:cNvSpPr/>
          <p:nvPr/>
        </p:nvSpPr>
        <p:spPr>
          <a:xfrm>
            <a:off x="4389120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7F7F7"/>
          </a:solidFill>
          <a:ln cap="flat" cmpd="sng" w="1395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05" name="Google Shape;1105;p38"/>
          <p:cNvSpPr/>
          <p:nvPr/>
        </p:nvSpPr>
        <p:spPr>
          <a:xfrm>
            <a:off x="4553712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6" name="Google Shape;1106;p38"/>
          <p:cNvSpPr/>
          <p:nvPr/>
        </p:nvSpPr>
        <p:spPr>
          <a:xfrm>
            <a:off x="5047488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1,000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7" name="Google Shape;1107;p38"/>
          <p:cNvSpPr/>
          <p:nvPr/>
        </p:nvSpPr>
        <p:spPr>
          <a:xfrm>
            <a:off x="5047488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A1–A4 전체 실행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8" name="Google Shape;1108;p38"/>
          <p:cNvSpPr/>
          <p:nvPr/>
        </p:nvSpPr>
        <p:spPr>
          <a:xfrm>
            <a:off x="8211312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CECE9"/>
          </a:solidFill>
          <a:ln cap="flat" cmpd="sng" w="1395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09" name="Google Shape;1109;p38"/>
          <p:cNvSpPr/>
          <p:nvPr/>
        </p:nvSpPr>
        <p:spPr>
          <a:xfrm>
            <a:off x="8375904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0" name="Google Shape;1110;p38"/>
          <p:cNvSpPr/>
          <p:nvPr/>
        </p:nvSpPr>
        <p:spPr>
          <a:xfrm>
            <a:off x="8869680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호텔 300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1" name="Google Shape;1111;p38"/>
          <p:cNvSpPr/>
          <p:nvPr/>
        </p:nvSpPr>
        <p:spPr>
          <a:xfrm>
            <a:off x="8869680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균형 패널 민감도 분석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2" name="Google Shape;1112;p38"/>
          <p:cNvSpPr/>
          <p:nvPr/>
        </p:nvSpPr>
        <p:spPr>
          <a:xfrm>
            <a:off x="566928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0EDFA"/>
          </a:solidFill>
          <a:ln cap="flat" cmpd="sng" w="1395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13" name="Google Shape;1113;p38"/>
          <p:cNvSpPr/>
          <p:nvPr/>
        </p:nvSpPr>
        <p:spPr>
          <a:xfrm>
            <a:off x="731520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4" name="Google Shape;1114;p38"/>
          <p:cNvSpPr/>
          <p:nvPr/>
        </p:nvSpPr>
        <p:spPr>
          <a:xfrm>
            <a:off x="1225296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Gold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5" name="Google Shape;1115;p38"/>
          <p:cNvSpPr/>
          <p:nvPr/>
        </p:nvSpPr>
        <p:spPr>
          <a:xfrm>
            <a:off x="1225296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이중코딩 평가표 생성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6" name="Google Shape;1116;p38"/>
          <p:cNvSpPr/>
          <p:nvPr/>
        </p:nvSpPr>
        <p:spPr>
          <a:xfrm>
            <a:off x="4389120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FF7DF"/>
          </a:solidFill>
          <a:ln cap="flat" cmpd="sng" w="13950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17" name="Google Shape;1117;p38"/>
          <p:cNvSpPr/>
          <p:nvPr/>
        </p:nvSpPr>
        <p:spPr>
          <a:xfrm>
            <a:off x="4553712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8" name="Google Shape;1118;p38"/>
          <p:cNvSpPr/>
          <p:nvPr/>
        </p:nvSpPr>
        <p:spPr>
          <a:xfrm>
            <a:off x="5047488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안정성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9" name="Google Shape;1119;p38"/>
          <p:cNvSpPr/>
          <p:nvPr/>
        </p:nvSpPr>
        <p:spPr>
          <a:xfrm>
            <a:off x="5047488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우선순위·Q2 재현 확인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0" name="Google Shape;1120;p38"/>
          <p:cNvSpPr/>
          <p:nvPr/>
        </p:nvSpPr>
        <p:spPr>
          <a:xfrm>
            <a:off x="8211312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AF7F1"/>
          </a:solidFill>
          <a:ln cap="flat" cmpd="sng" w="1395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21" name="Google Shape;1121;p38"/>
          <p:cNvSpPr/>
          <p:nvPr/>
        </p:nvSpPr>
        <p:spPr>
          <a:xfrm>
            <a:off x="8375904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2" name="Google Shape;1122;p38"/>
          <p:cNvSpPr/>
          <p:nvPr/>
        </p:nvSpPr>
        <p:spPr>
          <a:xfrm>
            <a:off x="8869680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확장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3" name="Google Shape;1123;p38"/>
          <p:cNvSpPr/>
          <p:nvPr/>
        </p:nvSpPr>
        <p:spPr>
          <a:xfrm>
            <a:off x="8869680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통과 후 19,561건 실행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4" name="Google Shape;1124;p38"/>
          <p:cNvSpPr/>
          <p:nvPr/>
        </p:nvSpPr>
        <p:spPr>
          <a:xfrm>
            <a:off x="932688" y="5596128"/>
            <a:ext cx="4882896" cy="658368"/>
          </a:xfrm>
          <a:prstGeom prst="roundRect">
            <a:avLst>
              <a:gd fmla="val 8333" name="adj"/>
            </a:avLst>
          </a:prstGeom>
          <a:solidFill>
            <a:srgbClr val="EAF1FF"/>
          </a:solidFill>
          <a:ln cap="flat" cmpd="sng" w="11425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25" name="Google Shape;1125;p38"/>
          <p:cNvSpPr/>
          <p:nvPr/>
        </p:nvSpPr>
        <p:spPr>
          <a:xfrm>
            <a:off x="1115568" y="5751576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게이트 · 최근 Gold에서 정확도와 우선순위 보존을 먼저 확인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6" name="Google Shape;1126;p38"/>
          <p:cNvSpPr/>
          <p:nvPr/>
        </p:nvSpPr>
        <p:spPr>
          <a:xfrm>
            <a:off x="6364224" y="5596128"/>
            <a:ext cx="4882896" cy="658368"/>
          </a:xfrm>
          <a:prstGeom prst="roundRect">
            <a:avLst>
              <a:gd fmla="val 8333" name="adj"/>
            </a:avLst>
          </a:prstGeom>
          <a:solidFill>
            <a:srgbClr val="EAF7F1"/>
          </a:solidFill>
          <a:ln cap="flat" cmpd="sng" w="11425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27" name="Google Shape;1127;p38"/>
          <p:cNvSpPr/>
          <p:nvPr/>
        </p:nvSpPr>
        <p:spPr>
          <a:xfrm>
            <a:off x="6547104" y="5751576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· 게이트 통과 후 전체 모집단 실행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3B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3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34" name="Google Shape;1134;p39"/>
          <p:cNvSpPr/>
          <p:nvPr/>
        </p:nvSpPr>
        <p:spPr>
          <a:xfrm rot="1500000">
            <a:off x="7772400" y="-1097280"/>
            <a:ext cx="5212080" cy="52120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77DFF">
              <a:alpha val="52157"/>
            </a:srgbClr>
          </a:solidFill>
          <a:ln cap="flat" cmpd="sng" w="12700">
            <a:solidFill>
              <a:srgbClr val="377D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35" name="Google Shape;1135;p39"/>
          <p:cNvSpPr/>
          <p:nvPr/>
        </p:nvSpPr>
        <p:spPr>
          <a:xfrm rot="-9000000">
            <a:off x="8778240" y="338328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0A7B5">
              <a:alpha val="38039"/>
            </a:srgbClr>
          </a:solidFill>
          <a:ln cap="flat" cmpd="sng" w="12700">
            <a:solidFill>
              <a:srgbClr val="00A7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36" name="Google Shape;1136;p39"/>
          <p:cNvSpPr/>
          <p:nvPr/>
        </p:nvSpPr>
        <p:spPr>
          <a:xfrm>
            <a:off x="713232" y="658368"/>
            <a:ext cx="2450592" cy="329184"/>
          </a:xfrm>
          <a:prstGeom prst="roundRect">
            <a:avLst>
              <a:gd fmla="val 44444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37" name="Google Shape;1137;p39"/>
          <p:cNvSpPr/>
          <p:nvPr/>
        </p:nvSpPr>
        <p:spPr>
          <a:xfrm>
            <a:off x="786384" y="68580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 실험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8" name="Google Shape;1138;p39"/>
          <p:cNvSpPr/>
          <p:nvPr/>
        </p:nvSpPr>
        <p:spPr>
          <a:xfrm>
            <a:off x="713232" y="1325880"/>
            <a:ext cx="81381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1" i="0" lang="en-US" sz="40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vs 멀티</a:t>
            </a:r>
            <a:endParaRPr b="0" i="0" sz="4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9" name="Google Shape;1139;p39"/>
          <p:cNvSpPr/>
          <p:nvPr/>
        </p:nvSpPr>
        <p:spPr>
          <a:xfrm>
            <a:off x="731520" y="239572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700"/>
              <a:buFont typeface="Malgun Gothic"/>
              <a:buNone/>
            </a:pPr>
            <a:r>
              <a:rPr b="0" i="0" lang="en-US" sz="1700" u="none" cap="none">
                <a:solidFill>
                  <a:srgbClr val="DCE6F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모델로 구조만 비교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0" name="Google Shape;1140;p39"/>
          <p:cNvSpPr/>
          <p:nvPr/>
        </p:nvSpPr>
        <p:spPr>
          <a:xfrm>
            <a:off x="731520" y="3950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질문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1" name="Google Shape;1141;p39"/>
          <p:cNvSpPr/>
          <p:nvPr/>
        </p:nvSpPr>
        <p:spPr>
          <a:xfrm>
            <a:off x="731520" y="4334256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Agentic AI가 실제로 필요한가?</a:t>
            </a:r>
            <a:endParaRPr b="0" i="0" sz="2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2" name="Google Shape;1142;p39"/>
          <p:cNvSpPr/>
          <p:nvPr/>
        </p:nvSpPr>
        <p:spPr>
          <a:xfrm>
            <a:off x="731520" y="61081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1050"/>
              <a:buFont typeface="Malgun Gothic"/>
              <a:buNone/>
            </a:pPr>
            <a:r>
              <a:t/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3" name="Google Shape;1143;p39"/>
          <p:cNvSpPr/>
          <p:nvPr/>
        </p:nvSpPr>
        <p:spPr>
          <a:xfrm>
            <a:off x="10698480" y="610819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900"/>
              <a:buFont typeface="Malgun Gothic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0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0" name="Google Shape;1150;p40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1" name="Google Shape;1151;p40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 조건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52" name="Google Shape;1152;p40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3" name="Google Shape;1153;p40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4" name="Google Shape;1154;p40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5" name="Google Shape;1155;p40"/>
          <p:cNvSpPr/>
          <p:nvPr/>
        </p:nvSpPr>
        <p:spPr>
          <a:xfrm>
            <a:off x="530352" y="1572768"/>
            <a:ext cx="1600200" cy="530352"/>
          </a:xfrm>
          <a:prstGeom prst="rect">
            <a:avLst/>
          </a:prstGeom>
          <a:solidFill>
            <a:srgbClr val="1725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56" name="Google Shape;1156;p40"/>
          <p:cNvSpPr/>
          <p:nvPr/>
        </p:nvSpPr>
        <p:spPr>
          <a:xfrm>
            <a:off x="640080" y="1700784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7" name="Google Shape;1157;p40"/>
          <p:cNvSpPr/>
          <p:nvPr/>
        </p:nvSpPr>
        <p:spPr>
          <a:xfrm>
            <a:off x="2240280" y="1572768"/>
            <a:ext cx="2377440" cy="530352"/>
          </a:xfrm>
          <a:prstGeom prst="rect">
            <a:avLst/>
          </a:prstGeom>
          <a:solidFill>
            <a:srgbClr val="1725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58" name="Google Shape;1158;p40"/>
          <p:cNvSpPr/>
          <p:nvPr/>
        </p:nvSpPr>
        <p:spPr>
          <a:xfrm>
            <a:off x="2350008" y="1700784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LLM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9" name="Google Shape;1159;p40"/>
          <p:cNvSpPr/>
          <p:nvPr/>
        </p:nvSpPr>
        <p:spPr>
          <a:xfrm>
            <a:off x="4736592" y="1572768"/>
            <a:ext cx="3456432" cy="530352"/>
          </a:xfrm>
          <a:prstGeom prst="rect">
            <a:avLst/>
          </a:prstGeom>
          <a:solidFill>
            <a:srgbClr val="1725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0" name="Google Shape;1160;p40"/>
          <p:cNvSpPr/>
          <p:nvPr/>
        </p:nvSpPr>
        <p:spPr>
          <a:xfrm>
            <a:off x="4846320" y="1700784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1" name="Google Shape;1161;p40"/>
          <p:cNvSpPr/>
          <p:nvPr/>
        </p:nvSpPr>
        <p:spPr>
          <a:xfrm>
            <a:off x="8321040" y="1572768"/>
            <a:ext cx="3328416" cy="530352"/>
          </a:xfrm>
          <a:prstGeom prst="rect">
            <a:avLst/>
          </a:prstGeom>
          <a:solidFill>
            <a:srgbClr val="1725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2" name="Google Shape;1162;p40"/>
          <p:cNvSpPr/>
          <p:nvPr/>
        </p:nvSpPr>
        <p:spPr>
          <a:xfrm>
            <a:off x="8430768" y="170078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통제 목적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3" name="Google Shape;1163;p40"/>
          <p:cNvSpPr/>
          <p:nvPr/>
        </p:nvSpPr>
        <p:spPr>
          <a:xfrm>
            <a:off x="530352" y="2103120"/>
            <a:ext cx="1600200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4" name="Google Shape;1164;p40"/>
          <p:cNvSpPr/>
          <p:nvPr/>
        </p:nvSpPr>
        <p:spPr>
          <a:xfrm>
            <a:off x="621792" y="2194560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5" name="Google Shape;1165;p40"/>
          <p:cNvSpPr/>
          <p:nvPr/>
        </p:nvSpPr>
        <p:spPr>
          <a:xfrm>
            <a:off x="2240280" y="2103120"/>
            <a:ext cx="2377440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6" name="Google Shape;1166;p40"/>
          <p:cNvSpPr/>
          <p:nvPr/>
        </p:nvSpPr>
        <p:spPr>
          <a:xfrm>
            <a:off x="2331720" y="219456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gpt-5.4-nano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7" name="Google Shape;1167;p40"/>
          <p:cNvSpPr/>
          <p:nvPr/>
        </p:nvSpPr>
        <p:spPr>
          <a:xfrm>
            <a:off x="4736592" y="2103120"/>
            <a:ext cx="3456432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68" name="Google Shape;1168;p40"/>
          <p:cNvSpPr/>
          <p:nvPr/>
        </p:nvSpPr>
        <p:spPr>
          <a:xfrm>
            <a:off x="4828032" y="2194560"/>
            <a:ext cx="32735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gpt-5.4-nano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9" name="Google Shape;1169;p40"/>
          <p:cNvSpPr/>
          <p:nvPr/>
        </p:nvSpPr>
        <p:spPr>
          <a:xfrm>
            <a:off x="8321040" y="2103120"/>
            <a:ext cx="3328416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0" name="Google Shape;1170;p40"/>
          <p:cNvSpPr/>
          <p:nvPr/>
        </p:nvSpPr>
        <p:spPr>
          <a:xfrm>
            <a:off x="8412480" y="2194560"/>
            <a:ext cx="31455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효과 제거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1" name="Google Shape;1171;p40"/>
          <p:cNvSpPr/>
          <p:nvPr/>
        </p:nvSpPr>
        <p:spPr>
          <a:xfrm>
            <a:off x="530352" y="2816352"/>
            <a:ext cx="16002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2" name="Google Shape;1172;p40"/>
          <p:cNvSpPr/>
          <p:nvPr/>
        </p:nvSpPr>
        <p:spPr>
          <a:xfrm>
            <a:off x="621792" y="2907792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3" name="Google Shape;1173;p40"/>
          <p:cNvSpPr/>
          <p:nvPr/>
        </p:nvSpPr>
        <p:spPr>
          <a:xfrm>
            <a:off x="2240280" y="2816352"/>
            <a:ext cx="23774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4" name="Google Shape;1174;p40"/>
          <p:cNvSpPr/>
          <p:nvPr/>
        </p:nvSpPr>
        <p:spPr>
          <a:xfrm>
            <a:off x="2331720" y="2907792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199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5" name="Google Shape;1175;p40"/>
          <p:cNvSpPr/>
          <p:nvPr/>
        </p:nvSpPr>
        <p:spPr>
          <a:xfrm>
            <a:off x="4736592" y="2816352"/>
            <a:ext cx="3456432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6" name="Google Shape;1176;p40"/>
          <p:cNvSpPr/>
          <p:nvPr/>
        </p:nvSpPr>
        <p:spPr>
          <a:xfrm>
            <a:off x="4828032" y="2907792"/>
            <a:ext cx="32735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199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7" name="Google Shape;1177;p40"/>
          <p:cNvSpPr/>
          <p:nvPr/>
        </p:nvSpPr>
        <p:spPr>
          <a:xfrm>
            <a:off x="8321040" y="2816352"/>
            <a:ext cx="3328416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78" name="Google Shape;1178;p40"/>
          <p:cNvSpPr/>
          <p:nvPr/>
        </p:nvSpPr>
        <p:spPr>
          <a:xfrm>
            <a:off x="8412480" y="2907792"/>
            <a:ext cx="31455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정답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9" name="Google Shape;1179;p40"/>
          <p:cNvSpPr/>
          <p:nvPr/>
        </p:nvSpPr>
        <p:spPr>
          <a:xfrm>
            <a:off x="530352" y="3529584"/>
            <a:ext cx="1600200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80" name="Google Shape;1180;p40"/>
          <p:cNvSpPr/>
          <p:nvPr/>
        </p:nvSpPr>
        <p:spPr>
          <a:xfrm>
            <a:off x="621792" y="3621024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1" name="Google Shape;1181;p40"/>
          <p:cNvSpPr/>
          <p:nvPr/>
        </p:nvSpPr>
        <p:spPr>
          <a:xfrm>
            <a:off x="2240280" y="3529584"/>
            <a:ext cx="2377440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82" name="Google Shape;1182;p40"/>
          <p:cNvSpPr/>
          <p:nvPr/>
        </p:nvSpPr>
        <p:spPr>
          <a:xfrm>
            <a:off x="2331720" y="3621024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원문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3" name="Google Shape;1183;p40"/>
          <p:cNvSpPr/>
          <p:nvPr/>
        </p:nvSpPr>
        <p:spPr>
          <a:xfrm>
            <a:off x="4736592" y="3529584"/>
            <a:ext cx="3456432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84" name="Google Shape;1184;p40"/>
          <p:cNvSpPr/>
          <p:nvPr/>
        </p:nvSpPr>
        <p:spPr>
          <a:xfrm>
            <a:off x="4828032" y="3621024"/>
            <a:ext cx="32735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 원문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5" name="Google Shape;1185;p40"/>
          <p:cNvSpPr/>
          <p:nvPr/>
        </p:nvSpPr>
        <p:spPr>
          <a:xfrm>
            <a:off x="8321040" y="3529584"/>
            <a:ext cx="3328416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86" name="Google Shape;1186;p40"/>
          <p:cNvSpPr/>
          <p:nvPr/>
        </p:nvSpPr>
        <p:spPr>
          <a:xfrm>
            <a:off x="8412480" y="3621024"/>
            <a:ext cx="31455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정보량 동일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7" name="Google Shape;1187;p40"/>
          <p:cNvSpPr/>
          <p:nvPr/>
        </p:nvSpPr>
        <p:spPr>
          <a:xfrm>
            <a:off x="530352" y="4242816"/>
            <a:ext cx="16002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88" name="Google Shape;1188;p40"/>
          <p:cNvSpPr/>
          <p:nvPr/>
        </p:nvSpPr>
        <p:spPr>
          <a:xfrm>
            <a:off x="621792" y="4334256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코드북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9" name="Google Shape;1189;p40"/>
          <p:cNvSpPr/>
          <p:nvPr/>
        </p:nvSpPr>
        <p:spPr>
          <a:xfrm>
            <a:off x="2240280" y="4242816"/>
            <a:ext cx="23774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0" name="Google Shape;1190;p40"/>
          <p:cNvSpPr/>
          <p:nvPr/>
        </p:nvSpPr>
        <p:spPr>
          <a:xfrm>
            <a:off x="2331720" y="4334256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Feature·Journey v8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1" name="Google Shape;1191;p40"/>
          <p:cNvSpPr/>
          <p:nvPr/>
        </p:nvSpPr>
        <p:spPr>
          <a:xfrm>
            <a:off x="4736592" y="4242816"/>
            <a:ext cx="3456432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2" name="Google Shape;1192;p40"/>
          <p:cNvSpPr/>
          <p:nvPr/>
        </p:nvSpPr>
        <p:spPr>
          <a:xfrm>
            <a:off x="4828032" y="4334256"/>
            <a:ext cx="32735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v8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3" name="Google Shape;1193;p40"/>
          <p:cNvSpPr/>
          <p:nvPr/>
        </p:nvSpPr>
        <p:spPr>
          <a:xfrm>
            <a:off x="8321040" y="4242816"/>
            <a:ext cx="3328416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4" name="Google Shape;1194;p40"/>
          <p:cNvSpPr/>
          <p:nvPr/>
        </p:nvSpPr>
        <p:spPr>
          <a:xfrm>
            <a:off x="8412480" y="4334256"/>
            <a:ext cx="31455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 동일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5" name="Google Shape;1195;p40"/>
          <p:cNvSpPr/>
          <p:nvPr/>
        </p:nvSpPr>
        <p:spPr>
          <a:xfrm>
            <a:off x="530352" y="4956048"/>
            <a:ext cx="1600200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6" name="Google Shape;1196;p40"/>
          <p:cNvSpPr/>
          <p:nvPr/>
        </p:nvSpPr>
        <p:spPr>
          <a:xfrm>
            <a:off x="621792" y="5047488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가드레일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7" name="Google Shape;1197;p40"/>
          <p:cNvSpPr/>
          <p:nvPr/>
        </p:nvSpPr>
        <p:spPr>
          <a:xfrm>
            <a:off x="2240280" y="4956048"/>
            <a:ext cx="2377440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98" name="Google Shape;1198;p40"/>
          <p:cNvSpPr/>
          <p:nvPr/>
        </p:nvSpPr>
        <p:spPr>
          <a:xfrm>
            <a:off x="2331720" y="5047488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JSON·라벨 검증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9" name="Google Shape;1199;p40"/>
          <p:cNvSpPr/>
          <p:nvPr/>
        </p:nvSpPr>
        <p:spPr>
          <a:xfrm>
            <a:off x="4736592" y="4956048"/>
            <a:ext cx="3456432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00" name="Google Shape;1200;p40"/>
          <p:cNvSpPr/>
          <p:nvPr/>
        </p:nvSpPr>
        <p:spPr>
          <a:xfrm>
            <a:off x="4828032" y="5047488"/>
            <a:ext cx="32735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검증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1" name="Google Shape;1201;p40"/>
          <p:cNvSpPr/>
          <p:nvPr/>
        </p:nvSpPr>
        <p:spPr>
          <a:xfrm>
            <a:off x="8321040" y="4956048"/>
            <a:ext cx="3328416" cy="713232"/>
          </a:xfrm>
          <a:prstGeom prst="rect">
            <a:avLst/>
          </a:prstGeom>
          <a:solidFill>
            <a:srgbClr val="F6F8FB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02" name="Google Shape;1202;p40"/>
          <p:cNvSpPr/>
          <p:nvPr/>
        </p:nvSpPr>
        <p:spPr>
          <a:xfrm>
            <a:off x="8412480" y="5047488"/>
            <a:ext cx="31455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050"/>
              <a:buFont typeface="Malgun Gothic"/>
              <a:buNone/>
            </a:pPr>
            <a:r>
              <a:rPr b="0" i="0" lang="en-US" sz="10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형식 효과 최소화</a:t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3" name="Google Shape;1203;p40"/>
          <p:cNvSpPr/>
          <p:nvPr/>
        </p:nvSpPr>
        <p:spPr>
          <a:xfrm>
            <a:off x="841248" y="5897880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350"/>
              <a:buFont typeface="Malgun Gothic"/>
              <a:buNone/>
            </a:pPr>
            <a:r>
              <a:rPr b="1" i="0" lang="en-US" sz="13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차이는 모델이 아니라 단일 호출과 역할 분리형 에이전트 구조에서 발생한다.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41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0" name="Google Shape;1210;p41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1" name="Google Shape;1211;p41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F1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12" name="Google Shape;1212;p41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3" name="Google Shape;1213;p41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4" name="Google Shape;1214;p41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5" name="Google Shape;1215;p41"/>
          <p:cNvSpPr/>
          <p:nvPr/>
        </p:nvSpPr>
        <p:spPr>
          <a:xfrm>
            <a:off x="694944" y="160934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6" name="Google Shape;1216;p41"/>
          <p:cNvSpPr/>
          <p:nvPr/>
        </p:nvSpPr>
        <p:spPr>
          <a:xfrm>
            <a:off x="694944" y="1975104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7" name="Google Shape;1217;p41"/>
          <p:cNvSpPr/>
          <p:nvPr/>
        </p:nvSpPr>
        <p:spPr>
          <a:xfrm>
            <a:off x="1847088" y="2002536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18" name="Google Shape;1218;p41"/>
          <p:cNvSpPr/>
          <p:nvPr/>
        </p:nvSpPr>
        <p:spPr>
          <a:xfrm>
            <a:off x="1847088" y="2002536"/>
            <a:ext cx="2364913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19" name="Google Shape;1219;p41"/>
          <p:cNvSpPr/>
          <p:nvPr/>
        </p:nvSpPr>
        <p:spPr>
          <a:xfrm>
            <a:off x="5367528" y="1956816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69.9%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0" name="Google Shape;1220;p41"/>
          <p:cNvSpPr/>
          <p:nvPr/>
        </p:nvSpPr>
        <p:spPr>
          <a:xfrm>
            <a:off x="694944" y="2688336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43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Journey Micro</a:t>
            </a:r>
            <a:endParaRPr b="0" i="0" sz="1243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1" name="Google Shape;1221;p41"/>
          <p:cNvSpPr/>
          <p:nvPr/>
        </p:nvSpPr>
        <p:spPr>
          <a:xfrm>
            <a:off x="1847088" y="2715768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2" name="Google Shape;1222;p41"/>
          <p:cNvSpPr/>
          <p:nvPr/>
        </p:nvSpPr>
        <p:spPr>
          <a:xfrm>
            <a:off x="1847088" y="2715768"/>
            <a:ext cx="2896088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3" name="Google Shape;1223;p41"/>
          <p:cNvSpPr/>
          <p:nvPr/>
        </p:nvSpPr>
        <p:spPr>
          <a:xfrm>
            <a:off x="5367528" y="2670048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85.6%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4" name="Google Shape;1224;p41"/>
          <p:cNvSpPr/>
          <p:nvPr/>
        </p:nvSpPr>
        <p:spPr>
          <a:xfrm>
            <a:off x="694944" y="3401568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5" name="Google Shape;1225;p41"/>
          <p:cNvSpPr/>
          <p:nvPr/>
        </p:nvSpPr>
        <p:spPr>
          <a:xfrm>
            <a:off x="1847088" y="3429000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6" name="Google Shape;1226;p41"/>
          <p:cNvSpPr/>
          <p:nvPr/>
        </p:nvSpPr>
        <p:spPr>
          <a:xfrm>
            <a:off x="1847088" y="3429000"/>
            <a:ext cx="2172066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27" name="Google Shape;1227;p41"/>
          <p:cNvSpPr/>
          <p:nvPr/>
        </p:nvSpPr>
        <p:spPr>
          <a:xfrm>
            <a:off x="5367528" y="33832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64.2%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8" name="Google Shape;1228;p41"/>
          <p:cNvSpPr/>
          <p:nvPr/>
        </p:nvSpPr>
        <p:spPr>
          <a:xfrm>
            <a:off x="694944" y="4114800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31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Macro</a:t>
            </a:r>
            <a:endParaRPr b="0" i="0" sz="1231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9" name="Google Shape;1229;p41"/>
          <p:cNvSpPr/>
          <p:nvPr/>
        </p:nvSpPr>
        <p:spPr>
          <a:xfrm>
            <a:off x="1847088" y="4142232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30" name="Google Shape;1230;p41"/>
          <p:cNvSpPr/>
          <p:nvPr/>
        </p:nvSpPr>
        <p:spPr>
          <a:xfrm>
            <a:off x="1847088" y="4142232"/>
            <a:ext cx="2307397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31" name="Google Shape;1231;p41"/>
          <p:cNvSpPr/>
          <p:nvPr/>
        </p:nvSpPr>
        <p:spPr>
          <a:xfrm>
            <a:off x="5367528" y="40965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68.2%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2" name="Google Shape;1232;p41"/>
          <p:cNvSpPr/>
          <p:nvPr/>
        </p:nvSpPr>
        <p:spPr>
          <a:xfrm>
            <a:off x="694944" y="4828032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Macro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3" name="Google Shape;1233;p41"/>
          <p:cNvSpPr/>
          <p:nvPr/>
        </p:nvSpPr>
        <p:spPr>
          <a:xfrm>
            <a:off x="1847088" y="4855464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34" name="Google Shape;1234;p41"/>
          <p:cNvSpPr/>
          <p:nvPr/>
        </p:nvSpPr>
        <p:spPr>
          <a:xfrm>
            <a:off x="1847088" y="4855464"/>
            <a:ext cx="2131466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35" name="Google Shape;1235;p41"/>
          <p:cNvSpPr/>
          <p:nvPr/>
        </p:nvSpPr>
        <p:spPr>
          <a:xfrm>
            <a:off x="5367528" y="4809744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63.0%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6" name="Google Shape;1236;p41"/>
          <p:cNvSpPr/>
          <p:nvPr/>
        </p:nvSpPr>
        <p:spPr>
          <a:xfrm>
            <a:off x="6327648" y="160934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LLM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7" name="Google Shape;1237;p41"/>
          <p:cNvSpPr/>
          <p:nvPr/>
        </p:nvSpPr>
        <p:spPr>
          <a:xfrm>
            <a:off x="6327648" y="197510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8" name="Google Shape;1238;p41"/>
          <p:cNvSpPr/>
          <p:nvPr/>
        </p:nvSpPr>
        <p:spPr>
          <a:xfrm>
            <a:off x="7589520" y="2002536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39" name="Google Shape;1239;p41"/>
          <p:cNvSpPr/>
          <p:nvPr/>
        </p:nvSpPr>
        <p:spPr>
          <a:xfrm>
            <a:off x="7589520" y="2002536"/>
            <a:ext cx="2117065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40" name="Google Shape;1240;p41"/>
          <p:cNvSpPr/>
          <p:nvPr/>
        </p:nvSpPr>
        <p:spPr>
          <a:xfrm>
            <a:off x="10625328" y="1956816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73.5%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1" name="Google Shape;1241;p41"/>
          <p:cNvSpPr/>
          <p:nvPr/>
        </p:nvSpPr>
        <p:spPr>
          <a:xfrm>
            <a:off x="6327648" y="268833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Journey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2" name="Google Shape;1242;p41"/>
          <p:cNvSpPr/>
          <p:nvPr/>
        </p:nvSpPr>
        <p:spPr>
          <a:xfrm>
            <a:off x="7589520" y="2715768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43" name="Google Shape;1243;p41"/>
          <p:cNvSpPr/>
          <p:nvPr/>
        </p:nvSpPr>
        <p:spPr>
          <a:xfrm>
            <a:off x="7589520" y="2715768"/>
            <a:ext cx="2543358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44" name="Google Shape;1244;p41"/>
          <p:cNvSpPr/>
          <p:nvPr/>
        </p:nvSpPr>
        <p:spPr>
          <a:xfrm>
            <a:off x="10625328" y="2670048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88.3%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5" name="Google Shape;1245;p41"/>
          <p:cNvSpPr/>
          <p:nvPr/>
        </p:nvSpPr>
        <p:spPr>
          <a:xfrm>
            <a:off x="6327648" y="340156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6" name="Google Shape;1246;p41"/>
          <p:cNvSpPr/>
          <p:nvPr/>
        </p:nvSpPr>
        <p:spPr>
          <a:xfrm>
            <a:off x="7589520" y="3429000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47" name="Google Shape;1247;p41"/>
          <p:cNvSpPr/>
          <p:nvPr/>
        </p:nvSpPr>
        <p:spPr>
          <a:xfrm>
            <a:off x="7589520" y="3429000"/>
            <a:ext cx="1929841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48" name="Google Shape;1248;p41"/>
          <p:cNvSpPr/>
          <p:nvPr/>
        </p:nvSpPr>
        <p:spPr>
          <a:xfrm>
            <a:off x="10625328" y="33832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67.0%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9" name="Google Shape;1249;p41"/>
          <p:cNvSpPr/>
          <p:nvPr/>
        </p:nvSpPr>
        <p:spPr>
          <a:xfrm>
            <a:off x="6327648" y="411480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Macro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0" name="Google Shape;1250;p41"/>
          <p:cNvSpPr/>
          <p:nvPr/>
        </p:nvSpPr>
        <p:spPr>
          <a:xfrm>
            <a:off x="7589520" y="4142232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51" name="Google Shape;1251;p41"/>
          <p:cNvSpPr/>
          <p:nvPr/>
        </p:nvSpPr>
        <p:spPr>
          <a:xfrm>
            <a:off x="7589520" y="4142232"/>
            <a:ext cx="2053697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52" name="Google Shape;1252;p41"/>
          <p:cNvSpPr/>
          <p:nvPr/>
        </p:nvSpPr>
        <p:spPr>
          <a:xfrm>
            <a:off x="10625328" y="409651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71.3%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3" name="Google Shape;1253;p41"/>
          <p:cNvSpPr/>
          <p:nvPr/>
        </p:nvSpPr>
        <p:spPr>
          <a:xfrm>
            <a:off x="6327648" y="4828032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Macro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4" name="Google Shape;1254;p41"/>
          <p:cNvSpPr/>
          <p:nvPr/>
        </p:nvSpPr>
        <p:spPr>
          <a:xfrm>
            <a:off x="7589520" y="4855464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55" name="Google Shape;1255;p41"/>
          <p:cNvSpPr/>
          <p:nvPr/>
        </p:nvSpPr>
        <p:spPr>
          <a:xfrm>
            <a:off x="7589520" y="4855464"/>
            <a:ext cx="1883755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56" name="Google Shape;1256;p41"/>
          <p:cNvSpPr/>
          <p:nvPr/>
        </p:nvSpPr>
        <p:spPr>
          <a:xfrm>
            <a:off x="10625328" y="4809744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65.4%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7" name="Google Shape;1257;p41"/>
          <p:cNvSpPr/>
          <p:nvPr/>
        </p:nvSpPr>
        <p:spPr>
          <a:xfrm>
            <a:off x="713232" y="5715000"/>
            <a:ext cx="10607040" cy="502920"/>
          </a:xfrm>
          <a:prstGeom prst="roundRect">
            <a:avLst>
              <a:gd fmla="val 14545" name="adj"/>
            </a:avLst>
          </a:prstGeom>
          <a:solidFill>
            <a:srgbClr val="EAF7F1"/>
          </a:solidFill>
          <a:ln cap="flat" cmpd="sng" w="10150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58" name="Google Shape;1258;p41"/>
          <p:cNvSpPr/>
          <p:nvPr/>
        </p:nvSpPr>
        <p:spPr>
          <a:xfrm>
            <a:off x="960120" y="5806440"/>
            <a:ext cx="10113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F1은 단일이 높다. F×J Macro 차이는 +2.34%p, p=.107로 유의하지 않다.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2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5" name="Google Shape;1265;p42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6" name="Google Shape;1266;p42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Precision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67" name="Google Shape;1267;p42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8" name="Google Shape;1268;p42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9" name="Google Shape;1269;p42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0" name="Google Shape;1270;p42"/>
          <p:cNvSpPr/>
          <p:nvPr/>
        </p:nvSpPr>
        <p:spPr>
          <a:xfrm>
            <a:off x="694944" y="160934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1" name="Google Shape;1271;p42"/>
          <p:cNvSpPr/>
          <p:nvPr/>
        </p:nvSpPr>
        <p:spPr>
          <a:xfrm>
            <a:off x="694944" y="1975104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31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Macro</a:t>
            </a:r>
            <a:endParaRPr b="0" i="0" sz="1231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2" name="Google Shape;1272;p42"/>
          <p:cNvSpPr/>
          <p:nvPr/>
        </p:nvSpPr>
        <p:spPr>
          <a:xfrm>
            <a:off x="1847088" y="2002536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73" name="Google Shape;1273;p42"/>
          <p:cNvSpPr/>
          <p:nvPr/>
        </p:nvSpPr>
        <p:spPr>
          <a:xfrm>
            <a:off x="1847088" y="2002536"/>
            <a:ext cx="2419045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74" name="Google Shape;1274;p42"/>
          <p:cNvSpPr/>
          <p:nvPr/>
        </p:nvSpPr>
        <p:spPr>
          <a:xfrm>
            <a:off x="5367528" y="1956816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71.5%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5" name="Google Shape;1275;p42"/>
          <p:cNvSpPr/>
          <p:nvPr/>
        </p:nvSpPr>
        <p:spPr>
          <a:xfrm>
            <a:off x="694944" y="2688336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199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Journey Macro</a:t>
            </a:r>
            <a:endParaRPr b="0" i="0" sz="1199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6" name="Google Shape;1276;p42"/>
          <p:cNvSpPr/>
          <p:nvPr/>
        </p:nvSpPr>
        <p:spPr>
          <a:xfrm>
            <a:off x="1847088" y="2715768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77" name="Google Shape;1277;p42"/>
          <p:cNvSpPr/>
          <p:nvPr/>
        </p:nvSpPr>
        <p:spPr>
          <a:xfrm>
            <a:off x="1847088" y="2715768"/>
            <a:ext cx="2902854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78" name="Google Shape;1278;p42"/>
          <p:cNvSpPr/>
          <p:nvPr/>
        </p:nvSpPr>
        <p:spPr>
          <a:xfrm>
            <a:off x="5367528" y="2670048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85.8%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9" name="Google Shape;1279;p42"/>
          <p:cNvSpPr/>
          <p:nvPr/>
        </p:nvSpPr>
        <p:spPr>
          <a:xfrm>
            <a:off x="694944" y="3401568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Macro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0" name="Google Shape;1280;p42"/>
          <p:cNvSpPr/>
          <p:nvPr/>
        </p:nvSpPr>
        <p:spPr>
          <a:xfrm>
            <a:off x="1847088" y="3429000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81" name="Google Shape;1281;p42"/>
          <p:cNvSpPr/>
          <p:nvPr/>
        </p:nvSpPr>
        <p:spPr>
          <a:xfrm>
            <a:off x="1847088" y="3429000"/>
            <a:ext cx="2212665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82" name="Google Shape;1282;p42"/>
          <p:cNvSpPr/>
          <p:nvPr/>
        </p:nvSpPr>
        <p:spPr>
          <a:xfrm>
            <a:off x="5367528" y="33832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65.4%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3" name="Google Shape;1283;p42"/>
          <p:cNvSpPr/>
          <p:nvPr/>
        </p:nvSpPr>
        <p:spPr>
          <a:xfrm>
            <a:off x="694944" y="4114800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4" name="Google Shape;1284;p42"/>
          <p:cNvSpPr/>
          <p:nvPr/>
        </p:nvSpPr>
        <p:spPr>
          <a:xfrm>
            <a:off x="1847088" y="4142232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85" name="Google Shape;1285;p42"/>
          <p:cNvSpPr/>
          <p:nvPr/>
        </p:nvSpPr>
        <p:spPr>
          <a:xfrm>
            <a:off x="1847088" y="4142232"/>
            <a:ext cx="2351380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86" name="Google Shape;1286;p42"/>
          <p:cNvSpPr/>
          <p:nvPr/>
        </p:nvSpPr>
        <p:spPr>
          <a:xfrm>
            <a:off x="5367528" y="40965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69.5%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7" name="Google Shape;1287;p42"/>
          <p:cNvSpPr/>
          <p:nvPr/>
        </p:nvSpPr>
        <p:spPr>
          <a:xfrm>
            <a:off x="694944" y="4828032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8" name="Google Shape;1288;p42"/>
          <p:cNvSpPr/>
          <p:nvPr/>
        </p:nvSpPr>
        <p:spPr>
          <a:xfrm>
            <a:off x="1847088" y="4855464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89" name="Google Shape;1289;p42"/>
          <p:cNvSpPr/>
          <p:nvPr/>
        </p:nvSpPr>
        <p:spPr>
          <a:xfrm>
            <a:off x="1847088" y="4855464"/>
            <a:ext cx="2124700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90" name="Google Shape;1290;p42"/>
          <p:cNvSpPr/>
          <p:nvPr/>
        </p:nvSpPr>
        <p:spPr>
          <a:xfrm>
            <a:off x="5367528" y="4809744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62.8%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1" name="Google Shape;1291;p42"/>
          <p:cNvSpPr/>
          <p:nvPr/>
        </p:nvSpPr>
        <p:spPr>
          <a:xfrm>
            <a:off x="6327648" y="160934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LLM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2" name="Google Shape;1292;p42"/>
          <p:cNvSpPr/>
          <p:nvPr/>
        </p:nvSpPr>
        <p:spPr>
          <a:xfrm>
            <a:off x="6327648" y="197510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Macro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3" name="Google Shape;1293;p42"/>
          <p:cNvSpPr/>
          <p:nvPr/>
        </p:nvSpPr>
        <p:spPr>
          <a:xfrm>
            <a:off x="7589520" y="2002536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94" name="Google Shape;1294;p42"/>
          <p:cNvSpPr/>
          <p:nvPr/>
        </p:nvSpPr>
        <p:spPr>
          <a:xfrm>
            <a:off x="7589520" y="2002536"/>
            <a:ext cx="1947123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95" name="Google Shape;1295;p42"/>
          <p:cNvSpPr/>
          <p:nvPr/>
        </p:nvSpPr>
        <p:spPr>
          <a:xfrm>
            <a:off x="10625328" y="1956816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67.6%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6" name="Google Shape;1296;p42"/>
          <p:cNvSpPr/>
          <p:nvPr/>
        </p:nvSpPr>
        <p:spPr>
          <a:xfrm>
            <a:off x="6327648" y="268833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Journey Macro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7" name="Google Shape;1297;p42"/>
          <p:cNvSpPr/>
          <p:nvPr/>
        </p:nvSpPr>
        <p:spPr>
          <a:xfrm>
            <a:off x="7589520" y="2715768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98" name="Google Shape;1298;p42"/>
          <p:cNvSpPr/>
          <p:nvPr/>
        </p:nvSpPr>
        <p:spPr>
          <a:xfrm>
            <a:off x="7589520" y="2715768"/>
            <a:ext cx="2407981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299" name="Google Shape;1299;p42"/>
          <p:cNvSpPr/>
          <p:nvPr/>
        </p:nvSpPr>
        <p:spPr>
          <a:xfrm>
            <a:off x="10625328" y="2670048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83.6%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0" name="Google Shape;1300;p42"/>
          <p:cNvSpPr/>
          <p:nvPr/>
        </p:nvSpPr>
        <p:spPr>
          <a:xfrm>
            <a:off x="6327648" y="340156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Macro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1" name="Google Shape;1301;p42"/>
          <p:cNvSpPr/>
          <p:nvPr/>
        </p:nvSpPr>
        <p:spPr>
          <a:xfrm>
            <a:off x="7589520" y="3429000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02" name="Google Shape;1302;p42"/>
          <p:cNvSpPr/>
          <p:nvPr/>
        </p:nvSpPr>
        <p:spPr>
          <a:xfrm>
            <a:off x="7589520" y="3429000"/>
            <a:ext cx="1765661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03" name="Google Shape;1303;p42"/>
          <p:cNvSpPr/>
          <p:nvPr/>
        </p:nvSpPr>
        <p:spPr>
          <a:xfrm>
            <a:off x="10625328" y="33832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61.3%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4" name="Google Shape;1304;p42"/>
          <p:cNvSpPr/>
          <p:nvPr/>
        </p:nvSpPr>
        <p:spPr>
          <a:xfrm>
            <a:off x="6327648" y="411480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5" name="Google Shape;1305;p42"/>
          <p:cNvSpPr/>
          <p:nvPr/>
        </p:nvSpPr>
        <p:spPr>
          <a:xfrm>
            <a:off x="7589520" y="4142232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06" name="Google Shape;1306;p42"/>
          <p:cNvSpPr/>
          <p:nvPr/>
        </p:nvSpPr>
        <p:spPr>
          <a:xfrm>
            <a:off x="7589520" y="4142232"/>
            <a:ext cx="1929841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07" name="Google Shape;1307;p42"/>
          <p:cNvSpPr/>
          <p:nvPr/>
        </p:nvSpPr>
        <p:spPr>
          <a:xfrm>
            <a:off x="10625328" y="409651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67.0%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8" name="Google Shape;1308;p42"/>
          <p:cNvSpPr/>
          <p:nvPr/>
        </p:nvSpPr>
        <p:spPr>
          <a:xfrm>
            <a:off x="6327648" y="4828032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Micro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9" name="Google Shape;1309;p42"/>
          <p:cNvSpPr/>
          <p:nvPr/>
        </p:nvSpPr>
        <p:spPr>
          <a:xfrm>
            <a:off x="7589520" y="4855464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10" name="Google Shape;1310;p42"/>
          <p:cNvSpPr/>
          <p:nvPr/>
        </p:nvSpPr>
        <p:spPr>
          <a:xfrm>
            <a:off x="7589520" y="4855464"/>
            <a:ext cx="1733977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11" name="Google Shape;1311;p42"/>
          <p:cNvSpPr/>
          <p:nvPr/>
        </p:nvSpPr>
        <p:spPr>
          <a:xfrm>
            <a:off x="10625328" y="4809744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60.2%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2" name="Google Shape;1312;p42"/>
          <p:cNvSpPr/>
          <p:nvPr/>
        </p:nvSpPr>
        <p:spPr>
          <a:xfrm>
            <a:off x="713232" y="5715000"/>
            <a:ext cx="10607040" cy="502920"/>
          </a:xfrm>
          <a:prstGeom prst="roundRect">
            <a:avLst>
              <a:gd fmla="val 14545" name="adj"/>
            </a:avLst>
          </a:prstGeom>
          <a:solidFill>
            <a:srgbClr val="EAF7F1"/>
          </a:solidFill>
          <a:ln cap="flat" cmpd="sng" w="10150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13" name="Google Shape;1313;p42"/>
          <p:cNvSpPr/>
          <p:nvPr/>
        </p:nvSpPr>
        <p:spPr>
          <a:xfrm>
            <a:off x="960120" y="5806440"/>
            <a:ext cx="10113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 기준은 Recall보다 Precision 우선. F×J Macro Precision은 +4.15%p, p=.0031.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3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0" name="Google Shape;1320;p43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1" name="Google Shape;1321;p43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 구조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22" name="Google Shape;1322;p43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3" name="Google Shape;1323;p43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4" name="Google Shape;1324;p43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5" name="Google Shape;1325;p43"/>
          <p:cNvSpPr/>
          <p:nvPr/>
        </p:nvSpPr>
        <p:spPr>
          <a:xfrm>
            <a:off x="566928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EAF7F1"/>
          </a:solidFill>
          <a:ln cap="flat" cmpd="sng" w="152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26" name="Google Shape;1326;p43"/>
          <p:cNvSpPr/>
          <p:nvPr/>
        </p:nvSpPr>
        <p:spPr>
          <a:xfrm>
            <a:off x="877824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27" name="Google Shape;1327;p43"/>
          <p:cNvSpPr/>
          <p:nvPr/>
        </p:nvSpPr>
        <p:spPr>
          <a:xfrm>
            <a:off x="950976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8" name="Google Shape;1328;p43"/>
          <p:cNvSpPr/>
          <p:nvPr/>
        </p:nvSpPr>
        <p:spPr>
          <a:xfrm>
            <a:off x="896112" y="2487168"/>
            <a:ext cx="4526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False Positive가 적음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Precision이 높음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보수적으로 판단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Top 5를 5/5 보존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9" name="Google Shape;1329;p43"/>
          <p:cNvSpPr/>
          <p:nvPr/>
        </p:nvSpPr>
        <p:spPr>
          <a:xfrm>
            <a:off x="6355080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FCECE9"/>
          </a:solidFill>
          <a:ln cap="flat" cmpd="sng" w="15225">
            <a:solidFill>
              <a:srgbClr val="F3C2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0" name="Google Shape;1330;p43"/>
          <p:cNvSpPr/>
          <p:nvPr/>
        </p:nvSpPr>
        <p:spPr>
          <a:xfrm>
            <a:off x="6665976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31" name="Google Shape;1331;p43"/>
          <p:cNvSpPr/>
          <p:nvPr/>
        </p:nvSpPr>
        <p:spPr>
          <a:xfrm>
            <a:off x="6739128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LLM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2" name="Google Shape;1332;p43"/>
          <p:cNvSpPr/>
          <p:nvPr/>
        </p:nvSpPr>
        <p:spPr>
          <a:xfrm>
            <a:off x="6684264" y="2487168"/>
            <a:ext cx="4526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Recall과 F1이 높음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False Positive가 많음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빠르고 저렴함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Top 5를 4/5 보존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3" name="Google Shape;1333;p43"/>
          <p:cNvSpPr/>
          <p:nvPr/>
        </p:nvSpPr>
        <p:spPr>
          <a:xfrm>
            <a:off x="960120" y="6126480"/>
            <a:ext cx="10287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350"/>
              <a:buFont typeface="Malgun Gothic"/>
              <a:buNone/>
            </a:pPr>
            <a:r>
              <a:rPr b="1" i="0" lang="en-US" sz="13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둘 중 하나가 항상 우월한 것이 아니라, 오류 비용과 사용 목적에 따라 선택이 달라진다.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4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0" name="Google Shape;1340;p44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1" name="Google Shape;1341;p44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의사결정 손실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42" name="Google Shape;1342;p44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3" name="Google Shape;1343;p44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4" name="Google Shape;1344;p44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5" name="Google Shape;1345;p44"/>
          <p:cNvSpPr/>
          <p:nvPr/>
        </p:nvSpPr>
        <p:spPr>
          <a:xfrm>
            <a:off x="694944" y="160934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6" name="Google Shape;1346;p44"/>
          <p:cNvSpPr/>
          <p:nvPr/>
        </p:nvSpPr>
        <p:spPr>
          <a:xfrm>
            <a:off x="694944" y="1975104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FP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7" name="Google Shape;1347;p44"/>
          <p:cNvSpPr/>
          <p:nvPr/>
        </p:nvSpPr>
        <p:spPr>
          <a:xfrm>
            <a:off x="1847088" y="2002536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48" name="Google Shape;1348;p44"/>
          <p:cNvSpPr/>
          <p:nvPr/>
        </p:nvSpPr>
        <p:spPr>
          <a:xfrm>
            <a:off x="1847088" y="2002536"/>
            <a:ext cx="2013052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49" name="Google Shape;1349;p44"/>
          <p:cNvSpPr/>
          <p:nvPr/>
        </p:nvSpPr>
        <p:spPr>
          <a:xfrm>
            <a:off x="5367528" y="1956816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238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0" name="Google Shape;1350;p44"/>
          <p:cNvSpPr/>
          <p:nvPr/>
        </p:nvSpPr>
        <p:spPr>
          <a:xfrm>
            <a:off x="694944" y="2688336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FN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1" name="Google Shape;1351;p44"/>
          <p:cNvSpPr/>
          <p:nvPr/>
        </p:nvSpPr>
        <p:spPr>
          <a:xfrm>
            <a:off x="1847088" y="2715768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52" name="Google Shape;1352;p44"/>
          <p:cNvSpPr/>
          <p:nvPr/>
        </p:nvSpPr>
        <p:spPr>
          <a:xfrm>
            <a:off x="1847088" y="2715768"/>
            <a:ext cx="1936928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53" name="Google Shape;1353;p44"/>
          <p:cNvSpPr/>
          <p:nvPr/>
        </p:nvSpPr>
        <p:spPr>
          <a:xfrm>
            <a:off x="5367528" y="2670048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229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4" name="Google Shape;1354;p44"/>
          <p:cNvSpPr/>
          <p:nvPr/>
        </p:nvSpPr>
        <p:spPr>
          <a:xfrm>
            <a:off x="694944" y="3401568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FP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5" name="Google Shape;1355;p44"/>
          <p:cNvSpPr/>
          <p:nvPr/>
        </p:nvSpPr>
        <p:spPr>
          <a:xfrm>
            <a:off x="1847088" y="3429000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56" name="Google Shape;1356;p44"/>
          <p:cNvSpPr/>
          <p:nvPr/>
        </p:nvSpPr>
        <p:spPr>
          <a:xfrm>
            <a:off x="1847088" y="3429000"/>
            <a:ext cx="2255520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57" name="Google Shape;1357;p44"/>
          <p:cNvSpPr/>
          <p:nvPr/>
        </p:nvSpPr>
        <p:spPr>
          <a:xfrm>
            <a:off x="5367528" y="33832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300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8" name="Google Shape;1358;p44"/>
          <p:cNvSpPr/>
          <p:nvPr/>
        </p:nvSpPr>
        <p:spPr>
          <a:xfrm>
            <a:off x="694944" y="4114800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FN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9" name="Google Shape;1359;p44"/>
          <p:cNvSpPr/>
          <p:nvPr/>
        </p:nvSpPr>
        <p:spPr>
          <a:xfrm>
            <a:off x="1847088" y="4142232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0" name="Google Shape;1360;p44"/>
          <p:cNvSpPr/>
          <p:nvPr/>
        </p:nvSpPr>
        <p:spPr>
          <a:xfrm>
            <a:off x="1847088" y="4142232"/>
            <a:ext cx="1999894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1" name="Google Shape;1361;p44"/>
          <p:cNvSpPr/>
          <p:nvPr/>
        </p:nvSpPr>
        <p:spPr>
          <a:xfrm>
            <a:off x="5367528" y="40965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266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2" name="Google Shape;1362;p44"/>
          <p:cNvSpPr/>
          <p:nvPr/>
        </p:nvSpPr>
        <p:spPr>
          <a:xfrm>
            <a:off x="694944" y="4828032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FP=2 손실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3" name="Google Shape;1363;p44"/>
          <p:cNvSpPr/>
          <p:nvPr/>
        </p:nvSpPr>
        <p:spPr>
          <a:xfrm>
            <a:off x="1847088" y="4855464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4" name="Google Shape;1364;p44"/>
          <p:cNvSpPr/>
          <p:nvPr/>
        </p:nvSpPr>
        <p:spPr>
          <a:xfrm>
            <a:off x="1847088" y="4855464"/>
            <a:ext cx="2929920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5" name="Google Shape;1365;p44"/>
          <p:cNvSpPr/>
          <p:nvPr/>
        </p:nvSpPr>
        <p:spPr>
          <a:xfrm>
            <a:off x="5367528" y="4809744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866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6" name="Google Shape;1366;p44"/>
          <p:cNvSpPr/>
          <p:nvPr/>
        </p:nvSpPr>
        <p:spPr>
          <a:xfrm>
            <a:off x="6327648" y="160934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LLM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7" name="Google Shape;1367;p44"/>
          <p:cNvSpPr/>
          <p:nvPr/>
        </p:nvSpPr>
        <p:spPr>
          <a:xfrm>
            <a:off x="6327648" y="197510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FP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8" name="Google Shape;1368;p44"/>
          <p:cNvSpPr/>
          <p:nvPr/>
        </p:nvSpPr>
        <p:spPr>
          <a:xfrm>
            <a:off x="7589520" y="2002536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69" name="Google Shape;1369;p44"/>
          <p:cNvSpPr/>
          <p:nvPr/>
        </p:nvSpPr>
        <p:spPr>
          <a:xfrm>
            <a:off x="7589520" y="2002536"/>
            <a:ext cx="2232279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0" name="Google Shape;1370;p44"/>
          <p:cNvSpPr/>
          <p:nvPr/>
        </p:nvSpPr>
        <p:spPr>
          <a:xfrm>
            <a:off x="10625328" y="1956816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310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1" name="Google Shape;1371;p44"/>
          <p:cNvSpPr/>
          <p:nvPr/>
        </p:nvSpPr>
        <p:spPr>
          <a:xfrm>
            <a:off x="6327648" y="268833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FN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2" name="Google Shape;1372;p44"/>
          <p:cNvSpPr/>
          <p:nvPr/>
        </p:nvSpPr>
        <p:spPr>
          <a:xfrm>
            <a:off x="7589520" y="2715768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3" name="Google Shape;1373;p44"/>
          <p:cNvSpPr/>
          <p:nvPr/>
        </p:nvSpPr>
        <p:spPr>
          <a:xfrm>
            <a:off x="7589520" y="2715768"/>
            <a:ext cx="1029729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4" name="Google Shape;1374;p44"/>
          <p:cNvSpPr/>
          <p:nvPr/>
        </p:nvSpPr>
        <p:spPr>
          <a:xfrm>
            <a:off x="10625328" y="2670048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143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5" name="Google Shape;1375;p44"/>
          <p:cNvSpPr/>
          <p:nvPr/>
        </p:nvSpPr>
        <p:spPr>
          <a:xfrm>
            <a:off x="6327648" y="340156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FP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6" name="Google Shape;1376;p44"/>
          <p:cNvSpPr/>
          <p:nvPr/>
        </p:nvSpPr>
        <p:spPr>
          <a:xfrm>
            <a:off x="7589520" y="3429000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7" name="Google Shape;1377;p44"/>
          <p:cNvSpPr/>
          <p:nvPr/>
        </p:nvSpPr>
        <p:spPr>
          <a:xfrm>
            <a:off x="7589520" y="3429000"/>
            <a:ext cx="2464308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78" name="Google Shape;1378;p44"/>
          <p:cNvSpPr/>
          <p:nvPr/>
        </p:nvSpPr>
        <p:spPr>
          <a:xfrm>
            <a:off x="10625328" y="33832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385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9" name="Google Shape;1379;p44"/>
          <p:cNvSpPr/>
          <p:nvPr/>
        </p:nvSpPr>
        <p:spPr>
          <a:xfrm>
            <a:off x="6327648" y="411480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FN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0" name="Google Shape;1380;p44"/>
          <p:cNvSpPr/>
          <p:nvPr/>
        </p:nvSpPr>
        <p:spPr>
          <a:xfrm>
            <a:off x="7589520" y="4142232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81" name="Google Shape;1381;p44"/>
          <p:cNvSpPr/>
          <p:nvPr/>
        </p:nvSpPr>
        <p:spPr>
          <a:xfrm>
            <a:off x="7589520" y="4142232"/>
            <a:ext cx="1216152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82" name="Google Shape;1382;p44"/>
          <p:cNvSpPr/>
          <p:nvPr/>
        </p:nvSpPr>
        <p:spPr>
          <a:xfrm>
            <a:off x="10625328" y="409651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190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3" name="Google Shape;1383;p44"/>
          <p:cNvSpPr/>
          <p:nvPr/>
        </p:nvSpPr>
        <p:spPr>
          <a:xfrm>
            <a:off x="6327648" y="4828032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FP=2 손실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4" name="Google Shape;1384;p44"/>
          <p:cNvSpPr/>
          <p:nvPr/>
        </p:nvSpPr>
        <p:spPr>
          <a:xfrm>
            <a:off x="7589520" y="4855464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85" name="Google Shape;1385;p44"/>
          <p:cNvSpPr/>
          <p:nvPr/>
        </p:nvSpPr>
        <p:spPr>
          <a:xfrm>
            <a:off x="7589520" y="4855464"/>
            <a:ext cx="2765146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86" name="Google Shape;1386;p44"/>
          <p:cNvSpPr/>
          <p:nvPr/>
        </p:nvSpPr>
        <p:spPr>
          <a:xfrm>
            <a:off x="10625328" y="4809744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960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7" name="Google Shape;1387;p44"/>
          <p:cNvSpPr/>
          <p:nvPr/>
        </p:nvSpPr>
        <p:spPr>
          <a:xfrm>
            <a:off x="713232" y="5715000"/>
            <a:ext cx="10607040" cy="502920"/>
          </a:xfrm>
          <a:prstGeom prst="roundRect">
            <a:avLst>
              <a:gd fmla="val 14545" name="adj"/>
            </a:avLst>
          </a:prstGeom>
          <a:solidFill>
            <a:srgbClr val="EAF7F1"/>
          </a:solidFill>
          <a:ln cap="flat" cmpd="sng" w="10150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388" name="Google Shape;1388;p44"/>
          <p:cNvSpPr/>
          <p:nvPr/>
        </p:nvSpPr>
        <p:spPr>
          <a:xfrm>
            <a:off x="960120" y="5806440"/>
            <a:ext cx="10113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기준 FP 비용/ FN 비용이 0.894보다 크면 멀티의 총 의사결정 손실이 더 낮다.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45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5" name="Google Shape;1395;p45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6" name="Google Shape;1396;p45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비용과 속도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97" name="Google Shape;1397;p45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8" name="Google Shape;1398;p45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9" name="Google Shape;1399;p45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0" name="Google Shape;1400;p45"/>
          <p:cNvSpPr/>
          <p:nvPr/>
        </p:nvSpPr>
        <p:spPr>
          <a:xfrm>
            <a:off x="530352" y="1664208"/>
            <a:ext cx="3438144" cy="1243584"/>
          </a:xfrm>
          <a:prstGeom prst="roundRect">
            <a:avLst>
              <a:gd fmla="val 5882" name="adj"/>
            </a:avLst>
          </a:prstGeom>
          <a:solidFill>
            <a:srgbClr val="EAF7F1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1" name="Google Shape;1401;p45"/>
          <p:cNvSpPr/>
          <p:nvPr/>
        </p:nvSpPr>
        <p:spPr>
          <a:xfrm>
            <a:off x="530352" y="1664208"/>
            <a:ext cx="64008" cy="1243584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2" name="Google Shape;1402;p45"/>
          <p:cNvSpPr/>
          <p:nvPr/>
        </p:nvSpPr>
        <p:spPr>
          <a:xfrm>
            <a:off x="731520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Gold 199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3" name="Google Shape;1403;p45"/>
          <p:cNvSpPr/>
          <p:nvPr/>
        </p:nvSpPr>
        <p:spPr>
          <a:xfrm>
            <a:off x="731520" y="2167128"/>
            <a:ext cx="30723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리뷰·정답·모델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4" name="Google Shape;1404;p45"/>
          <p:cNvSpPr/>
          <p:nvPr/>
        </p:nvSpPr>
        <p:spPr>
          <a:xfrm>
            <a:off x="4370832" y="1664208"/>
            <a:ext cx="3438144" cy="1243584"/>
          </a:xfrm>
          <a:prstGeom prst="roundRect">
            <a:avLst>
              <a:gd fmla="val 5882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5" name="Google Shape;1405;p45"/>
          <p:cNvSpPr/>
          <p:nvPr/>
        </p:nvSpPr>
        <p:spPr>
          <a:xfrm>
            <a:off x="4370832" y="1664208"/>
            <a:ext cx="64008" cy="1243584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6" name="Google Shape;1406;p45"/>
          <p:cNvSpPr/>
          <p:nvPr/>
        </p:nvSpPr>
        <p:spPr>
          <a:xfrm>
            <a:off x="4572000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3,997 calls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7" name="Google Shape;1407;p45"/>
          <p:cNvSpPr/>
          <p:nvPr/>
        </p:nvSpPr>
        <p:spPr>
          <a:xfrm>
            <a:off x="4572000" y="2167128"/>
            <a:ext cx="30723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리뷰당 20.09회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8" name="Google Shape;1408;p45"/>
          <p:cNvSpPr/>
          <p:nvPr/>
        </p:nvSpPr>
        <p:spPr>
          <a:xfrm>
            <a:off x="8211312" y="1664208"/>
            <a:ext cx="3438144" cy="1243584"/>
          </a:xfrm>
          <a:prstGeom prst="roundRect">
            <a:avLst>
              <a:gd fmla="val 5882" name="adj"/>
            </a:avLst>
          </a:prstGeom>
          <a:solidFill>
            <a:srgbClr val="FCECE9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09" name="Google Shape;1409;p45"/>
          <p:cNvSpPr/>
          <p:nvPr/>
        </p:nvSpPr>
        <p:spPr>
          <a:xfrm>
            <a:off x="8211312" y="1664208"/>
            <a:ext cx="64008" cy="1243584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10" name="Google Shape;1410;p45"/>
          <p:cNvSpPr/>
          <p:nvPr/>
        </p:nvSpPr>
        <p:spPr>
          <a:xfrm>
            <a:off x="8412480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199 calls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1" name="Google Shape;1411;p45"/>
          <p:cNvSpPr/>
          <p:nvPr/>
        </p:nvSpPr>
        <p:spPr>
          <a:xfrm>
            <a:off x="8412480" y="2167128"/>
            <a:ext cx="307238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리뷰당 1.00회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2" name="Google Shape;1412;p45"/>
          <p:cNvSpPr/>
          <p:nvPr/>
        </p:nvSpPr>
        <p:spPr>
          <a:xfrm>
            <a:off x="658368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13" name="Google Shape;1413;p45"/>
          <p:cNvSpPr/>
          <p:nvPr/>
        </p:nvSpPr>
        <p:spPr>
          <a:xfrm>
            <a:off x="795528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500"/>
              <a:buFont typeface="Malgun Gothic"/>
              <a:buNone/>
            </a:pPr>
            <a:r>
              <a:rPr b="1" i="0" lang="en-US" sz="2426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20.09 vs 1.00</a:t>
            </a:r>
            <a:endParaRPr b="0" i="0" sz="2426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4" name="Google Shape;1414;p45"/>
          <p:cNvSpPr/>
          <p:nvPr/>
        </p:nvSpPr>
        <p:spPr>
          <a:xfrm>
            <a:off x="795528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calls / review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5" name="Google Shape;1415;p45"/>
          <p:cNvSpPr/>
          <p:nvPr/>
        </p:nvSpPr>
        <p:spPr>
          <a:xfrm>
            <a:off x="795528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95.0% 감소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6" name="Google Shape;1416;p45"/>
          <p:cNvSpPr/>
          <p:nvPr/>
        </p:nvSpPr>
        <p:spPr>
          <a:xfrm>
            <a:off x="3136392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17" name="Google Shape;1417;p45"/>
          <p:cNvSpPr/>
          <p:nvPr/>
        </p:nvSpPr>
        <p:spPr>
          <a:xfrm>
            <a:off x="3273552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500"/>
              <a:buFont typeface="Malgun Gothic"/>
              <a:buNone/>
            </a:pPr>
            <a:r>
              <a:rPr b="1" i="0" lang="en-US" sz="2059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35,460 vs 3,302</a:t>
            </a:r>
            <a:endParaRPr b="0" i="0" sz="2059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8" name="Google Shape;1418;p45"/>
          <p:cNvSpPr/>
          <p:nvPr/>
        </p:nvSpPr>
        <p:spPr>
          <a:xfrm>
            <a:off x="3273552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tokens / review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9" name="Google Shape;1419;p45"/>
          <p:cNvSpPr/>
          <p:nvPr/>
        </p:nvSpPr>
        <p:spPr>
          <a:xfrm>
            <a:off x="3273552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90.7% 감소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0" name="Google Shape;1420;p45"/>
          <p:cNvSpPr/>
          <p:nvPr/>
        </p:nvSpPr>
        <p:spPr>
          <a:xfrm>
            <a:off x="5614416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21" name="Google Shape;1421;p45"/>
          <p:cNvSpPr/>
          <p:nvPr/>
        </p:nvSpPr>
        <p:spPr>
          <a:xfrm>
            <a:off x="5751576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500"/>
              <a:buFont typeface="Malgun Gothic"/>
              <a:buNone/>
            </a:pPr>
            <a:r>
              <a:rPr b="1" i="0" lang="en-US" sz="2124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97.39s vs 6.27s</a:t>
            </a:r>
            <a:endParaRPr b="0" i="0" sz="2124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2" name="Google Shape;1422;p45"/>
          <p:cNvSpPr/>
          <p:nvPr/>
        </p:nvSpPr>
        <p:spPr>
          <a:xfrm>
            <a:off x="5751576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latency / review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3" name="Google Shape;1423;p45"/>
          <p:cNvSpPr/>
          <p:nvPr/>
        </p:nvSpPr>
        <p:spPr>
          <a:xfrm>
            <a:off x="5751576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93.6% 감소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4" name="Google Shape;1424;p45"/>
          <p:cNvSpPr/>
          <p:nvPr/>
        </p:nvSpPr>
        <p:spPr>
          <a:xfrm>
            <a:off x="8092440" y="3456432"/>
            <a:ext cx="221284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25" name="Google Shape;1425;p45"/>
          <p:cNvSpPr/>
          <p:nvPr/>
        </p:nvSpPr>
        <p:spPr>
          <a:xfrm>
            <a:off x="8229600" y="3621024"/>
            <a:ext cx="1938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500"/>
              <a:buFont typeface="Malgun Gothic"/>
              <a:buNone/>
            </a:pPr>
            <a:r>
              <a:rPr b="1" i="0" lang="en-US" sz="25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10.74×</a:t>
            </a:r>
            <a:endParaRPr b="0" i="0" sz="25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6" name="Google Shape;1426;p45"/>
          <p:cNvSpPr/>
          <p:nvPr/>
        </p:nvSpPr>
        <p:spPr>
          <a:xfrm>
            <a:off x="8229600" y="4114800"/>
            <a:ext cx="1938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 비용 차이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7" name="Google Shape;1427;p45"/>
          <p:cNvSpPr/>
          <p:nvPr/>
        </p:nvSpPr>
        <p:spPr>
          <a:xfrm>
            <a:off x="8229600" y="4443984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950"/>
              <a:buFont typeface="Malgun Gothic"/>
              <a:buNone/>
            </a:pPr>
            <a:r>
              <a:rPr b="0" i="0" lang="en-US" sz="95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단일이 낮음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8" name="Google Shape;1428;p45"/>
          <p:cNvSpPr/>
          <p:nvPr/>
        </p:nvSpPr>
        <p:spPr>
          <a:xfrm>
            <a:off x="804672" y="5440680"/>
            <a:ext cx="10561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멀티는 더 정밀하지만 훨씬 비싸다. 따라서 모든 단계가 아니라 고비용 오류가 발생하는 핵심 단계에 사용한다.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9" name="Google Shape;1429;p45"/>
          <p:cNvSpPr/>
          <p:nvPr/>
        </p:nvSpPr>
        <p:spPr>
          <a:xfrm>
            <a:off x="2423160" y="5998464"/>
            <a:ext cx="7360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 선택은 정확도·오류비용·처리비용을 함께 보고 결정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53B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4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7B5"/>
          </a:solidFill>
          <a:ln cap="flat" cmpd="sng" w="1270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6" name="Google Shape;1436;p47"/>
          <p:cNvSpPr/>
          <p:nvPr/>
        </p:nvSpPr>
        <p:spPr>
          <a:xfrm rot="1500000">
            <a:off x="7772400" y="-1097280"/>
            <a:ext cx="5212080" cy="52120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77DFF">
              <a:alpha val="52157"/>
            </a:srgbClr>
          </a:solidFill>
          <a:ln cap="flat" cmpd="sng" w="12700">
            <a:solidFill>
              <a:srgbClr val="377D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7" name="Google Shape;1437;p47"/>
          <p:cNvSpPr/>
          <p:nvPr/>
        </p:nvSpPr>
        <p:spPr>
          <a:xfrm rot="-9000000">
            <a:off x="8778240" y="338328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0A7B5">
              <a:alpha val="38039"/>
            </a:srgbClr>
          </a:solidFill>
          <a:ln cap="flat" cmpd="sng" w="12700">
            <a:solidFill>
              <a:srgbClr val="00A7B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8" name="Google Shape;1438;p47"/>
          <p:cNvSpPr/>
          <p:nvPr/>
        </p:nvSpPr>
        <p:spPr>
          <a:xfrm>
            <a:off x="713232" y="658368"/>
            <a:ext cx="2450592" cy="329184"/>
          </a:xfrm>
          <a:prstGeom prst="roundRect">
            <a:avLst>
              <a:gd fmla="val 44444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39" name="Google Shape;1439;p47"/>
          <p:cNvSpPr/>
          <p:nvPr/>
        </p:nvSpPr>
        <p:spPr>
          <a:xfrm>
            <a:off x="786384" y="68580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실험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0" name="Google Shape;1440;p47"/>
          <p:cNvSpPr/>
          <p:nvPr/>
        </p:nvSpPr>
        <p:spPr>
          <a:xfrm>
            <a:off x="713232" y="1325880"/>
            <a:ext cx="81381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1" i="0" lang="en-US" sz="40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RQ1 → RQ2</a:t>
            </a:r>
            <a:endParaRPr b="0" i="0" sz="4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1" name="Google Shape;1441;p47"/>
          <p:cNvSpPr/>
          <p:nvPr/>
        </p:nvSpPr>
        <p:spPr>
          <a:xfrm>
            <a:off x="731520" y="239572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700"/>
              <a:buFont typeface="Malgun Gothic"/>
              <a:buNone/>
            </a:pPr>
            <a:r>
              <a:rPr b="0" i="0" lang="en-US" sz="1700" u="none" cap="none">
                <a:solidFill>
                  <a:srgbClr val="DCE6F5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정확도와 우선순위의 연결</a:t>
            </a:r>
            <a:endParaRPr b="0" i="0" sz="1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2" name="Google Shape;1442;p47"/>
          <p:cNvSpPr/>
          <p:nvPr/>
        </p:nvSpPr>
        <p:spPr>
          <a:xfrm>
            <a:off x="731520" y="3950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질문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3" name="Google Shape;1443;p47"/>
          <p:cNvSpPr/>
          <p:nvPr/>
        </p:nvSpPr>
        <p:spPr>
          <a:xfrm>
            <a:off x="731520" y="4334256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algun Gothic"/>
              <a:buNone/>
            </a:pPr>
            <a:r>
              <a:rPr b="1" i="0" lang="en-US" sz="220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측정오류가 실제 의사결정을 바꾸는가?</a:t>
            </a:r>
            <a:endParaRPr b="0" i="0" sz="2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4" name="Google Shape;1444;p47"/>
          <p:cNvSpPr/>
          <p:nvPr/>
        </p:nvSpPr>
        <p:spPr>
          <a:xfrm>
            <a:off x="731520" y="61081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1050"/>
              <a:buFont typeface="Malgun Gothic"/>
              <a:buNone/>
            </a:pPr>
            <a:r>
              <a:t/>
            </a:r>
            <a:endParaRPr b="0" i="0" sz="10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5" name="Google Shape;1445;p47"/>
          <p:cNvSpPr/>
          <p:nvPr/>
        </p:nvSpPr>
        <p:spPr>
          <a:xfrm>
            <a:off x="10698480" y="610819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FC0D8"/>
              </a:buClr>
              <a:buSzPts val="900"/>
              <a:buFont typeface="Malgun Gothic"/>
              <a:buNone/>
            </a:pPr>
            <a:r>
              <a:t/>
            </a:r>
            <a:endParaRPr b="0" i="0" sz="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48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2" name="Google Shape;1452;p48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3" name="Google Shape;1453;p48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방법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4" name="Google Shape;1454;p48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5" name="Google Shape;1455;p48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6" name="Google Shape;1456;p48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7" name="Google Shape;1457;p48"/>
          <p:cNvSpPr/>
          <p:nvPr/>
        </p:nvSpPr>
        <p:spPr>
          <a:xfrm>
            <a:off x="566928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AF1FF"/>
          </a:solidFill>
          <a:ln cap="flat" cmpd="sng" w="1395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58" name="Google Shape;1458;p48"/>
          <p:cNvSpPr/>
          <p:nvPr/>
        </p:nvSpPr>
        <p:spPr>
          <a:xfrm>
            <a:off x="731520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9" name="Google Shape;1459;p48"/>
          <p:cNvSpPr/>
          <p:nvPr/>
        </p:nvSpPr>
        <p:spPr>
          <a:xfrm>
            <a:off x="1225296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oracle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0" name="Google Shape;1460;p48"/>
          <p:cNvSpPr/>
          <p:nvPr/>
        </p:nvSpPr>
        <p:spPr>
          <a:xfrm>
            <a:off x="1225296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라벨을 기준 우선순위로 설정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1" name="Google Shape;1461;p48"/>
          <p:cNvSpPr/>
          <p:nvPr/>
        </p:nvSpPr>
        <p:spPr>
          <a:xfrm>
            <a:off x="4389120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7F7F7"/>
          </a:solidFill>
          <a:ln cap="flat" cmpd="sng" w="1395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62" name="Google Shape;1462;p48"/>
          <p:cNvSpPr/>
          <p:nvPr/>
        </p:nvSpPr>
        <p:spPr>
          <a:xfrm>
            <a:off x="4553712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3" name="Google Shape;1463;p48"/>
          <p:cNvSpPr/>
          <p:nvPr/>
        </p:nvSpPr>
        <p:spPr>
          <a:xfrm>
            <a:off x="5047488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 예측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4" name="Google Shape;1464;p48"/>
          <p:cNvSpPr/>
          <p:nvPr/>
        </p:nvSpPr>
        <p:spPr>
          <a:xfrm>
            <a:off x="5047488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라벨로 동일 분석 수행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5" name="Google Shape;1465;p48"/>
          <p:cNvSpPr/>
          <p:nvPr/>
        </p:nvSpPr>
        <p:spPr>
          <a:xfrm>
            <a:off x="8211312" y="1627632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CECE9"/>
          </a:solidFill>
          <a:ln cap="flat" cmpd="sng" w="1395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66" name="Google Shape;1466;p48"/>
          <p:cNvSpPr/>
          <p:nvPr/>
        </p:nvSpPr>
        <p:spPr>
          <a:xfrm>
            <a:off x="8375904" y="1792224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7" name="Google Shape;1467;p48"/>
          <p:cNvSpPr/>
          <p:nvPr/>
        </p:nvSpPr>
        <p:spPr>
          <a:xfrm>
            <a:off x="8869680" y="177393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Single 예측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8" name="Google Shape;1468;p48"/>
          <p:cNvSpPr/>
          <p:nvPr/>
        </p:nvSpPr>
        <p:spPr>
          <a:xfrm>
            <a:off x="8869680" y="224942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라벨로 동일 분석 수행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9" name="Google Shape;1469;p48"/>
          <p:cNvSpPr/>
          <p:nvPr/>
        </p:nvSpPr>
        <p:spPr>
          <a:xfrm>
            <a:off x="566928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0EDFA"/>
          </a:solidFill>
          <a:ln cap="flat" cmpd="sng" w="1395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70" name="Google Shape;1470;p48"/>
          <p:cNvSpPr/>
          <p:nvPr/>
        </p:nvSpPr>
        <p:spPr>
          <a:xfrm>
            <a:off x="731520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1" name="Google Shape;1471;p48"/>
          <p:cNvSpPr/>
          <p:nvPr/>
        </p:nvSpPr>
        <p:spPr>
          <a:xfrm>
            <a:off x="1225296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Rating 모델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2" name="Google Shape;1472;p48"/>
          <p:cNvSpPr/>
          <p:nvPr/>
        </p:nvSpPr>
        <p:spPr>
          <a:xfrm>
            <a:off x="1225296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Ridge 추정식 적용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3" name="Google Shape;1473;p48"/>
          <p:cNvSpPr/>
          <p:nvPr/>
        </p:nvSpPr>
        <p:spPr>
          <a:xfrm>
            <a:off x="4389120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FFF7DF"/>
          </a:solidFill>
          <a:ln cap="flat" cmpd="sng" w="13950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74" name="Google Shape;1474;p48"/>
          <p:cNvSpPr/>
          <p:nvPr/>
        </p:nvSpPr>
        <p:spPr>
          <a:xfrm>
            <a:off x="4553712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5" name="Google Shape;1475;p48"/>
          <p:cNvSpPr/>
          <p:nvPr/>
        </p:nvSpPr>
        <p:spPr>
          <a:xfrm>
            <a:off x="5047488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Priority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6" name="Google Shape;1476;p48"/>
          <p:cNvSpPr/>
          <p:nvPr/>
        </p:nvSpPr>
        <p:spPr>
          <a:xfrm>
            <a:off x="5047488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IPA·Q2 기준 적용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7" name="Google Shape;1477;p48"/>
          <p:cNvSpPr/>
          <p:nvPr/>
        </p:nvSpPr>
        <p:spPr>
          <a:xfrm>
            <a:off x="8211312" y="3566160"/>
            <a:ext cx="3438144" cy="1481328"/>
          </a:xfrm>
          <a:prstGeom prst="roundRect">
            <a:avLst>
              <a:gd fmla="val 4938" name="adj"/>
            </a:avLst>
          </a:prstGeom>
          <a:solidFill>
            <a:srgbClr val="EAF7F1"/>
          </a:solidFill>
          <a:ln cap="flat" cmpd="sng" w="1395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78" name="Google Shape;1478;p48"/>
          <p:cNvSpPr/>
          <p:nvPr/>
        </p:nvSpPr>
        <p:spPr>
          <a:xfrm>
            <a:off x="8375904" y="3730752"/>
            <a:ext cx="438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100"/>
              <a:buFont typeface="Malgun Gothic"/>
              <a:buNone/>
            </a:pPr>
            <a:r>
              <a:rPr b="1" i="0" lang="en-US" sz="11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1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9" name="Google Shape;1479;p48"/>
          <p:cNvSpPr/>
          <p:nvPr/>
        </p:nvSpPr>
        <p:spPr>
          <a:xfrm>
            <a:off x="8869680" y="371246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600"/>
              <a:buFont typeface="Malgun Gothic"/>
              <a:buNone/>
            </a:pPr>
            <a:r>
              <a:rPr b="1" i="0" lang="en-US" sz="16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</a:t>
            </a:r>
            <a:endParaRPr b="0" i="0" sz="16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0" name="Google Shape;1480;p48"/>
          <p:cNvSpPr/>
          <p:nvPr/>
        </p:nvSpPr>
        <p:spPr>
          <a:xfrm>
            <a:off x="8869680" y="4187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순위·Top 5·Q2 보존 측정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1" name="Google Shape;1481;p48"/>
          <p:cNvSpPr/>
          <p:nvPr/>
        </p:nvSpPr>
        <p:spPr>
          <a:xfrm>
            <a:off x="932688" y="5596128"/>
            <a:ext cx="4882896" cy="658368"/>
          </a:xfrm>
          <a:prstGeom prst="roundRect">
            <a:avLst>
              <a:gd fmla="val 8333" name="adj"/>
            </a:avLst>
          </a:prstGeom>
          <a:solidFill>
            <a:srgbClr val="EAF1FF"/>
          </a:solidFill>
          <a:ln cap="flat" cmpd="sng" w="11425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82" name="Google Shape;1482;p48"/>
          <p:cNvSpPr/>
          <p:nvPr/>
        </p:nvSpPr>
        <p:spPr>
          <a:xfrm>
            <a:off x="1115568" y="5751576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고정 · 입력, 별점모형, 임계값, 우선순위 산식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3" name="Google Shape;1483;p48"/>
          <p:cNvSpPr/>
          <p:nvPr/>
        </p:nvSpPr>
        <p:spPr>
          <a:xfrm>
            <a:off x="6364224" y="5596128"/>
            <a:ext cx="4882896" cy="658368"/>
          </a:xfrm>
          <a:prstGeom prst="roundRect">
            <a:avLst>
              <a:gd fmla="val 8333" name="adj"/>
            </a:avLst>
          </a:prstGeom>
          <a:solidFill>
            <a:srgbClr val="EAF7F1"/>
          </a:solidFill>
          <a:ln cap="flat" cmpd="sng" w="11425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84" name="Google Shape;1484;p48"/>
          <p:cNvSpPr/>
          <p:nvPr/>
        </p:nvSpPr>
        <p:spPr>
          <a:xfrm>
            <a:off x="6547104" y="5751576"/>
            <a:ext cx="45171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120"/>
              <a:buFont typeface="Malgun Gothic"/>
              <a:buNone/>
            </a:pPr>
            <a:r>
              <a:rPr b="1" i="0" lang="en-US" sz="11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· RQ1 라벨만 Gold·Multi·Single로 교체</a:t>
            </a:r>
            <a:endParaRPr b="0" i="0" sz="11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49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1" name="Google Shape;1491;p49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2" name="Google Shape;1492;p49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우선순위 보존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93" name="Google Shape;1493;p49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4" name="Google Shape;1494;p49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5" name="Google Shape;1495;p49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6" name="Google Shape;1496;p49"/>
          <p:cNvSpPr/>
          <p:nvPr/>
        </p:nvSpPr>
        <p:spPr>
          <a:xfrm>
            <a:off x="694944" y="160934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7" name="Google Shape;1497;p49"/>
          <p:cNvSpPr/>
          <p:nvPr/>
        </p:nvSpPr>
        <p:spPr>
          <a:xfrm>
            <a:off x="694944" y="1975104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Spearman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8" name="Google Shape;1498;p49"/>
          <p:cNvSpPr/>
          <p:nvPr/>
        </p:nvSpPr>
        <p:spPr>
          <a:xfrm>
            <a:off x="1847088" y="2002536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499" name="Google Shape;1499;p49"/>
          <p:cNvSpPr/>
          <p:nvPr/>
        </p:nvSpPr>
        <p:spPr>
          <a:xfrm>
            <a:off x="1847088" y="2002536"/>
            <a:ext cx="2936687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00" name="Google Shape;1500;p49"/>
          <p:cNvSpPr/>
          <p:nvPr/>
        </p:nvSpPr>
        <p:spPr>
          <a:xfrm>
            <a:off x="5367528" y="1956816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0.868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1" name="Google Shape;1501;p49"/>
          <p:cNvSpPr/>
          <p:nvPr/>
        </p:nvSpPr>
        <p:spPr>
          <a:xfrm>
            <a:off x="694944" y="2688336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순위 안정성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2" name="Google Shape;1502;p49"/>
          <p:cNvSpPr/>
          <p:nvPr/>
        </p:nvSpPr>
        <p:spPr>
          <a:xfrm>
            <a:off x="1847088" y="2715768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03" name="Google Shape;1503;p49"/>
          <p:cNvSpPr/>
          <p:nvPr/>
        </p:nvSpPr>
        <p:spPr>
          <a:xfrm>
            <a:off x="1847088" y="2715768"/>
            <a:ext cx="2199132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04" name="Google Shape;1504;p49"/>
          <p:cNvSpPr/>
          <p:nvPr/>
        </p:nvSpPr>
        <p:spPr>
          <a:xfrm>
            <a:off x="5367528" y="2670048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1.75칸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5" name="Google Shape;1505;p49"/>
          <p:cNvSpPr/>
          <p:nvPr/>
        </p:nvSpPr>
        <p:spPr>
          <a:xfrm>
            <a:off x="694944" y="3401568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6" name="Google Shape;1506;p49"/>
          <p:cNvSpPr/>
          <p:nvPr/>
        </p:nvSpPr>
        <p:spPr>
          <a:xfrm>
            <a:off x="1847088" y="3429000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07" name="Google Shape;1507;p49"/>
          <p:cNvSpPr/>
          <p:nvPr/>
        </p:nvSpPr>
        <p:spPr>
          <a:xfrm>
            <a:off x="1847088" y="3429000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08" name="Google Shape;1508;p49"/>
          <p:cNvSpPr/>
          <p:nvPr/>
        </p:nvSpPr>
        <p:spPr>
          <a:xfrm>
            <a:off x="5367528" y="33832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 / 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9" name="Google Shape;1509;p49"/>
          <p:cNvSpPr/>
          <p:nvPr/>
        </p:nvSpPr>
        <p:spPr>
          <a:xfrm>
            <a:off x="694944" y="4114800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Jaccard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0" name="Google Shape;1510;p49"/>
          <p:cNvSpPr/>
          <p:nvPr/>
        </p:nvSpPr>
        <p:spPr>
          <a:xfrm>
            <a:off x="1847088" y="4142232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1" name="Google Shape;1511;p49"/>
          <p:cNvSpPr/>
          <p:nvPr/>
        </p:nvSpPr>
        <p:spPr>
          <a:xfrm>
            <a:off x="1847088" y="4142232"/>
            <a:ext cx="1691640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2" name="Google Shape;1512;p49"/>
          <p:cNvSpPr/>
          <p:nvPr/>
        </p:nvSpPr>
        <p:spPr>
          <a:xfrm>
            <a:off x="5367528" y="40965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0.500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3" name="Google Shape;1513;p49"/>
          <p:cNvSpPr/>
          <p:nvPr/>
        </p:nvSpPr>
        <p:spPr>
          <a:xfrm>
            <a:off x="694944" y="4828032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안정성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4" name="Google Shape;1514;p49"/>
          <p:cNvSpPr/>
          <p:nvPr/>
        </p:nvSpPr>
        <p:spPr>
          <a:xfrm>
            <a:off x="1847088" y="4855464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5" name="Google Shape;1515;p49"/>
          <p:cNvSpPr/>
          <p:nvPr/>
        </p:nvSpPr>
        <p:spPr>
          <a:xfrm>
            <a:off x="1847088" y="4855464"/>
            <a:ext cx="2029968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16" name="Google Shape;1516;p49"/>
          <p:cNvSpPr/>
          <p:nvPr/>
        </p:nvSpPr>
        <p:spPr>
          <a:xfrm>
            <a:off x="5367528" y="4809744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 flips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7" name="Google Shape;1517;p49"/>
          <p:cNvSpPr/>
          <p:nvPr/>
        </p:nvSpPr>
        <p:spPr>
          <a:xfrm>
            <a:off x="6327648" y="160934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LLM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8" name="Google Shape;1518;p49"/>
          <p:cNvSpPr/>
          <p:nvPr/>
        </p:nvSpPr>
        <p:spPr>
          <a:xfrm>
            <a:off x="6327648" y="197510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Spearman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9" name="Google Shape;1519;p49"/>
          <p:cNvSpPr/>
          <p:nvPr/>
        </p:nvSpPr>
        <p:spPr>
          <a:xfrm>
            <a:off x="7589520" y="2002536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0" name="Google Shape;1520;p49"/>
          <p:cNvSpPr/>
          <p:nvPr/>
        </p:nvSpPr>
        <p:spPr>
          <a:xfrm>
            <a:off x="7589520" y="2002536"/>
            <a:ext cx="2261083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1" name="Google Shape;1521;p49"/>
          <p:cNvSpPr/>
          <p:nvPr/>
        </p:nvSpPr>
        <p:spPr>
          <a:xfrm>
            <a:off x="10625328" y="1956816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0.785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2" name="Google Shape;1522;p49"/>
          <p:cNvSpPr/>
          <p:nvPr/>
        </p:nvSpPr>
        <p:spPr>
          <a:xfrm>
            <a:off x="6327648" y="268833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순위 안정성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3" name="Google Shape;1523;p49"/>
          <p:cNvSpPr/>
          <p:nvPr/>
        </p:nvSpPr>
        <p:spPr>
          <a:xfrm>
            <a:off x="7589520" y="2715768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4" name="Google Shape;1524;p49"/>
          <p:cNvSpPr/>
          <p:nvPr/>
        </p:nvSpPr>
        <p:spPr>
          <a:xfrm>
            <a:off x="7589520" y="2715768"/>
            <a:ext cx="1440180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5" name="Google Shape;1525;p49"/>
          <p:cNvSpPr/>
          <p:nvPr/>
        </p:nvSpPr>
        <p:spPr>
          <a:xfrm>
            <a:off x="10625328" y="2670048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2.50칸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6" name="Google Shape;1526;p49"/>
          <p:cNvSpPr/>
          <p:nvPr/>
        </p:nvSpPr>
        <p:spPr>
          <a:xfrm>
            <a:off x="6327648" y="340156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7" name="Google Shape;1527;p49"/>
          <p:cNvSpPr/>
          <p:nvPr/>
        </p:nvSpPr>
        <p:spPr>
          <a:xfrm>
            <a:off x="7589520" y="3429000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8" name="Google Shape;1528;p49"/>
          <p:cNvSpPr/>
          <p:nvPr/>
        </p:nvSpPr>
        <p:spPr>
          <a:xfrm>
            <a:off x="7589520" y="3429000"/>
            <a:ext cx="2304288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29" name="Google Shape;1529;p49"/>
          <p:cNvSpPr/>
          <p:nvPr/>
        </p:nvSpPr>
        <p:spPr>
          <a:xfrm>
            <a:off x="10625328" y="33832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 / 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0" name="Google Shape;1530;p49"/>
          <p:cNvSpPr/>
          <p:nvPr/>
        </p:nvSpPr>
        <p:spPr>
          <a:xfrm>
            <a:off x="6327648" y="411480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Jaccard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1" name="Google Shape;1531;p49"/>
          <p:cNvSpPr/>
          <p:nvPr/>
        </p:nvSpPr>
        <p:spPr>
          <a:xfrm>
            <a:off x="7589520" y="4142232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32" name="Google Shape;1532;p49"/>
          <p:cNvSpPr/>
          <p:nvPr/>
        </p:nvSpPr>
        <p:spPr>
          <a:xfrm>
            <a:off x="7589520" y="4142232"/>
            <a:ext cx="360045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33" name="Google Shape;1533;p49"/>
          <p:cNvSpPr/>
          <p:nvPr/>
        </p:nvSpPr>
        <p:spPr>
          <a:xfrm>
            <a:off x="10625328" y="409651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0.125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4" name="Google Shape;1534;p49"/>
          <p:cNvSpPr/>
          <p:nvPr/>
        </p:nvSpPr>
        <p:spPr>
          <a:xfrm>
            <a:off x="6327648" y="4828032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안정성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5" name="Google Shape;1535;p49"/>
          <p:cNvSpPr/>
          <p:nvPr/>
        </p:nvSpPr>
        <p:spPr>
          <a:xfrm>
            <a:off x="7589520" y="4855464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36" name="Google Shape;1536;p49"/>
          <p:cNvSpPr/>
          <p:nvPr/>
        </p:nvSpPr>
        <p:spPr>
          <a:xfrm>
            <a:off x="7589520" y="4855464"/>
            <a:ext cx="864108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37" name="Google Shape;1537;p49"/>
          <p:cNvSpPr/>
          <p:nvPr/>
        </p:nvSpPr>
        <p:spPr>
          <a:xfrm>
            <a:off x="10625328" y="4809744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7 flips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8" name="Google Shape;1538;p49"/>
          <p:cNvSpPr/>
          <p:nvPr/>
        </p:nvSpPr>
        <p:spPr>
          <a:xfrm>
            <a:off x="713232" y="5715000"/>
            <a:ext cx="10607040" cy="502920"/>
          </a:xfrm>
          <a:prstGeom prst="roundRect">
            <a:avLst>
              <a:gd fmla="val 14545" name="adj"/>
            </a:avLst>
          </a:prstGeom>
          <a:solidFill>
            <a:srgbClr val="EAF7F1"/>
          </a:solidFill>
          <a:ln cap="flat" cmpd="sng" w="10150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39" name="Google Shape;1539;p49"/>
          <p:cNvSpPr/>
          <p:nvPr/>
        </p:nvSpPr>
        <p:spPr>
          <a:xfrm>
            <a:off x="960120" y="5806440"/>
            <a:ext cx="10113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의사결정 수준에서 멀티는 Gold 우선순위를 더 잘 보존했다.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50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6" name="Google Shape;1546;p50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7" name="Google Shape;1547;p50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 비교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48" name="Google Shape;1548;p50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9" name="Google Shape;1549;p50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0" name="Google Shape;1550;p50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1" name="Google Shape;1551;p50"/>
          <p:cNvSpPr/>
          <p:nvPr/>
        </p:nvSpPr>
        <p:spPr>
          <a:xfrm>
            <a:off x="6583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FCECE9"/>
          </a:solidFill>
          <a:ln cap="flat" cmpd="sng" w="165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52" name="Google Shape;1552;p50"/>
          <p:cNvSpPr/>
          <p:nvPr/>
        </p:nvSpPr>
        <p:spPr>
          <a:xfrm>
            <a:off x="7955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5개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3" name="Google Shape;1553;p50"/>
          <p:cNvSpPr/>
          <p:nvPr/>
        </p:nvSpPr>
        <p:spPr>
          <a:xfrm>
            <a:off x="7955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Top 5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54" name="Google Shape;1554;p50"/>
          <p:cNvCxnSpPr/>
          <p:nvPr/>
        </p:nvCxnSpPr>
        <p:spPr>
          <a:xfrm>
            <a:off x="30358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5" name="Google Shape;1555;p50"/>
          <p:cNvSpPr/>
          <p:nvPr/>
        </p:nvSpPr>
        <p:spPr>
          <a:xfrm>
            <a:off x="34015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F0EDFA"/>
          </a:solidFill>
          <a:ln cap="flat" cmpd="sng" w="165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56" name="Google Shape;1556;p50"/>
          <p:cNvSpPr/>
          <p:nvPr/>
        </p:nvSpPr>
        <p:spPr>
          <a:xfrm>
            <a:off x="35387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5 / 5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7" name="Google Shape;1557;p50"/>
          <p:cNvSpPr/>
          <p:nvPr/>
        </p:nvSpPr>
        <p:spPr>
          <a:xfrm>
            <a:off x="35387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보존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58" name="Google Shape;1558;p50"/>
          <p:cNvCxnSpPr/>
          <p:nvPr/>
        </p:nvCxnSpPr>
        <p:spPr>
          <a:xfrm>
            <a:off x="57790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9" name="Google Shape;1559;p50"/>
          <p:cNvSpPr/>
          <p:nvPr/>
        </p:nvSpPr>
        <p:spPr>
          <a:xfrm>
            <a:off x="61447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EAF1FF"/>
          </a:solidFill>
          <a:ln cap="flat" cmpd="sng" w="165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60" name="Google Shape;1560;p50"/>
          <p:cNvSpPr/>
          <p:nvPr/>
        </p:nvSpPr>
        <p:spPr>
          <a:xfrm>
            <a:off x="62819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 / 5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1" name="Google Shape;1561;p50"/>
          <p:cNvSpPr/>
          <p:nvPr/>
        </p:nvSpPr>
        <p:spPr>
          <a:xfrm>
            <a:off x="62819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보존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62" name="Google Shape;1562;p50"/>
          <p:cNvCxnSpPr/>
          <p:nvPr/>
        </p:nvCxnSpPr>
        <p:spPr>
          <a:xfrm>
            <a:off x="8522208" y="285292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AAB5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3" name="Google Shape;1563;p50"/>
          <p:cNvSpPr/>
          <p:nvPr/>
        </p:nvSpPr>
        <p:spPr>
          <a:xfrm>
            <a:off x="8887968" y="1920240"/>
            <a:ext cx="2331720" cy="1901952"/>
          </a:xfrm>
          <a:prstGeom prst="roundRect">
            <a:avLst>
              <a:gd fmla="val 3846" name="adj"/>
            </a:avLst>
          </a:prstGeom>
          <a:solidFill>
            <a:srgbClr val="EAF7F1"/>
          </a:solidFill>
          <a:ln cap="flat" cmpd="sng" w="165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64" name="Google Shape;1564;p50"/>
          <p:cNvSpPr/>
          <p:nvPr/>
        </p:nvSpPr>
        <p:spPr>
          <a:xfrm>
            <a:off x="9025128" y="225856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2900"/>
              <a:buFont typeface="Malgun Gothic"/>
              <a:buNone/>
            </a:pPr>
            <a:r>
              <a:rPr b="1" i="0" lang="en-US" sz="29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</a:t>
            </a:r>
            <a:endParaRPr b="0" i="0" sz="29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5" name="Google Shape;1565;p50"/>
          <p:cNvSpPr/>
          <p:nvPr/>
        </p:nvSpPr>
        <p:spPr>
          <a:xfrm>
            <a:off x="9025128" y="29718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20"/>
              <a:buFont typeface="Malgun Gothic"/>
              <a:buNone/>
            </a:pPr>
            <a:r>
              <a:rPr b="1" i="0" lang="en-US" sz="122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교체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6" name="Google Shape;1566;p50"/>
          <p:cNvSpPr/>
          <p:nvPr/>
        </p:nvSpPr>
        <p:spPr>
          <a:xfrm>
            <a:off x="786384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67" name="Google Shape;1567;p50"/>
          <p:cNvSpPr/>
          <p:nvPr/>
        </p:nvSpPr>
        <p:spPr>
          <a:xfrm>
            <a:off x="786384" y="4407408"/>
            <a:ext cx="64008" cy="1097280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68" name="Google Shape;1568;p50"/>
          <p:cNvSpPr/>
          <p:nvPr/>
        </p:nvSpPr>
        <p:spPr>
          <a:xfrm>
            <a:off x="987552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9" name="Google Shape;1569;p50"/>
          <p:cNvSpPr/>
          <p:nvPr/>
        </p:nvSpPr>
        <p:spPr>
          <a:xfrm>
            <a:off x="987552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F03·F04·F06·F07·F10의 J03 모두 보존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0" name="Google Shape;1570;p50"/>
          <p:cNvSpPr/>
          <p:nvPr/>
        </p:nvSpPr>
        <p:spPr>
          <a:xfrm>
            <a:off x="4434840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71" name="Google Shape;1571;p50"/>
          <p:cNvSpPr/>
          <p:nvPr/>
        </p:nvSpPr>
        <p:spPr>
          <a:xfrm>
            <a:off x="4434840" y="4407408"/>
            <a:ext cx="64008" cy="1097280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72" name="Google Shape;1572;p50"/>
          <p:cNvSpPr/>
          <p:nvPr/>
        </p:nvSpPr>
        <p:spPr>
          <a:xfrm>
            <a:off x="4636008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3" name="Google Shape;1573;p50"/>
          <p:cNvSpPr/>
          <p:nvPr/>
        </p:nvSpPr>
        <p:spPr>
          <a:xfrm>
            <a:off x="4636008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F07J03 누락, F05J03 새 진입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4" name="Google Shape;1574;p50"/>
          <p:cNvSpPr/>
          <p:nvPr/>
        </p:nvSpPr>
        <p:spPr>
          <a:xfrm>
            <a:off x="8083296" y="4407408"/>
            <a:ext cx="3319272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75" name="Google Shape;1575;p50"/>
          <p:cNvSpPr/>
          <p:nvPr/>
        </p:nvSpPr>
        <p:spPr>
          <a:xfrm>
            <a:off x="8083296" y="4407408"/>
            <a:ext cx="64008" cy="1097280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76" name="Google Shape;1576;p50"/>
          <p:cNvSpPr/>
          <p:nvPr/>
        </p:nvSpPr>
        <p:spPr>
          <a:xfrm>
            <a:off x="8284464" y="453542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의미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7" name="Google Shape;1577;p50"/>
          <p:cNvSpPr/>
          <p:nvPr/>
        </p:nvSpPr>
        <p:spPr>
          <a:xfrm>
            <a:off x="8284464" y="4910328"/>
            <a:ext cx="2953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RQ1 오차가 최우선 개선과제 하나를 실제로 바꿈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8" name="Google Shape;1578;p50"/>
          <p:cNvSpPr/>
          <p:nvPr/>
        </p:nvSpPr>
        <p:spPr>
          <a:xfrm>
            <a:off x="1033272" y="5925312"/>
            <a:ext cx="10113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 점수 차이를 넘어, 호텔이 먼저 개선할 문제의 구성 자체가 달라진다.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51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5" name="Google Shape;1585;p51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6" name="Google Shape;1586;p51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오류 분해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87" name="Google Shape;1587;p51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8" name="Google Shape;1588;p51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9" name="Google Shape;1589;p51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0" name="Google Shape;1590;p51"/>
          <p:cNvSpPr/>
          <p:nvPr/>
        </p:nvSpPr>
        <p:spPr>
          <a:xfrm>
            <a:off x="694944" y="160934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1" name="Google Shape;1591;p51"/>
          <p:cNvSpPr/>
          <p:nvPr/>
        </p:nvSpPr>
        <p:spPr>
          <a:xfrm>
            <a:off x="694944" y="1975104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2" name="Google Shape;1592;p51"/>
          <p:cNvSpPr/>
          <p:nvPr/>
        </p:nvSpPr>
        <p:spPr>
          <a:xfrm>
            <a:off x="1847088" y="2002536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93" name="Google Shape;1593;p51"/>
          <p:cNvSpPr/>
          <p:nvPr/>
        </p:nvSpPr>
        <p:spPr>
          <a:xfrm>
            <a:off x="1847088" y="2002536"/>
            <a:ext cx="2936687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94" name="Google Shape;1594;p51"/>
          <p:cNvSpPr/>
          <p:nvPr/>
        </p:nvSpPr>
        <p:spPr>
          <a:xfrm>
            <a:off x="5367528" y="1956816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0.868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5" name="Google Shape;1595;p51"/>
          <p:cNvSpPr/>
          <p:nvPr/>
        </p:nvSpPr>
        <p:spPr>
          <a:xfrm>
            <a:off x="694944" y="2688336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Key-only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6" name="Google Shape;1596;p51"/>
          <p:cNvSpPr/>
          <p:nvPr/>
        </p:nvSpPr>
        <p:spPr>
          <a:xfrm>
            <a:off x="1847088" y="2715768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97" name="Google Shape;1597;p51"/>
          <p:cNvSpPr/>
          <p:nvPr/>
        </p:nvSpPr>
        <p:spPr>
          <a:xfrm>
            <a:off x="1847088" y="2715768"/>
            <a:ext cx="3024652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598" name="Google Shape;1598;p51"/>
          <p:cNvSpPr/>
          <p:nvPr/>
        </p:nvSpPr>
        <p:spPr>
          <a:xfrm>
            <a:off x="5367528" y="2670048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0.894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9" name="Google Shape;1599;p51"/>
          <p:cNvSpPr/>
          <p:nvPr/>
        </p:nvSpPr>
        <p:spPr>
          <a:xfrm>
            <a:off x="694944" y="3401568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171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Sentiment-only</a:t>
            </a:r>
            <a:endParaRPr b="0" i="0" sz="1171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0" name="Google Shape;1600;p51"/>
          <p:cNvSpPr/>
          <p:nvPr/>
        </p:nvSpPr>
        <p:spPr>
          <a:xfrm>
            <a:off x="1847088" y="3429000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01" name="Google Shape;1601;p51"/>
          <p:cNvSpPr/>
          <p:nvPr/>
        </p:nvSpPr>
        <p:spPr>
          <a:xfrm>
            <a:off x="1847088" y="3429000"/>
            <a:ext cx="3234416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02" name="Google Shape;1602;p51"/>
          <p:cNvSpPr/>
          <p:nvPr/>
        </p:nvSpPr>
        <p:spPr>
          <a:xfrm>
            <a:off x="5367528" y="338328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0.956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3" name="Google Shape;1603;p51"/>
          <p:cNvSpPr/>
          <p:nvPr/>
        </p:nvSpPr>
        <p:spPr>
          <a:xfrm>
            <a:off x="694944" y="4114800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4" name="Google Shape;1604;p51"/>
          <p:cNvSpPr/>
          <p:nvPr/>
        </p:nvSpPr>
        <p:spPr>
          <a:xfrm>
            <a:off x="1847088" y="4142232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05" name="Google Shape;1605;p51"/>
          <p:cNvSpPr/>
          <p:nvPr/>
        </p:nvSpPr>
        <p:spPr>
          <a:xfrm>
            <a:off x="1847088" y="4142232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06" name="Google Shape;1606;p51"/>
          <p:cNvSpPr/>
          <p:nvPr/>
        </p:nvSpPr>
        <p:spPr>
          <a:xfrm>
            <a:off x="5367528" y="40965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 / 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7" name="Google Shape;1607;p51"/>
          <p:cNvSpPr/>
          <p:nvPr/>
        </p:nvSpPr>
        <p:spPr>
          <a:xfrm>
            <a:off x="694944" y="4828032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안정성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8" name="Google Shape;1608;p51"/>
          <p:cNvSpPr/>
          <p:nvPr/>
        </p:nvSpPr>
        <p:spPr>
          <a:xfrm>
            <a:off x="1847088" y="4855464"/>
            <a:ext cx="338328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09" name="Google Shape;1609;p51"/>
          <p:cNvSpPr/>
          <p:nvPr/>
        </p:nvSpPr>
        <p:spPr>
          <a:xfrm>
            <a:off x="1847088" y="4855464"/>
            <a:ext cx="2029968" cy="256032"/>
          </a:xfrm>
          <a:prstGeom prst="roundRect">
            <a:avLst>
              <a:gd fmla="val 21429" name="adj"/>
            </a:avLst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0" name="Google Shape;1610;p51"/>
          <p:cNvSpPr/>
          <p:nvPr/>
        </p:nvSpPr>
        <p:spPr>
          <a:xfrm>
            <a:off x="5367528" y="4809744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 flips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1" name="Google Shape;1611;p51"/>
          <p:cNvSpPr/>
          <p:nvPr/>
        </p:nvSpPr>
        <p:spPr>
          <a:xfrm>
            <a:off x="6327648" y="160934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6C7A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LLM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2" name="Google Shape;1612;p51"/>
          <p:cNvSpPr/>
          <p:nvPr/>
        </p:nvSpPr>
        <p:spPr>
          <a:xfrm>
            <a:off x="6327648" y="197510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3" name="Google Shape;1613;p51"/>
          <p:cNvSpPr/>
          <p:nvPr/>
        </p:nvSpPr>
        <p:spPr>
          <a:xfrm>
            <a:off x="7589520" y="2002536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4" name="Google Shape;1614;p51"/>
          <p:cNvSpPr/>
          <p:nvPr/>
        </p:nvSpPr>
        <p:spPr>
          <a:xfrm>
            <a:off x="7589520" y="2002536"/>
            <a:ext cx="2261083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5" name="Google Shape;1615;p51"/>
          <p:cNvSpPr/>
          <p:nvPr/>
        </p:nvSpPr>
        <p:spPr>
          <a:xfrm>
            <a:off x="10625328" y="1956816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0.785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6" name="Google Shape;1616;p51"/>
          <p:cNvSpPr/>
          <p:nvPr/>
        </p:nvSpPr>
        <p:spPr>
          <a:xfrm>
            <a:off x="6327648" y="268833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Key-only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7" name="Google Shape;1617;p51"/>
          <p:cNvSpPr/>
          <p:nvPr/>
        </p:nvSpPr>
        <p:spPr>
          <a:xfrm>
            <a:off x="7589520" y="2715768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8" name="Google Shape;1618;p51"/>
          <p:cNvSpPr/>
          <p:nvPr/>
        </p:nvSpPr>
        <p:spPr>
          <a:xfrm>
            <a:off x="7589520" y="2715768"/>
            <a:ext cx="2050816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19" name="Google Shape;1619;p51"/>
          <p:cNvSpPr/>
          <p:nvPr/>
        </p:nvSpPr>
        <p:spPr>
          <a:xfrm>
            <a:off x="10625328" y="2670048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0.712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0" name="Google Shape;1620;p51"/>
          <p:cNvSpPr/>
          <p:nvPr/>
        </p:nvSpPr>
        <p:spPr>
          <a:xfrm>
            <a:off x="6327648" y="3401568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Sentiment-only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1" name="Google Shape;1621;p51"/>
          <p:cNvSpPr/>
          <p:nvPr/>
        </p:nvSpPr>
        <p:spPr>
          <a:xfrm>
            <a:off x="7589520" y="3429000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2" name="Google Shape;1622;p51"/>
          <p:cNvSpPr/>
          <p:nvPr/>
        </p:nvSpPr>
        <p:spPr>
          <a:xfrm>
            <a:off x="7589520" y="3429000"/>
            <a:ext cx="2592324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3" name="Google Shape;1623;p51"/>
          <p:cNvSpPr/>
          <p:nvPr/>
        </p:nvSpPr>
        <p:spPr>
          <a:xfrm>
            <a:off x="10625328" y="33832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0.900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4" name="Google Shape;1624;p51"/>
          <p:cNvSpPr/>
          <p:nvPr/>
        </p:nvSpPr>
        <p:spPr>
          <a:xfrm>
            <a:off x="6327648" y="411480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5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5" name="Google Shape;1625;p51"/>
          <p:cNvSpPr/>
          <p:nvPr/>
        </p:nvSpPr>
        <p:spPr>
          <a:xfrm>
            <a:off x="7589520" y="4142232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6" name="Google Shape;1626;p51"/>
          <p:cNvSpPr/>
          <p:nvPr/>
        </p:nvSpPr>
        <p:spPr>
          <a:xfrm>
            <a:off x="7589520" y="4142232"/>
            <a:ext cx="2304288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27" name="Google Shape;1627;p51"/>
          <p:cNvSpPr/>
          <p:nvPr/>
        </p:nvSpPr>
        <p:spPr>
          <a:xfrm>
            <a:off x="10625328" y="409651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 / 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8" name="Google Shape;1628;p51"/>
          <p:cNvSpPr/>
          <p:nvPr/>
        </p:nvSpPr>
        <p:spPr>
          <a:xfrm>
            <a:off x="6327648" y="4828032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Q2 안정성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9" name="Google Shape;1629;p51"/>
          <p:cNvSpPr/>
          <p:nvPr/>
        </p:nvSpPr>
        <p:spPr>
          <a:xfrm>
            <a:off x="7589520" y="4855464"/>
            <a:ext cx="2880360" cy="256032"/>
          </a:xfrm>
          <a:prstGeom prst="roundRect">
            <a:avLst>
              <a:gd fmla="val 21429" name="adj"/>
            </a:avLst>
          </a:prstGeom>
          <a:solidFill>
            <a:srgbClr val="E3E8EF"/>
          </a:solidFill>
          <a:ln cap="flat" cmpd="sng" w="1270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30" name="Google Shape;1630;p51"/>
          <p:cNvSpPr/>
          <p:nvPr/>
        </p:nvSpPr>
        <p:spPr>
          <a:xfrm>
            <a:off x="7589520" y="4855464"/>
            <a:ext cx="864108" cy="256032"/>
          </a:xfrm>
          <a:prstGeom prst="roundRect">
            <a:avLst>
              <a:gd fmla="val 21429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31" name="Google Shape;1631;p51"/>
          <p:cNvSpPr/>
          <p:nvPr/>
        </p:nvSpPr>
        <p:spPr>
          <a:xfrm>
            <a:off x="10625328" y="4809744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7 flips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2" name="Google Shape;1632;p51"/>
          <p:cNvSpPr/>
          <p:nvPr/>
        </p:nvSpPr>
        <p:spPr>
          <a:xfrm>
            <a:off x="713232" y="5715000"/>
            <a:ext cx="10607040" cy="502920"/>
          </a:xfrm>
          <a:prstGeom prst="roundRect">
            <a:avLst>
              <a:gd fmla="val 14545" name="adj"/>
            </a:avLst>
          </a:prstGeom>
          <a:solidFill>
            <a:srgbClr val="EAF7F1"/>
          </a:solidFill>
          <a:ln cap="flat" cmpd="sng" w="10150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33" name="Google Shape;1633;p51"/>
          <p:cNvSpPr/>
          <p:nvPr/>
        </p:nvSpPr>
        <p:spPr>
          <a:xfrm>
            <a:off x="960120" y="5806440"/>
            <a:ext cx="101132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단일의 우선순위 손상은 감성보다 Feature×Journey key 오류에서 더 크게 발생했다.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2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0" name="Google Shape;1640;p52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1" name="Google Shape;1641;p52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수준 차이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42" name="Google Shape;1642;p52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3" name="Google Shape;1643;p52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4" name="Google Shape;1644;p52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5" name="Google Shape;1645;p52"/>
          <p:cNvSpPr/>
          <p:nvPr/>
        </p:nvSpPr>
        <p:spPr>
          <a:xfrm>
            <a:off x="566928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EAF7F1"/>
          </a:solidFill>
          <a:ln cap="flat" cmpd="sng" w="15225">
            <a:solidFill>
              <a:srgbClr val="B8E2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46" name="Google Shape;1646;p52"/>
          <p:cNvSpPr/>
          <p:nvPr/>
        </p:nvSpPr>
        <p:spPr>
          <a:xfrm>
            <a:off x="877824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47" name="Google Shape;1647;p52"/>
          <p:cNvSpPr/>
          <p:nvPr/>
        </p:nvSpPr>
        <p:spPr>
          <a:xfrm>
            <a:off x="950976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Feature만 집계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8" name="Google Shape;1648;p52"/>
          <p:cNvSpPr/>
          <p:nvPr/>
        </p:nvSpPr>
        <p:spPr>
          <a:xfrm>
            <a:off x="896112" y="2487168"/>
            <a:ext cx="4526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Spearman 0.273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Top 5 2/5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Spearman 0.442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Top 5 4/5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9" name="Google Shape;1649;p52"/>
          <p:cNvSpPr/>
          <p:nvPr/>
        </p:nvSpPr>
        <p:spPr>
          <a:xfrm>
            <a:off x="6355080" y="1673352"/>
            <a:ext cx="5257800" cy="4315968"/>
          </a:xfrm>
          <a:prstGeom prst="roundRect">
            <a:avLst>
              <a:gd fmla="val 1695" name="adj"/>
            </a:avLst>
          </a:prstGeom>
          <a:solidFill>
            <a:srgbClr val="FCECE9"/>
          </a:solidFill>
          <a:ln cap="flat" cmpd="sng" w="15225">
            <a:solidFill>
              <a:srgbClr val="F3C2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50" name="Google Shape;1650;p52"/>
          <p:cNvSpPr/>
          <p:nvPr/>
        </p:nvSpPr>
        <p:spPr>
          <a:xfrm>
            <a:off x="6665976" y="1947672"/>
            <a:ext cx="1234440" cy="329184"/>
          </a:xfrm>
          <a:prstGeom prst="roundRect">
            <a:avLst>
              <a:gd fmla="val 44444" name="adj"/>
            </a:avLst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51" name="Google Shape;1651;p52"/>
          <p:cNvSpPr/>
          <p:nvPr/>
        </p:nvSpPr>
        <p:spPr>
          <a:xfrm>
            <a:off x="6739128" y="1975104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× Journey</a:t>
            </a:r>
            <a:endParaRPr b="0" i="0" sz="9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2" name="Google Shape;1652;p52"/>
          <p:cNvSpPr/>
          <p:nvPr/>
        </p:nvSpPr>
        <p:spPr>
          <a:xfrm>
            <a:off x="6684264" y="2487168"/>
            <a:ext cx="4526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Spearman 0.868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Top 5 5/5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Spearman 0.785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400"/>
              <a:buFont typeface="Malgun Gothic"/>
              <a:buChar char="•"/>
            </a:pPr>
            <a:r>
              <a:rPr b="0" i="0" lang="en-US" sz="140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Top 5 4/5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3" name="Google Shape;1653;p52"/>
          <p:cNvSpPr/>
          <p:nvPr/>
        </p:nvSpPr>
        <p:spPr>
          <a:xfrm>
            <a:off x="960120" y="6126480"/>
            <a:ext cx="10287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350"/>
              <a:buFont typeface="Malgun Gothic"/>
              <a:buNone/>
            </a:pPr>
            <a:r>
              <a:rPr b="1" i="0" lang="en-US" sz="13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Spearman ρ는 두 우선순위의 일치도(−1~1)이며, 1에 가까울수록 순위가 비슷하다. F×J에서는 멀티 0.868 &gt; 단일 0.785다.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3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0" name="Google Shape;1660;p53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1" name="Google Shape;1661;p53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 가설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62" name="Google Shape;1662;p53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3" name="Google Shape;1663;p53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4" name="Google Shape;1664;p53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5" name="Google Shape;1665;p53"/>
          <p:cNvSpPr/>
          <p:nvPr/>
        </p:nvSpPr>
        <p:spPr>
          <a:xfrm>
            <a:off x="566928" y="1554480"/>
            <a:ext cx="11045952" cy="585216"/>
          </a:xfrm>
          <a:prstGeom prst="roundRect">
            <a:avLst>
              <a:gd fmla="val 9375" name="adj"/>
            </a:avLst>
          </a:prstGeom>
          <a:solidFill>
            <a:srgbClr val="EAF1FF"/>
          </a:solidFill>
          <a:ln cap="flat" cmpd="sng" w="1015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66" name="Google Shape;1666;p53"/>
          <p:cNvSpPr/>
          <p:nvPr/>
        </p:nvSpPr>
        <p:spPr>
          <a:xfrm>
            <a:off x="749808" y="1673352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7" name="Google Shape;1667;p53"/>
          <p:cNvSpPr/>
          <p:nvPr/>
        </p:nvSpPr>
        <p:spPr>
          <a:xfrm>
            <a:off x="1234440" y="1664208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지표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8" name="Google Shape;1668;p53"/>
          <p:cNvSpPr/>
          <p:nvPr/>
        </p:nvSpPr>
        <p:spPr>
          <a:xfrm>
            <a:off x="2944368" y="166420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F×J Macro Precision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9" name="Google Shape;1669;p53"/>
          <p:cNvSpPr/>
          <p:nvPr/>
        </p:nvSpPr>
        <p:spPr>
          <a:xfrm>
            <a:off x="6949440" y="1664208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CI 하한 &gt; 0, p &lt; .05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0" name="Google Shape;1670;p53"/>
          <p:cNvSpPr/>
          <p:nvPr/>
        </p:nvSpPr>
        <p:spPr>
          <a:xfrm>
            <a:off x="566928" y="2267712"/>
            <a:ext cx="11045952" cy="585216"/>
          </a:xfrm>
          <a:prstGeom prst="roundRect">
            <a:avLst>
              <a:gd fmla="val 9375" name="adj"/>
            </a:avLst>
          </a:prstGeom>
          <a:solidFill>
            <a:srgbClr val="E7F7F7"/>
          </a:solidFill>
          <a:ln cap="flat" cmpd="sng" w="10150">
            <a:solidFill>
              <a:srgbClr val="00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71" name="Google Shape;1671;p53"/>
          <p:cNvSpPr/>
          <p:nvPr/>
        </p:nvSpPr>
        <p:spPr>
          <a:xfrm>
            <a:off x="749808" y="238658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2" name="Google Shape;1672;p53"/>
          <p:cNvSpPr/>
          <p:nvPr/>
        </p:nvSpPr>
        <p:spPr>
          <a:xfrm>
            <a:off x="1234440" y="237744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의사결정 손실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3" name="Google Shape;1673;p53"/>
          <p:cNvSpPr/>
          <p:nvPr/>
        </p:nvSpPr>
        <p:spPr>
          <a:xfrm>
            <a:off x="2944368" y="2377440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2×FP + FN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4" name="Google Shape;1674;p53"/>
          <p:cNvSpPr/>
          <p:nvPr/>
        </p:nvSpPr>
        <p:spPr>
          <a:xfrm>
            <a:off x="6949440" y="2377440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7B5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00A7B5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손실 &lt; 단일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5" name="Google Shape;1675;p53"/>
          <p:cNvSpPr/>
          <p:nvPr/>
        </p:nvSpPr>
        <p:spPr>
          <a:xfrm>
            <a:off x="566928" y="2980944"/>
            <a:ext cx="11045952" cy="585216"/>
          </a:xfrm>
          <a:prstGeom prst="roundRect">
            <a:avLst>
              <a:gd fmla="val 9375" name="adj"/>
            </a:avLst>
          </a:prstGeom>
          <a:solidFill>
            <a:srgbClr val="FCECE9"/>
          </a:solidFill>
          <a:ln cap="flat" cmpd="sng" w="1015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76" name="Google Shape;1676;p53"/>
          <p:cNvSpPr/>
          <p:nvPr/>
        </p:nvSpPr>
        <p:spPr>
          <a:xfrm>
            <a:off x="749808" y="3099816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7" name="Google Shape;1677;p53"/>
          <p:cNvSpPr/>
          <p:nvPr/>
        </p:nvSpPr>
        <p:spPr>
          <a:xfrm>
            <a:off x="1234440" y="3090672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우선순위 보존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8" name="Google Shape;1678;p53"/>
          <p:cNvSpPr/>
          <p:nvPr/>
        </p:nvSpPr>
        <p:spPr>
          <a:xfrm>
            <a:off x="2944368" y="3090672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Gold Top 5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9" name="Google Shape;1679;p53"/>
          <p:cNvSpPr/>
          <p:nvPr/>
        </p:nvSpPr>
        <p:spPr>
          <a:xfrm>
            <a:off x="6949440" y="3090672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≥ 단일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0" name="Google Shape;1680;p53"/>
          <p:cNvSpPr/>
          <p:nvPr/>
        </p:nvSpPr>
        <p:spPr>
          <a:xfrm>
            <a:off x="566928" y="3694176"/>
            <a:ext cx="11045952" cy="585216"/>
          </a:xfrm>
          <a:prstGeom prst="roundRect">
            <a:avLst>
              <a:gd fmla="val 9375" name="adj"/>
            </a:avLst>
          </a:prstGeom>
          <a:solidFill>
            <a:srgbClr val="F0EDFA"/>
          </a:solidFill>
          <a:ln cap="flat" cmpd="sng" w="1015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81" name="Google Shape;1681;p53"/>
          <p:cNvSpPr/>
          <p:nvPr/>
        </p:nvSpPr>
        <p:spPr>
          <a:xfrm>
            <a:off x="749808" y="381304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2" name="Google Shape;1682;p53"/>
          <p:cNvSpPr/>
          <p:nvPr/>
        </p:nvSpPr>
        <p:spPr>
          <a:xfrm>
            <a:off x="1234440" y="3803904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교환관계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3" name="Google Shape;1683;p53"/>
          <p:cNvSpPr/>
          <p:nvPr/>
        </p:nvSpPr>
        <p:spPr>
          <a:xfrm>
            <a:off x="2944368" y="380390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Recall·F1·비용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4" name="Google Shape;1684;p53"/>
          <p:cNvSpPr/>
          <p:nvPr/>
        </p:nvSpPr>
        <p:spPr>
          <a:xfrm>
            <a:off x="6949440" y="3803904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모두 함께 보고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5" name="Google Shape;1685;p53"/>
          <p:cNvSpPr/>
          <p:nvPr/>
        </p:nvSpPr>
        <p:spPr>
          <a:xfrm>
            <a:off x="566928" y="4407408"/>
            <a:ext cx="11045952" cy="585216"/>
          </a:xfrm>
          <a:prstGeom prst="roundRect">
            <a:avLst>
              <a:gd fmla="val 9375" name="adj"/>
            </a:avLst>
          </a:prstGeom>
          <a:solidFill>
            <a:srgbClr val="FFF7DF"/>
          </a:solidFill>
          <a:ln cap="flat" cmpd="sng" w="10150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86" name="Google Shape;1686;p53"/>
          <p:cNvSpPr/>
          <p:nvPr/>
        </p:nvSpPr>
        <p:spPr>
          <a:xfrm>
            <a:off x="749808" y="452628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7" name="Google Shape;1687;p53"/>
          <p:cNvSpPr/>
          <p:nvPr/>
        </p:nvSpPr>
        <p:spPr>
          <a:xfrm>
            <a:off x="1234440" y="4517136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다중검정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8" name="Google Shape;1688;p53"/>
          <p:cNvSpPr/>
          <p:nvPr/>
        </p:nvSpPr>
        <p:spPr>
          <a:xfrm>
            <a:off x="2944368" y="451713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Primary 먼저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9" name="Google Shape;1689;p53"/>
          <p:cNvSpPr/>
          <p:nvPr/>
        </p:nvSpPr>
        <p:spPr>
          <a:xfrm>
            <a:off x="6949440" y="4517136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나머지는 탐색적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0" name="Google Shape;1690;p53"/>
          <p:cNvSpPr/>
          <p:nvPr/>
        </p:nvSpPr>
        <p:spPr>
          <a:xfrm>
            <a:off x="566928" y="5120640"/>
            <a:ext cx="11045952" cy="585216"/>
          </a:xfrm>
          <a:prstGeom prst="roundRect">
            <a:avLst>
              <a:gd fmla="val 9375" name="adj"/>
            </a:avLst>
          </a:prstGeom>
          <a:solidFill>
            <a:srgbClr val="EAF7F1"/>
          </a:solidFill>
          <a:ln cap="flat" cmpd="sng" w="1015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691" name="Google Shape;1691;p53"/>
          <p:cNvSpPr/>
          <p:nvPr/>
        </p:nvSpPr>
        <p:spPr>
          <a:xfrm>
            <a:off x="749808" y="5239512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200"/>
              <a:buFont typeface="Malgun Gothic"/>
              <a:buNone/>
            </a:pPr>
            <a:r>
              <a:rPr b="1" i="0" lang="en-US" sz="12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2" name="Google Shape;1692;p53"/>
          <p:cNvSpPr/>
          <p:nvPr/>
        </p:nvSpPr>
        <p:spPr>
          <a:xfrm>
            <a:off x="1234440" y="5230368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250"/>
              <a:buFont typeface="Malgun Gothic"/>
              <a:buNone/>
            </a:pPr>
            <a:r>
              <a:rPr b="1" i="0" lang="en-US" sz="12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 조건</a:t>
            </a:r>
            <a:endParaRPr b="0" i="0" sz="12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3" name="Google Shape;1693;p53"/>
          <p:cNvSpPr/>
          <p:nvPr/>
        </p:nvSpPr>
        <p:spPr>
          <a:xfrm>
            <a:off x="2944368" y="52303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150"/>
              <a:buFont typeface="Malgun Gothic"/>
              <a:buNone/>
            </a:pPr>
            <a:r>
              <a:rPr b="0" i="0" lang="en-US" sz="115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최근표본 재현 실패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4" name="Google Shape;1694;p53"/>
          <p:cNvSpPr/>
          <p:nvPr/>
        </p:nvSpPr>
        <p:spPr>
          <a:xfrm>
            <a:off x="6949440" y="5230368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150"/>
              <a:buFont typeface="Malgun Gothic"/>
              <a:buNone/>
            </a:pPr>
            <a:r>
              <a:rPr b="1" i="0" lang="en-US" sz="115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 우월 주장 보류</a:t>
            </a:r>
            <a:endParaRPr b="0" i="0" sz="11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5" name="Google Shape;1695;p53"/>
          <p:cNvSpPr/>
          <p:nvPr/>
        </p:nvSpPr>
        <p:spPr>
          <a:xfrm>
            <a:off x="841248" y="5961888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1350"/>
              <a:buFont typeface="Malgun Gothic"/>
              <a:buNone/>
            </a:pPr>
            <a:r>
              <a:rPr b="1" i="0" lang="en-US" sz="135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“멀티가 더 낫다”를 전제로 결론 내리지 않고, 사전 기준을 통과할 때만 조건부로 채택한다.</a:t>
            </a:r>
            <a:endParaRPr b="0" i="0" sz="135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55"/>
          <p:cNvSpPr/>
          <p:nvPr/>
        </p:nvSpPr>
        <p:spPr>
          <a:xfrm>
            <a:off x="411480" y="256032"/>
            <a:ext cx="411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2" name="Google Shape;1702;p55"/>
          <p:cNvSpPr/>
          <p:nvPr/>
        </p:nvSpPr>
        <p:spPr>
          <a:xfrm>
            <a:off x="868680" y="256032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1000"/>
              <a:buFont typeface="Malgun Gothic"/>
              <a:buNone/>
            </a:pPr>
            <a:r>
              <a:t/>
            </a:r>
            <a:endParaRPr b="0" i="0" sz="10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3" name="Google Shape;1703;p55"/>
          <p:cNvSpPr/>
          <p:nvPr/>
        </p:nvSpPr>
        <p:spPr>
          <a:xfrm>
            <a:off x="438912" y="713232"/>
            <a:ext cx="11109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B"/>
              </a:buClr>
              <a:buSzPts val="2700"/>
              <a:buFont typeface="Malgun Gothic"/>
              <a:buNone/>
            </a:pPr>
            <a:r>
              <a:rPr b="1" i="0" lang="en-US" sz="2700" u="none" cap="none">
                <a:solidFill>
                  <a:srgbClr val="1725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교수님께 드릴 핵심</a:t>
            </a:r>
            <a:endParaRPr b="0" i="0" sz="27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04" name="Google Shape;1704;p55"/>
          <p:cNvCxnSpPr/>
          <p:nvPr/>
        </p:nvCxnSpPr>
        <p:spPr>
          <a:xfrm>
            <a:off x="438912" y="135331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5" name="Google Shape;1705;p55"/>
          <p:cNvSpPr/>
          <p:nvPr/>
        </p:nvSpPr>
        <p:spPr>
          <a:xfrm>
            <a:off x="438912" y="6547104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6" name="Google Shape;1706;p55"/>
          <p:cNvSpPr/>
          <p:nvPr/>
        </p:nvSpPr>
        <p:spPr>
          <a:xfrm>
            <a:off x="10789920" y="6528816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A8C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7" name="Google Shape;1707;p55"/>
          <p:cNvSpPr/>
          <p:nvPr/>
        </p:nvSpPr>
        <p:spPr>
          <a:xfrm>
            <a:off x="566928" y="1664208"/>
            <a:ext cx="5349240" cy="1353312"/>
          </a:xfrm>
          <a:prstGeom prst="roundRect">
            <a:avLst>
              <a:gd fmla="val 5405" name="adj"/>
            </a:avLst>
          </a:prstGeom>
          <a:solidFill>
            <a:srgbClr val="EAF1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08" name="Google Shape;1708;p55"/>
          <p:cNvSpPr/>
          <p:nvPr/>
        </p:nvSpPr>
        <p:spPr>
          <a:xfrm>
            <a:off x="566928" y="1664208"/>
            <a:ext cx="64008" cy="1353312"/>
          </a:xfrm>
          <a:prstGeom prst="rect">
            <a:avLst/>
          </a:prstGeom>
          <a:solidFill>
            <a:srgbClr val="377DFF"/>
          </a:solidFill>
          <a:ln cap="flat" cmpd="sng" w="12700">
            <a:solidFill>
              <a:srgbClr val="37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09" name="Google Shape;1709;p55"/>
          <p:cNvSpPr/>
          <p:nvPr/>
        </p:nvSpPr>
        <p:spPr>
          <a:xfrm>
            <a:off x="768096" y="1792224"/>
            <a:ext cx="5001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DFF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37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결정 1 · 멀티의 역할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0" name="Google Shape;1710;p55"/>
          <p:cNvSpPr/>
          <p:nvPr/>
        </p:nvSpPr>
        <p:spPr>
          <a:xfrm>
            <a:off x="768096" y="2167128"/>
            <a:ext cx="4983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멀티에이전트는 모든 과제에 적용하기보다,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잘못된 탐지를 줄여야 할 때 선택적으로 쓰는 방향이 적절하다고 생각합니다.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1" name="Google Shape;1711;p55"/>
          <p:cNvSpPr/>
          <p:nvPr/>
        </p:nvSpPr>
        <p:spPr>
          <a:xfrm>
            <a:off x="6272784" y="1664208"/>
            <a:ext cx="5349240" cy="1353312"/>
          </a:xfrm>
          <a:prstGeom prst="roundRect">
            <a:avLst>
              <a:gd fmla="val 5405" name="adj"/>
            </a:avLst>
          </a:prstGeom>
          <a:solidFill>
            <a:srgbClr val="F0EDFA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12" name="Google Shape;1712;p55"/>
          <p:cNvSpPr/>
          <p:nvPr/>
        </p:nvSpPr>
        <p:spPr>
          <a:xfrm>
            <a:off x="6272784" y="1664208"/>
            <a:ext cx="64008" cy="1353312"/>
          </a:xfrm>
          <a:prstGeom prst="rect">
            <a:avLst/>
          </a:prstGeom>
          <a:solidFill>
            <a:srgbClr val="7667C9"/>
          </a:solidFill>
          <a:ln cap="flat" cmpd="sng" w="12700">
            <a:solidFill>
              <a:srgbClr val="766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13" name="Google Shape;1713;p55"/>
          <p:cNvSpPr/>
          <p:nvPr/>
        </p:nvSpPr>
        <p:spPr>
          <a:xfrm>
            <a:off x="6473952" y="1792224"/>
            <a:ext cx="5001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7C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7667C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결정 2 · 다음 검증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4" name="Google Shape;1714;p55"/>
          <p:cNvSpPr/>
          <p:nvPr/>
        </p:nvSpPr>
        <p:spPr>
          <a:xfrm>
            <a:off x="6473952" y="2167128"/>
            <a:ext cx="4983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lang="en-US" sz="1220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어떻게 </a:t>
            </a: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19,561건으로 확장할 것인가?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5" name="Google Shape;1715;p55"/>
          <p:cNvSpPr/>
          <p:nvPr/>
        </p:nvSpPr>
        <p:spPr>
          <a:xfrm>
            <a:off x="566928" y="3355848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16" name="Google Shape;1716;p55"/>
          <p:cNvSpPr/>
          <p:nvPr/>
        </p:nvSpPr>
        <p:spPr>
          <a:xfrm>
            <a:off x="566928" y="3355848"/>
            <a:ext cx="64008" cy="1371600"/>
          </a:xfrm>
          <a:prstGeom prst="rect">
            <a:avLst/>
          </a:prstGeom>
          <a:solidFill>
            <a:srgbClr val="2F9E72"/>
          </a:solidFill>
          <a:ln cap="flat" cmpd="sng" w="12700">
            <a:solidFill>
              <a:srgbClr val="2F9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17" name="Google Shape;1717;p55"/>
          <p:cNvSpPr/>
          <p:nvPr/>
        </p:nvSpPr>
        <p:spPr>
          <a:xfrm>
            <a:off x="768096" y="3483864"/>
            <a:ext cx="3081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9E72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2F9E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8" name="Google Shape;1718;p55"/>
          <p:cNvSpPr/>
          <p:nvPr/>
        </p:nvSpPr>
        <p:spPr>
          <a:xfrm>
            <a:off x="768096" y="3858768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확장·구조·오류 영향 3개 설계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9" name="Google Shape;1719;p55"/>
          <p:cNvSpPr/>
          <p:nvPr/>
        </p:nvSpPr>
        <p:spPr>
          <a:xfrm>
            <a:off x="4379976" y="3355848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20" name="Google Shape;1720;p55"/>
          <p:cNvSpPr/>
          <p:nvPr/>
        </p:nvSpPr>
        <p:spPr>
          <a:xfrm>
            <a:off x="4379976" y="3355848"/>
            <a:ext cx="64008" cy="1371600"/>
          </a:xfrm>
          <a:prstGeom prst="rect">
            <a:avLst/>
          </a:prstGeom>
          <a:solidFill>
            <a:srgbClr val="F2675A"/>
          </a:solidFill>
          <a:ln cap="flat" cmpd="sng" w="12700">
            <a:solidFill>
              <a:srgbClr val="F26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21" name="Google Shape;1721;p55"/>
          <p:cNvSpPr/>
          <p:nvPr/>
        </p:nvSpPr>
        <p:spPr>
          <a:xfrm>
            <a:off x="4581144" y="3483864"/>
            <a:ext cx="3081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75A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F26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 반영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2" name="Google Shape;1722;p55"/>
          <p:cNvSpPr/>
          <p:nvPr/>
        </p:nvSpPr>
        <p:spPr>
          <a:xfrm>
            <a:off x="4581144" y="3858768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E1–E3 추가 검증으로 구성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3" name="Google Shape;1723;p55"/>
          <p:cNvSpPr/>
          <p:nvPr/>
        </p:nvSpPr>
        <p:spPr>
          <a:xfrm>
            <a:off x="8193024" y="3355848"/>
            <a:ext cx="34290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0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CDD4D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24" name="Google Shape;1724;p55"/>
          <p:cNvSpPr/>
          <p:nvPr/>
        </p:nvSpPr>
        <p:spPr>
          <a:xfrm>
            <a:off x="8193024" y="3355848"/>
            <a:ext cx="64008" cy="1371600"/>
          </a:xfrm>
          <a:prstGeom prst="rect">
            <a:avLst/>
          </a:prstGeom>
          <a:solidFill>
            <a:srgbClr val="E9B949"/>
          </a:solidFill>
          <a:ln cap="flat" cmpd="sng" w="12700">
            <a:solidFill>
              <a:srgbClr val="E9B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25" name="Google Shape;1725;p55"/>
          <p:cNvSpPr/>
          <p:nvPr/>
        </p:nvSpPr>
        <p:spPr>
          <a:xfrm>
            <a:off x="8394192" y="3483864"/>
            <a:ext cx="30815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949"/>
              </a:buClr>
              <a:buSzPts val="1400"/>
              <a:buFont typeface="Malgun Gothic"/>
              <a:buNone/>
            </a:pPr>
            <a:r>
              <a:rPr b="1" i="0" lang="en-US" sz="1400" u="none" cap="none">
                <a:solidFill>
                  <a:srgbClr val="E9B94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</a:t>
            </a:r>
            <a:endParaRPr b="0" i="0" sz="140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6" name="Google Shape;1726;p55"/>
          <p:cNvSpPr/>
          <p:nvPr/>
        </p:nvSpPr>
        <p:spPr>
          <a:xfrm>
            <a:off x="8394192" y="3858768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54A"/>
              </a:buClr>
              <a:buSzPts val="1220"/>
              <a:buFont typeface="Malgun Gothic"/>
              <a:buNone/>
            </a:pPr>
            <a:r>
              <a:rPr b="0" i="0" lang="en-US" sz="1220" u="none" cap="none">
                <a:solidFill>
                  <a:srgbClr val="2635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분석 단위와 판정기준 승인</a:t>
            </a:r>
            <a:endParaRPr b="0" i="0" sz="1220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7" name="Google Shape;1727;p55"/>
          <p:cNvSpPr/>
          <p:nvPr/>
        </p:nvSpPr>
        <p:spPr>
          <a:xfrm>
            <a:off x="987552" y="5376672"/>
            <a:ext cx="10204704" cy="804672"/>
          </a:xfrm>
          <a:prstGeom prst="roundRect">
            <a:avLst>
              <a:gd fmla="val 9091" name="adj"/>
            </a:avLst>
          </a:prstGeom>
          <a:solidFill>
            <a:srgbClr val="17253B"/>
          </a:solidFill>
          <a:ln cap="flat" cmpd="sng" w="12700">
            <a:solidFill>
              <a:srgbClr val="1725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28" name="Google Shape;1728;p55"/>
          <p:cNvSpPr/>
          <p:nvPr/>
        </p:nvSpPr>
        <p:spPr>
          <a:xfrm>
            <a:off x="1261872" y="5559552"/>
            <a:ext cx="965606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algun Gothic"/>
              <a:buNone/>
            </a:pPr>
            <a:r>
              <a:rPr b="1" i="0" lang="en-US" sz="1494" u="non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문장 결론 · 멀티에이전트는 더 비싸지만, F×J에서 과잉 탐지를 줄이고 핵심 우선순위를 더 안전하게 보존한다.</a:t>
            </a:r>
            <a:endParaRPr b="0" i="0" sz="1494" u="non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