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8" roundtripDataSignature="AMtx7miM8hi1CpOfqtPffg1pwbHYwDhg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896835-E566-46DC-AF42-435CE09E4439}">
  <a:tblStyle styleId="{50896835-E566-46DC-AF42-435CE09E443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customschemas.google.com/relationships/presentationmetadata" Target="meta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 name="Google Shape;3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a:p>
        </p:txBody>
      </p:sp>
      <p:sp>
        <p:nvSpPr>
          <p:cNvPr id="232" name="Google Shape;23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a:p>
        </p:txBody>
      </p:sp>
      <p:sp>
        <p:nvSpPr>
          <p:cNvPr id="257" name="Google Shape;25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a:p>
        </p:txBody>
      </p:sp>
      <p:sp>
        <p:nvSpPr>
          <p:cNvPr id="282" name="Google Shape;28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a:p>
        </p:txBody>
      </p:sp>
      <p:sp>
        <p:nvSpPr>
          <p:cNvPr id="307" name="Google Shape;30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115 2 13 14 16 105</a:t>
            </a:r>
            <a:endParaRPr/>
          </a:p>
        </p:txBody>
      </p:sp>
      <p:sp>
        <p:nvSpPr>
          <p:cNvPr id="332" name="Google Shape;33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a:p>
        </p:txBody>
      </p:sp>
      <p:sp>
        <p:nvSpPr>
          <p:cNvPr id="347" name="Google Shape;34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a:p>
        </p:txBody>
      </p:sp>
      <p:sp>
        <p:nvSpPr>
          <p:cNvPr id="357" name="Google Shape;35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115 2 13 14 16 105</a:t>
            </a:r>
            <a:endParaRPr/>
          </a:p>
        </p:txBody>
      </p:sp>
      <p:sp>
        <p:nvSpPr>
          <p:cNvPr id="372" name="Google Shape;372;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a:p>
        </p:txBody>
      </p:sp>
      <p:sp>
        <p:nvSpPr>
          <p:cNvPr id="566" name="Google Shape;566;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 name="Google Shape;636;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 name="Google Shape;700;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3" name="Google Shape;713;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1" name="Google Shape;721;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9" name="Google Shape;739;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1" name="Google Shape;751;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5" name="Google Shape;775;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6" name="Google Shape;776;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6" name="Google Shape;786;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FFFFF"/>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6" name="Shape 16"/>
        <p:cNvGrpSpPr/>
        <p:nvPr/>
      </p:nvGrpSpPr>
      <p:grpSpPr>
        <a:xfrm>
          <a:off x="0" y="0"/>
          <a:ext cx="0" cy="0"/>
          <a:chOff x="0" y="0"/>
          <a:chExt cx="0" cy="0"/>
        </a:xfrm>
      </p:grpSpPr>
      <p:sp>
        <p:nvSpPr>
          <p:cNvPr id="17" name="Google Shape;17;p1"/>
          <p:cNvSpPr/>
          <p:nvPr/>
        </p:nvSpPr>
        <p:spPr>
          <a:xfrm>
            <a:off x="685800" y="960121"/>
            <a:ext cx="10698600" cy="42612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1F2A44"/>
              </a:buClr>
              <a:buSzPts val="3400"/>
              <a:buFont typeface="Malgun Gothic"/>
              <a:buNone/>
            </a:pPr>
            <a:r>
              <a:rPr b="1" i="0" lang="en-US" sz="3400" u="none" cap="none" strike="noStrike">
                <a:solidFill>
                  <a:srgbClr val="1F2A44"/>
                </a:solidFill>
                <a:latin typeface="Malgun Gothic"/>
                <a:ea typeface="Malgun Gothic"/>
                <a:cs typeface="Malgun Gothic"/>
                <a:sym typeface="Malgun Gothic"/>
              </a:rPr>
              <a:t>Who&amp;When 데이터 기반</a:t>
            </a:r>
            <a:endParaRPr b="0" i="0" sz="3400" u="none" cap="none" strike="noStrike">
              <a:solidFill>
                <a:schemeClr val="dk1"/>
              </a:solidFill>
              <a:latin typeface="Malgun Gothic"/>
              <a:ea typeface="Malgun Gothic"/>
              <a:cs typeface="Malgun Gothic"/>
              <a:sym typeface="Malgun Gothic"/>
            </a:endParaRPr>
          </a:p>
          <a:p>
            <a:pPr indent="0" lvl="0" marL="0" marR="0" rtl="0" algn="l">
              <a:spcBef>
                <a:spcPts val="0"/>
              </a:spcBef>
              <a:spcAft>
                <a:spcPts val="0"/>
              </a:spcAft>
              <a:buClr>
                <a:srgbClr val="1F2A44"/>
              </a:buClr>
              <a:buSzPts val="3400"/>
              <a:buFont typeface="Malgun Gothic"/>
              <a:buNone/>
            </a:pPr>
            <a:r>
              <a:rPr b="1" i="0" lang="en-US" sz="3400" u="none" cap="none" strike="noStrike">
                <a:solidFill>
                  <a:srgbClr val="1F2A44"/>
                </a:solidFill>
                <a:latin typeface="Malgun Gothic"/>
                <a:ea typeface="Malgun Gothic"/>
                <a:cs typeface="Malgun Gothic"/>
                <a:sym typeface="Malgun Gothic"/>
              </a:rPr>
              <a:t>Query–Task–Agent 구조 분석</a:t>
            </a:r>
            <a:endParaRPr b="0" i="0" sz="3400" u="none" cap="none" strike="noStrike">
              <a:solidFill>
                <a:schemeClr val="dk1"/>
              </a:solidFill>
              <a:latin typeface="Malgun Gothic"/>
              <a:ea typeface="Malgun Gothic"/>
              <a:cs typeface="Malgun Gothic"/>
              <a:sym typeface="Malgun Gothic"/>
            </a:endParaRPr>
          </a:p>
        </p:txBody>
      </p:sp>
      <p:sp>
        <p:nvSpPr>
          <p:cNvPr id="18" name="Google Shape;18;p1"/>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1</a:t>
            </a:r>
            <a:endParaRPr b="0" i="0" sz="8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 name="Shape 23"/>
        <p:cNvGrpSpPr/>
        <p:nvPr/>
      </p:nvGrpSpPr>
      <p:grpSpPr>
        <a:xfrm>
          <a:off x="0" y="0"/>
          <a:ext cx="0" cy="0"/>
          <a:chOff x="0" y="0"/>
          <a:chExt cx="0" cy="0"/>
        </a:xfrm>
      </p:grpSpPr>
      <p:sp>
        <p:nvSpPr>
          <p:cNvPr id="24" name="Google Shape;24;p2"/>
          <p:cNvSpPr/>
          <p:nvPr/>
        </p:nvSpPr>
        <p:spPr>
          <a:xfrm>
            <a:off x="438900" y="228600"/>
            <a:ext cx="11292900" cy="62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lang="en-US" sz="2200">
                <a:solidFill>
                  <a:srgbClr val="1F2A44"/>
                </a:solidFill>
                <a:latin typeface="Malgun Gothic"/>
                <a:ea typeface="Malgun Gothic"/>
                <a:cs typeface="Malgun Gothic"/>
                <a:sym typeface="Malgun Gothic"/>
              </a:rPr>
              <a:t>지난 면담</a:t>
            </a:r>
            <a:endParaRPr b="0" i="0" sz="2200" u="none" cap="none" strike="noStrike">
              <a:solidFill>
                <a:schemeClr val="dk1"/>
              </a:solidFill>
              <a:latin typeface="Malgun Gothic"/>
              <a:ea typeface="Malgun Gothic"/>
              <a:cs typeface="Malgun Gothic"/>
              <a:sym typeface="Malgun Gothic"/>
            </a:endParaRPr>
          </a:p>
        </p:txBody>
      </p:sp>
      <p:cxnSp>
        <p:nvCxnSpPr>
          <p:cNvPr id="25" name="Google Shape;25;p2"/>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26" name="Google Shape;26;p2"/>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2</a:t>
            </a:r>
            <a:endParaRPr b="0" i="0" sz="800" u="none" cap="none" strike="noStrike">
              <a:solidFill>
                <a:schemeClr val="dk1"/>
              </a:solidFill>
              <a:latin typeface="Malgun Gothic"/>
              <a:ea typeface="Malgun Gothic"/>
              <a:cs typeface="Malgun Gothic"/>
              <a:sym typeface="Malgun Gothic"/>
            </a:endParaRPr>
          </a:p>
        </p:txBody>
      </p:sp>
      <p:graphicFrame>
        <p:nvGraphicFramePr>
          <p:cNvPr id="27" name="Google Shape;27;p2"/>
          <p:cNvGraphicFramePr/>
          <p:nvPr/>
        </p:nvGraphicFramePr>
        <p:xfrm>
          <a:off x="640080" y="1143000"/>
          <a:ext cx="3000000" cy="3000000"/>
        </p:xfrm>
        <a:graphic>
          <a:graphicData uri="http://schemas.openxmlformats.org/drawingml/2006/table">
            <a:tbl>
              <a:tblPr>
                <a:noFill/>
                <a:tableStyleId>{50896835-E566-46DC-AF42-435CE09E4439}</a:tableStyleId>
              </a:tblPr>
              <a:tblGrid>
                <a:gridCol w="2926075"/>
                <a:gridCol w="3291850"/>
                <a:gridCol w="4663450"/>
              </a:tblGrid>
              <a:tr h="929000">
                <a:tc>
                  <a:txBody>
                    <a:bodyPr/>
                    <a:lstStyle/>
                    <a:p>
                      <a:pPr indent="0" lvl="0" marL="0" marR="0" rtl="0" algn="ctr">
                        <a:spcBef>
                          <a:spcPts val="0"/>
                        </a:spcBef>
                        <a:spcAft>
                          <a:spcPts val="0"/>
                        </a:spcAft>
                        <a:buClr>
                          <a:srgbClr val="FFFFFF"/>
                        </a:buClr>
                        <a:buSzPts val="1060"/>
                        <a:buFont typeface="Malgun Gothic"/>
                        <a:buNone/>
                      </a:pPr>
                      <a:r>
                        <a:rPr b="1" lang="en-US" sz="1060">
                          <a:solidFill>
                            <a:srgbClr val="FFFFFF"/>
                          </a:solidFill>
                          <a:latin typeface="Malgun Gothic"/>
                          <a:ea typeface="Malgun Gothic"/>
                          <a:cs typeface="Malgun Gothic"/>
                          <a:sym typeface="Malgun Gothic"/>
                        </a:rPr>
                        <a:t>지난 면담</a:t>
                      </a:r>
                      <a:endParaRPr sz="106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2A44"/>
                    </a:solidFill>
                  </a:tcPr>
                </a:tc>
                <a:tc>
                  <a:txBody>
                    <a:bodyPr/>
                    <a:lstStyle/>
                    <a:p>
                      <a:pPr indent="0" lvl="0" marL="0" marR="0" rtl="0" algn="ctr">
                        <a:spcBef>
                          <a:spcPts val="0"/>
                        </a:spcBef>
                        <a:spcAft>
                          <a:spcPts val="0"/>
                        </a:spcAft>
                        <a:buClr>
                          <a:srgbClr val="FFFFFF"/>
                        </a:buClr>
                        <a:buSzPts val="1060"/>
                        <a:buFont typeface="Malgun Gothic"/>
                        <a:buNone/>
                      </a:pPr>
                      <a:r>
                        <a:rPr b="1" lang="en-US" sz="1060" u="none" cap="none" strike="noStrike">
                          <a:solidFill>
                            <a:srgbClr val="FFFFFF"/>
                          </a:solidFill>
                          <a:latin typeface="Malgun Gothic"/>
                          <a:ea typeface="Malgun Gothic"/>
                          <a:cs typeface="Malgun Gothic"/>
                          <a:sym typeface="Malgun Gothic"/>
                        </a:rPr>
                        <a:t>이번 PPT에서 대응하는 섹션</a:t>
                      </a:r>
                      <a:endParaRPr sz="106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2A44"/>
                    </a:solidFill>
                  </a:tcPr>
                </a:tc>
                <a:tc>
                  <a:txBody>
                    <a:bodyPr/>
                    <a:lstStyle/>
                    <a:p>
                      <a:pPr indent="0" lvl="0" marL="0" marR="0" rtl="0" algn="ctr">
                        <a:spcBef>
                          <a:spcPts val="0"/>
                        </a:spcBef>
                        <a:spcAft>
                          <a:spcPts val="0"/>
                        </a:spcAft>
                        <a:buClr>
                          <a:srgbClr val="FFFFFF"/>
                        </a:buClr>
                        <a:buSzPts val="1060"/>
                        <a:buFont typeface="Malgun Gothic"/>
                        <a:buNone/>
                      </a:pPr>
                      <a:r>
                        <a:rPr b="1" lang="en-US" sz="1060" u="none" cap="none" strike="noStrike">
                          <a:solidFill>
                            <a:srgbClr val="FFFFFF"/>
                          </a:solidFill>
                          <a:latin typeface="Malgun Gothic"/>
                          <a:ea typeface="Malgun Gothic"/>
                          <a:cs typeface="Malgun Gothic"/>
                          <a:sym typeface="Malgun Gothic"/>
                        </a:rPr>
                        <a:t>산출물</a:t>
                      </a:r>
                      <a:endParaRPr sz="106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2A44"/>
                    </a:solidFill>
                  </a:tcPr>
                </a:tc>
              </a:tr>
              <a:tr h="929000">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Who&amp;When 실제 사례 10~20개 정리</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1</a:t>
                      </a:r>
                      <a:r>
                        <a:rPr lang="en-US" sz="1020">
                          <a:solidFill>
                            <a:srgbClr val="111827"/>
                          </a:solidFill>
                          <a:latin typeface="Malgun Gothic"/>
                          <a:ea typeface="Malgun Gothic"/>
                          <a:cs typeface="Malgun Gothic"/>
                          <a:sym typeface="Malgun Gothic"/>
                        </a:rPr>
                        <a:t>4</a:t>
                      </a:r>
                      <a:r>
                        <a:rPr lang="en-US" sz="1020" u="none" cap="none" strike="noStrike">
                          <a:solidFill>
                            <a:srgbClr val="111827"/>
                          </a:solidFill>
                          <a:latin typeface="Malgun Gothic"/>
                          <a:ea typeface="Malgun Gothic"/>
                          <a:cs typeface="Malgun Gothic"/>
                          <a:sym typeface="Malgun Gothic"/>
                        </a:rPr>
                        <a:t>개 사례 분석</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Algorithm Generated </a:t>
                      </a:r>
                      <a:r>
                        <a:rPr lang="en-US" sz="1020">
                          <a:solidFill>
                            <a:srgbClr val="111827"/>
                          </a:solidFill>
                          <a:latin typeface="Malgun Gothic"/>
                          <a:ea typeface="Malgun Gothic"/>
                          <a:cs typeface="Malgun Gothic"/>
                          <a:sym typeface="Malgun Gothic"/>
                        </a:rPr>
                        <a:t>7</a:t>
                      </a:r>
                      <a:r>
                        <a:rPr lang="en-US" sz="1020" u="none" cap="none" strike="noStrike">
                          <a:solidFill>
                            <a:srgbClr val="111827"/>
                          </a:solidFill>
                          <a:latin typeface="Malgun Gothic"/>
                          <a:ea typeface="Malgun Gothic"/>
                          <a:cs typeface="Malgun Gothic"/>
                          <a:sym typeface="Malgun Gothic"/>
                        </a:rPr>
                        <a:t>개 + Hand Crafted 7개</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929000">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query가 어떻게 task로 나뉘고 agent와 연결되는지 분석</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각 사례별</a:t>
                      </a:r>
                      <a:r>
                        <a:rPr lang="en-US" sz="1020">
                          <a:solidFill>
                            <a:srgbClr val="111827"/>
                          </a:solidFill>
                          <a:latin typeface="Malgun Gothic"/>
                          <a:ea typeface="Malgun Gothic"/>
                          <a:cs typeface="Malgun Gothic"/>
                          <a:sym typeface="Malgun Gothic"/>
                        </a:rPr>
                        <a:t> </a:t>
                      </a:r>
                      <a:r>
                        <a:rPr lang="en-US" sz="1020" u="none" cap="none" strike="noStrike">
                          <a:solidFill>
                            <a:srgbClr val="111827"/>
                          </a:solidFill>
                          <a:latin typeface="Malgun Gothic"/>
                          <a:ea typeface="Malgun Gothic"/>
                          <a:cs typeface="Malgun Gothic"/>
                          <a:sym typeface="Malgun Gothic"/>
                        </a:rPr>
                        <a:t> 표</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query 조건 → subtask → 담당 agent → 실제 agent → 문제점</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929000">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agent를 실제로 만들려면 뭐가 필요한지 기술적으로 조사</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구현 기술 조사</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LLM backend, system prompt, router, tool, memory, logging, evaluation</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929000">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조건 손실, 약한 성공은 지금 데이터로 볼 수 있는지 판단</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가능성 판단</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조건 손실은 일부 가능, 약한 성공은 추가 성공 </a:t>
                      </a:r>
                      <a:r>
                        <a:rPr lang="en-US" sz="1020">
                          <a:solidFill>
                            <a:srgbClr val="111827"/>
                          </a:solidFill>
                          <a:latin typeface="Malgun Gothic"/>
                          <a:ea typeface="Malgun Gothic"/>
                          <a:cs typeface="Malgun Gothic"/>
                          <a:sym typeface="Malgun Gothic"/>
                        </a:rPr>
                        <a:t>데이터 </a:t>
                      </a:r>
                      <a:r>
                        <a:rPr lang="en-US" sz="1020" u="none" cap="none" strike="noStrike">
                          <a:solidFill>
                            <a:srgbClr val="111827"/>
                          </a:solidFill>
                          <a:latin typeface="Malgun Gothic"/>
                          <a:ea typeface="Malgun Gothic"/>
                          <a:cs typeface="Malgun Gothic"/>
                          <a:sym typeface="Malgun Gothic"/>
                        </a:rPr>
                        <a:t>필요</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 name="Shape 32"/>
        <p:cNvGrpSpPr/>
        <p:nvPr/>
      </p:nvGrpSpPr>
      <p:grpSpPr>
        <a:xfrm>
          <a:off x="0" y="0"/>
          <a:ext cx="0" cy="0"/>
          <a:chOff x="0" y="0"/>
          <a:chExt cx="0" cy="0"/>
        </a:xfrm>
      </p:grpSpPr>
      <p:sp>
        <p:nvSpPr>
          <p:cNvPr id="33" name="Google Shape;33;p4"/>
          <p:cNvSpPr/>
          <p:nvPr/>
        </p:nvSpPr>
        <p:spPr>
          <a:xfrm>
            <a:off x="685800" y="777307"/>
            <a:ext cx="10515600" cy="367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900"/>
              <a:buFont typeface="Malgun Gothic"/>
              <a:buNone/>
            </a:pPr>
            <a:r>
              <a:rPr b="1" i="0" lang="en-US" sz="2900" u="none" cap="none" strike="noStrike">
                <a:solidFill>
                  <a:srgbClr val="1F2A44"/>
                </a:solidFill>
                <a:latin typeface="Malgun Gothic"/>
                <a:ea typeface="Malgun Gothic"/>
                <a:cs typeface="Malgun Gothic"/>
                <a:sym typeface="Malgun Gothic"/>
              </a:rPr>
              <a:t>1. 데이터 구조와 JSON 필드</a:t>
            </a:r>
            <a:endParaRPr b="0" i="0" sz="2900" u="none" cap="none" strike="noStrike">
              <a:solidFill>
                <a:schemeClr val="dk1"/>
              </a:solidFill>
              <a:latin typeface="Malgun Gothic"/>
              <a:ea typeface="Malgun Gothic"/>
              <a:cs typeface="Malgun Gothic"/>
              <a:sym typeface="Malgun Gothic"/>
            </a:endParaRPr>
          </a:p>
        </p:txBody>
      </p:sp>
      <p:cxnSp>
        <p:nvCxnSpPr>
          <p:cNvPr id="34" name="Google Shape;34;p4"/>
          <p:cNvCxnSpPr/>
          <p:nvPr/>
        </p:nvCxnSpPr>
        <p:spPr>
          <a:xfrm>
            <a:off x="713232" y="5677082"/>
            <a:ext cx="1828800" cy="0"/>
          </a:xfrm>
          <a:prstGeom prst="straightConnector1">
            <a:avLst/>
          </a:prstGeom>
          <a:noFill/>
          <a:ln cap="flat" cmpd="sng" w="50800">
            <a:solidFill>
              <a:srgbClr val="355C7D"/>
            </a:solidFill>
            <a:prstDash val="solid"/>
            <a:round/>
            <a:headEnd len="sm" w="sm" type="none"/>
            <a:tailEnd len="sm" w="sm" type="none"/>
          </a:ln>
        </p:spPr>
      </p:cxnSp>
      <p:sp>
        <p:nvSpPr>
          <p:cNvPr id="35" name="Google Shape;35;p4"/>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4</a:t>
            </a:r>
            <a:endParaRPr b="0" i="0" sz="8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5"/>
          <p:cNvSpPr/>
          <p:nvPr/>
        </p:nvSpPr>
        <p:spPr>
          <a:xfrm>
            <a:off x="438900" y="228600"/>
            <a:ext cx="112929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Who&amp;When 데이터의 분석 단위</a:t>
            </a:r>
            <a:endParaRPr b="0" i="0" sz="2200" u="none" cap="none" strike="noStrike">
              <a:solidFill>
                <a:schemeClr val="dk1"/>
              </a:solidFill>
              <a:latin typeface="Malgun Gothic"/>
              <a:ea typeface="Malgun Gothic"/>
              <a:cs typeface="Malgun Gothic"/>
              <a:sym typeface="Malgun Gothic"/>
            </a:endParaRPr>
          </a:p>
        </p:txBody>
      </p:sp>
      <p:cxnSp>
        <p:nvCxnSpPr>
          <p:cNvPr id="42" name="Google Shape;42;p5"/>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43" name="Google Shape;43;p5"/>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5</a:t>
            </a:r>
            <a:endParaRPr b="0" i="0" sz="800" u="none" cap="none" strike="noStrike">
              <a:solidFill>
                <a:schemeClr val="dk1"/>
              </a:solidFill>
              <a:latin typeface="Malgun Gothic"/>
              <a:ea typeface="Malgun Gothic"/>
              <a:cs typeface="Malgun Gothic"/>
              <a:sym typeface="Malgun Gothic"/>
            </a:endParaRPr>
          </a:p>
        </p:txBody>
      </p:sp>
      <p:cxnSp>
        <p:nvCxnSpPr>
          <p:cNvPr id="44" name="Google Shape;44;p5"/>
          <p:cNvCxnSpPr/>
          <p:nvPr/>
        </p:nvCxnSpPr>
        <p:spPr>
          <a:xfrm>
            <a:off x="2298175" y="2338366"/>
            <a:ext cx="146400" cy="0"/>
          </a:xfrm>
          <a:prstGeom prst="straightConnector1">
            <a:avLst/>
          </a:prstGeom>
          <a:noFill/>
          <a:ln cap="flat" cmpd="sng" w="17775">
            <a:solidFill>
              <a:srgbClr val="98A2B3"/>
            </a:solidFill>
            <a:prstDash val="solid"/>
            <a:round/>
            <a:headEnd len="sm" w="sm" type="none"/>
            <a:tailEnd len="med" w="med" type="triangle"/>
          </a:ln>
        </p:spPr>
      </p:cxnSp>
      <p:cxnSp>
        <p:nvCxnSpPr>
          <p:cNvPr id="45" name="Google Shape;45;p5"/>
          <p:cNvCxnSpPr/>
          <p:nvPr/>
        </p:nvCxnSpPr>
        <p:spPr>
          <a:xfrm>
            <a:off x="4120879" y="2338366"/>
            <a:ext cx="146400" cy="0"/>
          </a:xfrm>
          <a:prstGeom prst="straightConnector1">
            <a:avLst/>
          </a:prstGeom>
          <a:noFill/>
          <a:ln cap="flat" cmpd="sng" w="17775">
            <a:solidFill>
              <a:srgbClr val="98A2B3"/>
            </a:solidFill>
            <a:prstDash val="solid"/>
            <a:round/>
            <a:headEnd len="sm" w="sm" type="none"/>
            <a:tailEnd len="med" w="med" type="triangle"/>
          </a:ln>
        </p:spPr>
      </p:cxnSp>
      <p:cxnSp>
        <p:nvCxnSpPr>
          <p:cNvPr id="46" name="Google Shape;46;p5"/>
          <p:cNvCxnSpPr/>
          <p:nvPr/>
        </p:nvCxnSpPr>
        <p:spPr>
          <a:xfrm>
            <a:off x="5943583" y="2338366"/>
            <a:ext cx="146400" cy="0"/>
          </a:xfrm>
          <a:prstGeom prst="straightConnector1">
            <a:avLst/>
          </a:prstGeom>
          <a:noFill/>
          <a:ln cap="flat" cmpd="sng" w="17775">
            <a:solidFill>
              <a:srgbClr val="98A2B3"/>
            </a:solidFill>
            <a:prstDash val="solid"/>
            <a:round/>
            <a:headEnd len="sm" w="sm" type="none"/>
            <a:tailEnd len="med" w="med" type="triangle"/>
          </a:ln>
        </p:spPr>
      </p:cxnSp>
      <p:cxnSp>
        <p:nvCxnSpPr>
          <p:cNvPr id="47" name="Google Shape;47;p5"/>
          <p:cNvCxnSpPr/>
          <p:nvPr/>
        </p:nvCxnSpPr>
        <p:spPr>
          <a:xfrm>
            <a:off x="7766287" y="2338366"/>
            <a:ext cx="146400" cy="0"/>
          </a:xfrm>
          <a:prstGeom prst="straightConnector1">
            <a:avLst/>
          </a:prstGeom>
          <a:noFill/>
          <a:ln cap="flat" cmpd="sng" w="17775">
            <a:solidFill>
              <a:srgbClr val="98A2B3"/>
            </a:solidFill>
            <a:prstDash val="solid"/>
            <a:round/>
            <a:headEnd len="sm" w="sm" type="none"/>
            <a:tailEnd len="med" w="med" type="triangle"/>
          </a:ln>
        </p:spPr>
      </p:cxnSp>
      <p:cxnSp>
        <p:nvCxnSpPr>
          <p:cNvPr id="48" name="Google Shape;48;p5"/>
          <p:cNvCxnSpPr/>
          <p:nvPr/>
        </p:nvCxnSpPr>
        <p:spPr>
          <a:xfrm>
            <a:off x="9588991" y="2338366"/>
            <a:ext cx="146400" cy="0"/>
          </a:xfrm>
          <a:prstGeom prst="straightConnector1">
            <a:avLst/>
          </a:prstGeom>
          <a:noFill/>
          <a:ln cap="flat" cmpd="sng" w="17775">
            <a:solidFill>
              <a:srgbClr val="98A2B3"/>
            </a:solidFill>
            <a:prstDash val="solid"/>
            <a:round/>
            <a:headEnd len="sm" w="sm" type="none"/>
            <a:tailEnd len="med" w="med" type="triangle"/>
          </a:ln>
        </p:spPr>
      </p:cxnSp>
      <p:sp>
        <p:nvSpPr>
          <p:cNvPr id="49" name="Google Shape;49;p5"/>
          <p:cNvSpPr/>
          <p:nvPr/>
        </p:nvSpPr>
        <p:spPr>
          <a:xfrm>
            <a:off x="621775" y="2045758"/>
            <a:ext cx="1676400" cy="603600"/>
          </a:xfrm>
          <a:prstGeom prst="roundRect">
            <a:avLst>
              <a:gd fmla="val 12121" name="adj"/>
            </a:avLst>
          </a:prstGeom>
          <a:solidFill>
            <a:srgbClr val="ECFDF3"/>
          </a:solidFill>
          <a:ln cap="flat" cmpd="sng" w="12700">
            <a:solidFill>
              <a:srgbClr val="35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658351" y="2192062"/>
            <a:ext cx="1603200" cy="2925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question</a:t>
            </a:r>
            <a:endParaRPr b="0" i="0" sz="920" u="none" cap="none" strike="noStrike">
              <a:solidFill>
                <a:schemeClr val="dk1"/>
              </a:solidFill>
              <a:latin typeface="Malgun Gothic"/>
              <a:ea typeface="Malgun Gothic"/>
              <a:cs typeface="Malgun Gothic"/>
              <a:sym typeface="Malgun Gothic"/>
            </a:endParaRPr>
          </a:p>
        </p:txBody>
      </p:sp>
      <p:sp>
        <p:nvSpPr>
          <p:cNvPr id="51" name="Google Shape;51;p5"/>
          <p:cNvSpPr/>
          <p:nvPr/>
        </p:nvSpPr>
        <p:spPr>
          <a:xfrm>
            <a:off x="2444479" y="2045758"/>
            <a:ext cx="1676400" cy="603600"/>
          </a:xfrm>
          <a:prstGeom prst="roundRect">
            <a:avLst>
              <a:gd fmla="val 12121" name="adj"/>
            </a:avLst>
          </a:prstGeom>
          <a:solidFill>
            <a:srgbClr val="ECFDF3"/>
          </a:solidFill>
          <a:ln cap="flat" cmpd="sng" w="12700">
            <a:solidFill>
              <a:srgbClr val="35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2481055" y="2192062"/>
            <a:ext cx="1603200" cy="2925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history</a:t>
            </a:r>
            <a:endParaRPr b="0" i="0" sz="920" u="none" cap="none" strike="noStrike">
              <a:solidFill>
                <a:schemeClr val="dk1"/>
              </a:solidFill>
              <a:latin typeface="Malgun Gothic"/>
              <a:ea typeface="Malgun Gothic"/>
              <a:cs typeface="Malgun Gothic"/>
              <a:sym typeface="Malgun Gothic"/>
            </a:endParaRPr>
          </a:p>
        </p:txBody>
      </p:sp>
      <p:sp>
        <p:nvSpPr>
          <p:cNvPr id="53" name="Google Shape;53;p5"/>
          <p:cNvSpPr/>
          <p:nvPr/>
        </p:nvSpPr>
        <p:spPr>
          <a:xfrm>
            <a:off x="4267183" y="2045758"/>
            <a:ext cx="1676400" cy="603600"/>
          </a:xfrm>
          <a:prstGeom prst="roundRect">
            <a:avLst>
              <a:gd fmla="val 12121" name="adj"/>
            </a:avLst>
          </a:prstGeom>
          <a:solidFill>
            <a:srgbClr val="ECFDF3"/>
          </a:solidFill>
          <a:ln cap="flat" cmpd="sng" w="12700">
            <a:solidFill>
              <a:srgbClr val="35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4303759" y="2192062"/>
            <a:ext cx="1603200" cy="2925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agent 구성</a:t>
            </a:r>
            <a:endParaRPr b="0" i="0" sz="920" u="none" cap="none" strike="noStrike">
              <a:solidFill>
                <a:schemeClr val="dk1"/>
              </a:solidFill>
              <a:latin typeface="Malgun Gothic"/>
              <a:ea typeface="Malgun Gothic"/>
              <a:cs typeface="Malgun Gothic"/>
              <a:sym typeface="Malgun Gothic"/>
            </a:endParaRPr>
          </a:p>
        </p:txBody>
      </p:sp>
      <p:sp>
        <p:nvSpPr>
          <p:cNvPr id="55" name="Google Shape;55;p5"/>
          <p:cNvSpPr/>
          <p:nvPr/>
        </p:nvSpPr>
        <p:spPr>
          <a:xfrm>
            <a:off x="6089887" y="2045758"/>
            <a:ext cx="1676400" cy="603600"/>
          </a:xfrm>
          <a:prstGeom prst="roundRect">
            <a:avLst>
              <a:gd fmla="val 12121" name="adj"/>
            </a:avLst>
          </a:prstGeom>
          <a:solidFill>
            <a:srgbClr val="ECFDF3"/>
          </a:solidFill>
          <a:ln cap="flat" cmpd="sng" w="12700">
            <a:solidFill>
              <a:srgbClr val="35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6126463" y="2192062"/>
            <a:ext cx="1603200" cy="2925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mistake_agent</a:t>
            </a:r>
            <a:endParaRPr b="0" i="0" sz="920" u="none" cap="none" strike="noStrike">
              <a:solidFill>
                <a:schemeClr val="dk1"/>
              </a:solidFill>
              <a:latin typeface="Malgun Gothic"/>
              <a:ea typeface="Malgun Gothic"/>
              <a:cs typeface="Malgun Gothic"/>
              <a:sym typeface="Malgun Gothic"/>
            </a:endParaRPr>
          </a:p>
        </p:txBody>
      </p:sp>
      <p:sp>
        <p:nvSpPr>
          <p:cNvPr id="57" name="Google Shape;57;p5"/>
          <p:cNvSpPr/>
          <p:nvPr/>
        </p:nvSpPr>
        <p:spPr>
          <a:xfrm>
            <a:off x="7912591" y="2045758"/>
            <a:ext cx="1676400" cy="603600"/>
          </a:xfrm>
          <a:prstGeom prst="roundRect">
            <a:avLst>
              <a:gd fmla="val 12121" name="adj"/>
            </a:avLst>
          </a:prstGeom>
          <a:solidFill>
            <a:srgbClr val="ECFDF3"/>
          </a:solidFill>
          <a:ln cap="flat" cmpd="sng" w="12700">
            <a:solidFill>
              <a:srgbClr val="35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7949167" y="2192062"/>
            <a:ext cx="1603200" cy="2925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mistake_step</a:t>
            </a:r>
            <a:endParaRPr b="0" i="0" sz="920" u="none" cap="none" strike="noStrike">
              <a:solidFill>
                <a:schemeClr val="dk1"/>
              </a:solidFill>
              <a:latin typeface="Malgun Gothic"/>
              <a:ea typeface="Malgun Gothic"/>
              <a:cs typeface="Malgun Gothic"/>
              <a:sym typeface="Malgun Gothic"/>
            </a:endParaRPr>
          </a:p>
        </p:txBody>
      </p:sp>
      <p:sp>
        <p:nvSpPr>
          <p:cNvPr id="59" name="Google Shape;59;p5"/>
          <p:cNvSpPr/>
          <p:nvPr/>
        </p:nvSpPr>
        <p:spPr>
          <a:xfrm>
            <a:off x="9735295" y="2045758"/>
            <a:ext cx="1676400" cy="603600"/>
          </a:xfrm>
          <a:prstGeom prst="roundRect">
            <a:avLst>
              <a:gd fmla="val 12121" name="adj"/>
            </a:avLst>
          </a:prstGeom>
          <a:solidFill>
            <a:srgbClr val="ECFDF3"/>
          </a:solidFill>
          <a:ln cap="flat" cmpd="sng" w="12700">
            <a:solidFill>
              <a:srgbClr val="35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9771871" y="2192062"/>
            <a:ext cx="1603200" cy="2925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mistake_reason</a:t>
            </a:r>
            <a:endParaRPr b="0" i="0" sz="920" u="none" cap="none" strike="noStrike">
              <a:solidFill>
                <a:schemeClr val="dk1"/>
              </a:solidFill>
              <a:latin typeface="Malgun Gothic"/>
              <a:ea typeface="Malgun Gothic"/>
              <a:cs typeface="Malgun Gothic"/>
              <a:sym typeface="Malgun Gothic"/>
            </a:endParaRPr>
          </a:p>
        </p:txBody>
      </p:sp>
      <p:sp>
        <p:nvSpPr>
          <p:cNvPr id="61" name="Google Shape;61;p5"/>
          <p:cNvSpPr/>
          <p:nvPr/>
        </p:nvSpPr>
        <p:spPr>
          <a:xfrm>
            <a:off x="722365" y="3234355"/>
            <a:ext cx="183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300"/>
              <a:buFont typeface="Malgun Gothic"/>
              <a:buNone/>
            </a:pPr>
            <a:r>
              <a:rPr b="0" i="0" lang="en-US" sz="1300" u="none" cap="none" strike="noStrike">
                <a:solidFill>
                  <a:srgbClr val="355C7D"/>
                </a:solidFill>
                <a:latin typeface="Malgun Gothic"/>
                <a:ea typeface="Malgun Gothic"/>
                <a:cs typeface="Malgun Gothic"/>
                <a:sym typeface="Malgun Gothic"/>
              </a:rPr>
              <a:t>•</a:t>
            </a:r>
            <a:endParaRPr b="0" i="0" sz="1300" u="none" cap="none" strike="noStrike">
              <a:solidFill>
                <a:schemeClr val="dk1"/>
              </a:solidFill>
              <a:latin typeface="Malgun Gothic"/>
              <a:ea typeface="Malgun Gothic"/>
              <a:cs typeface="Malgun Gothic"/>
              <a:sym typeface="Malgun Gothic"/>
            </a:endParaRPr>
          </a:p>
        </p:txBody>
      </p:sp>
      <p:sp>
        <p:nvSpPr>
          <p:cNvPr id="62" name="Google Shape;62;p5"/>
          <p:cNvSpPr/>
          <p:nvPr/>
        </p:nvSpPr>
        <p:spPr>
          <a:xfrm>
            <a:off x="978397" y="3234355"/>
            <a:ext cx="10259700" cy="310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300"/>
              <a:buFont typeface="Malgun Gothic"/>
              <a:buNone/>
            </a:pPr>
            <a:r>
              <a:rPr b="0" i="0" lang="en-US" sz="1300" u="none" cap="none" strike="noStrike">
                <a:solidFill>
                  <a:srgbClr val="111827"/>
                </a:solidFill>
                <a:latin typeface="Malgun Gothic"/>
                <a:ea typeface="Malgun Gothic"/>
                <a:cs typeface="Malgun Gothic"/>
                <a:sym typeface="Malgun Gothic"/>
              </a:rPr>
              <a:t>question은 원래 benchmark query이며, GAIA 또는 AssistantBench에서 온 문제이다.</a:t>
            </a:r>
            <a:endParaRPr b="0" i="0" sz="1300" u="none" cap="none" strike="noStrike">
              <a:solidFill>
                <a:schemeClr val="dk1"/>
              </a:solidFill>
              <a:latin typeface="Malgun Gothic"/>
              <a:ea typeface="Malgun Gothic"/>
              <a:cs typeface="Malgun Gothic"/>
              <a:sym typeface="Malgun Gothic"/>
            </a:endParaRPr>
          </a:p>
        </p:txBody>
      </p:sp>
      <p:sp>
        <p:nvSpPr>
          <p:cNvPr id="63" name="Google Shape;63;p5"/>
          <p:cNvSpPr/>
          <p:nvPr/>
        </p:nvSpPr>
        <p:spPr>
          <a:xfrm>
            <a:off x="722365" y="3618403"/>
            <a:ext cx="183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300"/>
              <a:buFont typeface="Malgun Gothic"/>
              <a:buNone/>
            </a:pPr>
            <a:r>
              <a:rPr b="0" i="0" lang="en-US" sz="1300" u="none" cap="none" strike="noStrike">
                <a:solidFill>
                  <a:srgbClr val="355C7D"/>
                </a:solidFill>
                <a:latin typeface="Malgun Gothic"/>
                <a:ea typeface="Malgun Gothic"/>
                <a:cs typeface="Malgun Gothic"/>
                <a:sym typeface="Malgun Gothic"/>
              </a:rPr>
              <a:t>•</a:t>
            </a:r>
            <a:endParaRPr b="0" i="0" sz="1300" u="none" cap="none" strike="noStrike">
              <a:solidFill>
                <a:schemeClr val="dk1"/>
              </a:solidFill>
              <a:latin typeface="Malgun Gothic"/>
              <a:ea typeface="Malgun Gothic"/>
              <a:cs typeface="Malgun Gothic"/>
              <a:sym typeface="Malgun Gothic"/>
            </a:endParaRPr>
          </a:p>
        </p:txBody>
      </p:sp>
      <p:sp>
        <p:nvSpPr>
          <p:cNvPr id="64" name="Google Shape;64;p5"/>
          <p:cNvSpPr/>
          <p:nvPr/>
        </p:nvSpPr>
        <p:spPr>
          <a:xfrm>
            <a:off x="978397" y="3618403"/>
            <a:ext cx="10259700" cy="310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300"/>
              <a:buFont typeface="Malgun Gothic"/>
              <a:buNone/>
            </a:pPr>
            <a:r>
              <a:rPr b="0" i="0" lang="en-US" sz="1300" u="none" cap="none" strike="noStrike">
                <a:solidFill>
                  <a:srgbClr val="111827"/>
                </a:solidFill>
                <a:latin typeface="Malgun Gothic"/>
                <a:ea typeface="Malgun Gothic"/>
                <a:cs typeface="Malgun Gothic"/>
                <a:sym typeface="Malgun Gothic"/>
              </a:rPr>
              <a:t>history는 agent들이 실제로 어떤 순서로 무엇을 했는지 보여주는 핵심 trajectory이다.</a:t>
            </a:r>
            <a:endParaRPr b="0" i="0" sz="1300" u="none" cap="none" strike="noStrike">
              <a:solidFill>
                <a:schemeClr val="dk1"/>
              </a:solidFill>
              <a:latin typeface="Malgun Gothic"/>
              <a:ea typeface="Malgun Gothic"/>
              <a:cs typeface="Malgun Gothic"/>
              <a:sym typeface="Malgun Gothic"/>
            </a:endParaRPr>
          </a:p>
        </p:txBody>
      </p:sp>
      <p:sp>
        <p:nvSpPr>
          <p:cNvPr id="65" name="Google Shape;65;p5"/>
          <p:cNvSpPr/>
          <p:nvPr/>
        </p:nvSpPr>
        <p:spPr>
          <a:xfrm>
            <a:off x="722365" y="4002451"/>
            <a:ext cx="183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300"/>
              <a:buFont typeface="Malgun Gothic"/>
              <a:buNone/>
            </a:pPr>
            <a:r>
              <a:rPr b="0" i="0" lang="en-US" sz="1300" u="none" cap="none" strike="noStrike">
                <a:solidFill>
                  <a:srgbClr val="355C7D"/>
                </a:solidFill>
                <a:latin typeface="Malgun Gothic"/>
                <a:ea typeface="Malgun Gothic"/>
                <a:cs typeface="Malgun Gothic"/>
                <a:sym typeface="Malgun Gothic"/>
              </a:rPr>
              <a:t>•</a:t>
            </a:r>
            <a:endParaRPr b="0" i="0" sz="1300" u="none" cap="none" strike="noStrike">
              <a:solidFill>
                <a:schemeClr val="dk1"/>
              </a:solidFill>
              <a:latin typeface="Malgun Gothic"/>
              <a:ea typeface="Malgun Gothic"/>
              <a:cs typeface="Malgun Gothic"/>
              <a:sym typeface="Malgun Gothic"/>
            </a:endParaRPr>
          </a:p>
        </p:txBody>
      </p:sp>
      <p:sp>
        <p:nvSpPr>
          <p:cNvPr id="66" name="Google Shape;66;p5"/>
          <p:cNvSpPr/>
          <p:nvPr/>
        </p:nvSpPr>
        <p:spPr>
          <a:xfrm>
            <a:off x="978397" y="4002451"/>
            <a:ext cx="10259700" cy="310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300"/>
              <a:buFont typeface="Malgun Gothic"/>
              <a:buNone/>
            </a:pPr>
            <a:r>
              <a:rPr b="0" i="0" lang="en-US" sz="1300" u="none" cap="none" strike="noStrike">
                <a:solidFill>
                  <a:srgbClr val="111827"/>
                </a:solidFill>
                <a:latin typeface="Malgun Gothic"/>
                <a:ea typeface="Malgun Gothic"/>
                <a:cs typeface="Malgun Gothic"/>
                <a:sym typeface="Malgun Gothic"/>
              </a:rPr>
              <a:t>mistake_agent는 실패 책임 agent, mistake_step은 결정적 오류가 시작된 step이다.</a:t>
            </a:r>
            <a:endParaRPr b="0" i="0" sz="1300" u="none" cap="none" strike="noStrike">
              <a:solidFill>
                <a:schemeClr val="dk1"/>
              </a:solidFill>
              <a:latin typeface="Malgun Gothic"/>
              <a:ea typeface="Malgun Gothic"/>
              <a:cs typeface="Malgun Gothic"/>
              <a:sym typeface="Malgun Gothic"/>
            </a:endParaRPr>
          </a:p>
        </p:txBody>
      </p:sp>
      <p:sp>
        <p:nvSpPr>
          <p:cNvPr id="67" name="Google Shape;67;p5"/>
          <p:cNvSpPr/>
          <p:nvPr/>
        </p:nvSpPr>
        <p:spPr>
          <a:xfrm>
            <a:off x="722365" y="4386499"/>
            <a:ext cx="183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300"/>
              <a:buFont typeface="Malgun Gothic"/>
              <a:buNone/>
            </a:pPr>
            <a:r>
              <a:rPr b="0" i="0" lang="en-US" sz="1300" u="none" cap="none" strike="noStrike">
                <a:solidFill>
                  <a:srgbClr val="355C7D"/>
                </a:solidFill>
                <a:latin typeface="Malgun Gothic"/>
                <a:ea typeface="Malgun Gothic"/>
                <a:cs typeface="Malgun Gothic"/>
                <a:sym typeface="Malgun Gothic"/>
              </a:rPr>
              <a:t>•</a:t>
            </a:r>
            <a:endParaRPr b="0" i="0" sz="1300" u="none" cap="none" strike="noStrike">
              <a:solidFill>
                <a:schemeClr val="dk1"/>
              </a:solidFill>
              <a:latin typeface="Malgun Gothic"/>
              <a:ea typeface="Malgun Gothic"/>
              <a:cs typeface="Malgun Gothic"/>
              <a:sym typeface="Malgun Gothic"/>
            </a:endParaRPr>
          </a:p>
        </p:txBody>
      </p:sp>
      <p:sp>
        <p:nvSpPr>
          <p:cNvPr id="68" name="Google Shape;68;p5"/>
          <p:cNvSpPr/>
          <p:nvPr/>
        </p:nvSpPr>
        <p:spPr>
          <a:xfrm>
            <a:off x="978397" y="4386499"/>
            <a:ext cx="10259700" cy="310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300"/>
              <a:buFont typeface="Malgun Gothic"/>
              <a:buNone/>
            </a:pPr>
            <a:r>
              <a:rPr b="0" i="0" lang="en-US" sz="1300" u="none" cap="none" strike="noStrike">
                <a:solidFill>
                  <a:srgbClr val="111827"/>
                </a:solidFill>
                <a:latin typeface="Malgun Gothic"/>
                <a:ea typeface="Malgun Gothic"/>
                <a:cs typeface="Malgun Gothic"/>
                <a:sym typeface="Malgun Gothic"/>
              </a:rPr>
              <a:t>mistake_reason은 사람이 왜 그 agent와 step을 실패 원인으로 보았는지 설명하는 라벨이다.</a:t>
            </a:r>
            <a:endParaRPr b="0" i="0" sz="13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6"/>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Algorithm Generated JSON 상위 필드</a:t>
            </a:r>
            <a:endParaRPr b="0" i="0" sz="2200" u="none" cap="none" strike="noStrike">
              <a:solidFill>
                <a:schemeClr val="dk1"/>
              </a:solidFill>
              <a:latin typeface="Malgun Gothic"/>
              <a:ea typeface="Malgun Gothic"/>
              <a:cs typeface="Malgun Gothic"/>
              <a:sym typeface="Malgun Gothic"/>
            </a:endParaRPr>
          </a:p>
        </p:txBody>
      </p:sp>
      <p:sp>
        <p:nvSpPr>
          <p:cNvPr id="75" name="Google Shape;75;p6"/>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자동 생성 agentic system의 실패 로그</a:t>
            </a:r>
            <a:endParaRPr b="0" i="0" sz="950" u="none" cap="none" strike="noStrike">
              <a:solidFill>
                <a:schemeClr val="dk1"/>
              </a:solidFill>
              <a:latin typeface="Malgun Gothic"/>
              <a:ea typeface="Malgun Gothic"/>
              <a:cs typeface="Malgun Gothic"/>
              <a:sym typeface="Malgun Gothic"/>
            </a:endParaRPr>
          </a:p>
        </p:txBody>
      </p:sp>
      <p:cxnSp>
        <p:nvCxnSpPr>
          <p:cNvPr id="76" name="Google Shape;76;p6"/>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77" name="Google Shape;77;p6"/>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6</a:t>
            </a:r>
            <a:endParaRPr b="0" i="0" sz="800" u="none" cap="none" strike="noStrike">
              <a:solidFill>
                <a:schemeClr val="dk1"/>
              </a:solidFill>
              <a:latin typeface="Malgun Gothic"/>
              <a:ea typeface="Malgun Gothic"/>
              <a:cs typeface="Malgun Gothic"/>
              <a:sym typeface="Malgun Gothic"/>
            </a:endParaRPr>
          </a:p>
        </p:txBody>
      </p:sp>
      <p:graphicFrame>
        <p:nvGraphicFramePr>
          <p:cNvPr id="78" name="Google Shape;78;p6"/>
          <p:cNvGraphicFramePr/>
          <p:nvPr/>
        </p:nvGraphicFramePr>
        <p:xfrm>
          <a:off x="594360" y="1078992"/>
          <a:ext cx="3000000" cy="3000000"/>
        </p:xfrm>
        <a:graphic>
          <a:graphicData uri="http://schemas.openxmlformats.org/drawingml/2006/table">
            <a:tbl>
              <a:tblPr>
                <a:noFill/>
                <a:tableStyleId>{50896835-E566-46DC-AF42-435CE09E4439}</a:tableStyleId>
              </a:tblPr>
              <a:tblGrid>
                <a:gridCol w="1828800"/>
                <a:gridCol w="3749050"/>
                <a:gridCol w="5440675"/>
              </a:tblGrid>
              <a:tr h="473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의미</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분석에서의 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is_correct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최종 실행 결과가 정답인지 여부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실패 로그 중심이므로 대부분 false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question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원래 사용자 질문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query 분석의 출발점</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question_ID</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문제 고유 ID</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사례 식별용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level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난이도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benchmark level 또는 문제 난이도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정답</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최종 실패가 무엇과 어긋났는지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agent별 step 로그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trajectory이자 가장 중요한 필드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실패 책임 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Who 라벨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결정적 오류 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When 라벨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실패 이유 설명</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라벨의 근거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system_prompt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agent별 역할 지침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Algorithm Generated에서 agent 정의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7"/>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Hand Crafted JSON 상위 필드</a:t>
            </a:r>
            <a:endParaRPr b="0" i="0" sz="2200" u="none" cap="none" strike="noStrike">
              <a:solidFill>
                <a:schemeClr val="dk1"/>
              </a:solidFill>
              <a:latin typeface="Malgun Gothic"/>
              <a:ea typeface="Malgun Gothic"/>
              <a:cs typeface="Malgun Gothic"/>
              <a:sym typeface="Malgun Gothic"/>
            </a:endParaRPr>
          </a:p>
        </p:txBody>
      </p:sp>
      <p:sp>
        <p:nvSpPr>
          <p:cNvPr id="85" name="Google Shape;85;p7"/>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사람이 설계한 multi-agent system의 실패 로그</a:t>
            </a:r>
            <a:endParaRPr b="0" i="0" sz="950" u="none" cap="none" strike="noStrike">
              <a:solidFill>
                <a:schemeClr val="dk1"/>
              </a:solidFill>
              <a:latin typeface="Malgun Gothic"/>
              <a:ea typeface="Malgun Gothic"/>
              <a:cs typeface="Malgun Gothic"/>
              <a:sym typeface="Malgun Gothic"/>
            </a:endParaRPr>
          </a:p>
        </p:txBody>
      </p:sp>
      <p:cxnSp>
        <p:nvCxnSpPr>
          <p:cNvPr id="86" name="Google Shape;86;p7"/>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87" name="Google Shape;87;p7"/>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7</a:t>
            </a:r>
            <a:endParaRPr b="0" i="0" sz="800" u="none" cap="none" strike="noStrike">
              <a:solidFill>
                <a:schemeClr val="dk1"/>
              </a:solidFill>
              <a:latin typeface="Malgun Gothic"/>
              <a:ea typeface="Malgun Gothic"/>
              <a:cs typeface="Malgun Gothic"/>
              <a:sym typeface="Malgun Gothic"/>
            </a:endParaRPr>
          </a:p>
        </p:txBody>
      </p:sp>
      <p:graphicFrame>
        <p:nvGraphicFramePr>
          <p:cNvPr id="88" name="Google Shape;88;p7"/>
          <p:cNvGraphicFramePr/>
          <p:nvPr/>
        </p:nvGraphicFramePr>
        <p:xfrm>
          <a:off x="594360" y="1078992"/>
          <a:ext cx="3000000" cy="3000000"/>
        </p:xfrm>
        <a:graphic>
          <a:graphicData uri="http://schemas.openxmlformats.org/drawingml/2006/table">
            <a:tbl>
              <a:tblPr>
                <a:noFill/>
                <a:tableStyleId>{50896835-E566-46DC-AF42-435CE09E4439}</a:tableStyleId>
              </a:tblPr>
              <a:tblGrid>
                <a:gridCol w="1828800"/>
                <a:gridCol w="3840475"/>
                <a:gridCol w="5349250"/>
              </a:tblGrid>
              <a:tr h="473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의미</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분석에서의 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 WebSurfer, FileSurfer 등의 긴 실행 로그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multi-agent 처리 흐름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question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원래 사용자 질문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query 분석의 출발점</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정답</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rgbClr val="111827"/>
                        </a:buClr>
                        <a:buSzPts val="939"/>
                        <a:buFont typeface="Malgun Gothic"/>
                        <a:buNone/>
                      </a:pPr>
                      <a:r>
                        <a:rPr lang="en-US" sz="940">
                          <a:solidFill>
                            <a:srgbClr val="111827"/>
                          </a:solidFill>
                          <a:latin typeface="Malgun Gothic"/>
                          <a:ea typeface="Malgun Gothic"/>
                          <a:cs typeface="Malgun Gothic"/>
                          <a:sym typeface="Malgun Gothic"/>
                        </a:rPr>
                        <a:t>최종 실패가 무엇과 어긋났는지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is_corrected</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최종 실행 결과가 정정되었는지 또는 정답인지 여부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실패 데이터이므로 대부분 false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question_ID</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문제 고유 ID</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사례 식별용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level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난이도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문제 난이도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실패 책임 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Who 라벨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결정적 오류 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When 라벨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실패 이유 설명</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왜 해당 agent와 step이 문제인지 설명</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73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mistake_type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실패 유형</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일부 Hand Crafted 파일에 포함됨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p8"/>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history 내부 구조</a:t>
            </a:r>
            <a:endParaRPr b="0" i="0" sz="2200" u="none" cap="none" strike="noStrike">
              <a:solidFill>
                <a:schemeClr val="dk1"/>
              </a:solidFill>
              <a:latin typeface="Malgun Gothic"/>
              <a:ea typeface="Malgun Gothic"/>
              <a:cs typeface="Malgun Gothic"/>
              <a:sym typeface="Malgun Gothic"/>
            </a:endParaRPr>
          </a:p>
        </p:txBody>
      </p:sp>
      <p:sp>
        <p:nvSpPr>
          <p:cNvPr id="95" name="Google Shape;95;p8"/>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상위 필드보다 history 안의 step 구조가 실제 분석의 핵심</a:t>
            </a:r>
            <a:endParaRPr b="0" i="0" sz="950" u="none" cap="none" strike="noStrike">
              <a:solidFill>
                <a:schemeClr val="dk1"/>
              </a:solidFill>
              <a:latin typeface="Malgun Gothic"/>
              <a:ea typeface="Malgun Gothic"/>
              <a:cs typeface="Malgun Gothic"/>
              <a:sym typeface="Malgun Gothic"/>
            </a:endParaRPr>
          </a:p>
        </p:txBody>
      </p:sp>
      <p:cxnSp>
        <p:nvCxnSpPr>
          <p:cNvPr id="96" name="Google Shape;96;p8"/>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97" name="Google Shape;97;p8"/>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8</a:t>
            </a:r>
            <a:endParaRPr b="0" i="0" sz="800" u="none" cap="none" strike="noStrike">
              <a:solidFill>
                <a:schemeClr val="dk1"/>
              </a:solidFill>
              <a:latin typeface="Malgun Gothic"/>
              <a:ea typeface="Malgun Gothic"/>
              <a:cs typeface="Malgun Gothic"/>
              <a:sym typeface="Malgun Gothic"/>
            </a:endParaRPr>
          </a:p>
        </p:txBody>
      </p:sp>
      <p:graphicFrame>
        <p:nvGraphicFramePr>
          <p:cNvPr id="98" name="Google Shape;98;p8"/>
          <p:cNvGraphicFramePr/>
          <p:nvPr/>
        </p:nvGraphicFramePr>
        <p:xfrm>
          <a:off x="723745" y="2125950"/>
          <a:ext cx="3000000" cy="3000000"/>
        </p:xfrm>
        <a:graphic>
          <a:graphicData uri="http://schemas.openxmlformats.org/drawingml/2006/table">
            <a:tbl>
              <a:tblPr>
                <a:noFill/>
                <a:tableStyleId>{50896835-E566-46DC-AF42-435CE09E4439}</a:tableStyleId>
              </a:tblPr>
              <a:tblGrid>
                <a:gridCol w="1645925"/>
                <a:gridCol w="3840475"/>
                <a:gridCol w="5257800"/>
              </a:tblGrid>
              <a:tr h="457200">
                <a:tc>
                  <a:txBody>
                    <a:bodyPr/>
                    <a:lstStyle/>
                    <a:p>
                      <a:pPr indent="0" lvl="0" marL="0" marR="0" rtl="0" algn="ctr">
                        <a:spcBef>
                          <a:spcPts val="0"/>
                        </a:spcBef>
                        <a:spcAft>
                          <a:spcPts val="0"/>
                        </a:spcAft>
                        <a:buClr>
                          <a:srgbClr val="FFFFFF"/>
                        </a:buClr>
                        <a:buSzPts val="1140"/>
                        <a:buFont typeface="Malgun Gothic"/>
                        <a:buNone/>
                      </a:pPr>
                      <a:r>
                        <a:rPr b="1" lang="en-US" sz="1140" u="none" cap="none" strike="noStrike">
                          <a:solidFill>
                            <a:srgbClr val="FFFFFF"/>
                          </a:solidFill>
                          <a:latin typeface="Malgun Gothic"/>
                          <a:ea typeface="Malgun Gothic"/>
                          <a:cs typeface="Malgun Gothic"/>
                          <a:sym typeface="Malgun Gothic"/>
                        </a:rPr>
                        <a:t>내부 필드</a:t>
                      </a:r>
                      <a:endParaRPr sz="11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2A44"/>
                    </a:solidFill>
                  </a:tcPr>
                </a:tc>
                <a:tc>
                  <a:txBody>
                    <a:bodyPr/>
                    <a:lstStyle/>
                    <a:p>
                      <a:pPr indent="0" lvl="0" marL="0" marR="0" rtl="0" algn="ctr">
                        <a:spcBef>
                          <a:spcPts val="0"/>
                        </a:spcBef>
                        <a:spcAft>
                          <a:spcPts val="0"/>
                        </a:spcAft>
                        <a:buClr>
                          <a:srgbClr val="FFFFFF"/>
                        </a:buClr>
                        <a:buSzPts val="1140"/>
                        <a:buFont typeface="Malgun Gothic"/>
                        <a:buNone/>
                      </a:pPr>
                      <a:r>
                        <a:rPr b="1" lang="en-US" sz="1140" u="none" cap="none" strike="noStrike">
                          <a:solidFill>
                            <a:srgbClr val="FFFFFF"/>
                          </a:solidFill>
                          <a:latin typeface="Malgun Gothic"/>
                          <a:ea typeface="Malgun Gothic"/>
                          <a:cs typeface="Malgun Gothic"/>
                          <a:sym typeface="Malgun Gothic"/>
                        </a:rPr>
                        <a:t>의미</a:t>
                      </a:r>
                      <a:endParaRPr sz="11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2A44"/>
                    </a:solidFill>
                  </a:tcPr>
                </a:tc>
                <a:tc>
                  <a:txBody>
                    <a:bodyPr/>
                    <a:lstStyle/>
                    <a:p>
                      <a:pPr indent="0" lvl="0" marL="0" marR="0" rtl="0" algn="ctr">
                        <a:spcBef>
                          <a:spcPts val="0"/>
                        </a:spcBef>
                        <a:spcAft>
                          <a:spcPts val="0"/>
                        </a:spcAft>
                        <a:buClr>
                          <a:srgbClr val="FFFFFF"/>
                        </a:buClr>
                        <a:buSzPts val="1140"/>
                        <a:buFont typeface="Malgun Gothic"/>
                        <a:buNone/>
                      </a:pPr>
                      <a:r>
                        <a:rPr b="1" lang="en-US" sz="1140" u="none" cap="none" strike="noStrike">
                          <a:solidFill>
                            <a:srgbClr val="FFFFFF"/>
                          </a:solidFill>
                          <a:latin typeface="Malgun Gothic"/>
                          <a:ea typeface="Malgun Gothic"/>
                          <a:cs typeface="Malgun Gothic"/>
                          <a:sym typeface="Malgun Gothic"/>
                        </a:rPr>
                        <a:t>split별 특징</a:t>
                      </a:r>
                      <a:endParaRPr sz="11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2A44"/>
                    </a:solidFill>
                  </a:tcPr>
                </a:tc>
              </a:tr>
              <a:tr h="45720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content</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해당 step에서 agent가 말하거나 수행한 내용</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두 split 모두 핵심 로그</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5720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name</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agent 이름</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Algorithm Generated에서 Verification_Expert, Computer_terminal 등으로 나타남</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5720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role</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발화 역할 또는 agent 역할</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Hand Crafted에서 Orchestrator, WebSurfer 등의 흐름 파악에 중요</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99" name="Google Shape;99;p8"/>
          <p:cNvSpPr/>
          <p:nvPr/>
        </p:nvSpPr>
        <p:spPr>
          <a:xfrm>
            <a:off x="723745" y="4320510"/>
            <a:ext cx="5166300" cy="1005900"/>
          </a:xfrm>
          <a:prstGeom prst="roundRect">
            <a:avLst>
              <a:gd fmla="val 4545"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a:off x="860904" y="4411950"/>
            <a:ext cx="4892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100"/>
              <a:buFont typeface="Malgun Gothic"/>
              <a:buNone/>
            </a:pPr>
            <a:r>
              <a:rPr b="1" i="0" lang="en-US" sz="1100" u="none" cap="none" strike="noStrike">
                <a:solidFill>
                  <a:srgbClr val="355C7D"/>
                </a:solidFill>
                <a:latin typeface="Malgun Gothic"/>
                <a:ea typeface="Malgun Gothic"/>
                <a:cs typeface="Malgun Gothic"/>
                <a:sym typeface="Malgun Gothic"/>
              </a:rPr>
              <a:t>Algorithm Generated에서 보는 법</a:t>
            </a:r>
            <a:endParaRPr b="0" i="0" sz="1100" u="none" cap="none" strike="noStrike">
              <a:solidFill>
                <a:schemeClr val="dk1"/>
              </a:solidFill>
              <a:latin typeface="Malgun Gothic"/>
              <a:ea typeface="Malgun Gothic"/>
              <a:cs typeface="Malgun Gothic"/>
              <a:sym typeface="Malgun Gothic"/>
            </a:endParaRPr>
          </a:p>
        </p:txBody>
      </p:sp>
      <p:sp>
        <p:nvSpPr>
          <p:cNvPr id="101" name="Google Shape;101;p8"/>
          <p:cNvSpPr/>
          <p:nvPr/>
        </p:nvSpPr>
        <p:spPr>
          <a:xfrm>
            <a:off x="860904" y="4704558"/>
            <a:ext cx="4892100" cy="548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`name` 필드에 agent 이름이 직접 드러나며, `system_prompt`로 각 agent의 역할 지침을 확인한다.</a:t>
            </a:r>
            <a:endParaRPr b="0" i="0" sz="1050" u="none" cap="none" strike="noStrike">
              <a:solidFill>
                <a:schemeClr val="dk1"/>
              </a:solidFill>
              <a:latin typeface="Malgun Gothic"/>
              <a:ea typeface="Malgun Gothic"/>
              <a:cs typeface="Malgun Gothic"/>
              <a:sym typeface="Malgun Gothic"/>
            </a:endParaRPr>
          </a:p>
        </p:txBody>
      </p:sp>
      <p:sp>
        <p:nvSpPr>
          <p:cNvPr id="102" name="Google Shape;102;p8"/>
          <p:cNvSpPr/>
          <p:nvPr/>
        </p:nvSpPr>
        <p:spPr>
          <a:xfrm>
            <a:off x="6274152" y="4320510"/>
            <a:ext cx="5166300" cy="1005900"/>
          </a:xfrm>
          <a:prstGeom prst="roundRect">
            <a:avLst>
              <a:gd fmla="val 4545"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6411313" y="4411950"/>
            <a:ext cx="4892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Malgun Gothic"/>
              <a:buNone/>
            </a:pPr>
            <a:r>
              <a:rPr b="1" i="0" lang="en-US" sz="1100" u="none" cap="none" strike="noStrike">
                <a:solidFill>
                  <a:srgbClr val="2A9D8F"/>
                </a:solidFill>
                <a:latin typeface="Malgun Gothic"/>
                <a:ea typeface="Malgun Gothic"/>
                <a:cs typeface="Malgun Gothic"/>
                <a:sym typeface="Malgun Gothic"/>
              </a:rPr>
              <a:t>Hand Crafted에서 보는 법</a:t>
            </a:r>
            <a:endParaRPr b="0" i="0" sz="1100" u="none" cap="none" strike="noStrike">
              <a:solidFill>
                <a:schemeClr val="dk1"/>
              </a:solidFill>
              <a:latin typeface="Malgun Gothic"/>
              <a:ea typeface="Malgun Gothic"/>
              <a:cs typeface="Malgun Gothic"/>
              <a:sym typeface="Malgun Gothic"/>
            </a:endParaRPr>
          </a:p>
        </p:txBody>
      </p:sp>
      <p:sp>
        <p:nvSpPr>
          <p:cNvPr id="104" name="Google Shape;104;p8"/>
          <p:cNvSpPr/>
          <p:nvPr/>
        </p:nvSpPr>
        <p:spPr>
          <a:xfrm>
            <a:off x="6411313" y="4704558"/>
            <a:ext cx="4892100" cy="548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`role`이 Orchestrator, WebSurfer, FileSurfer 등으로 나타나며, Orchestrator의 지시 방향을 따라가야 한다.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9"/>
          <p:cNvSpPr/>
          <p:nvPr/>
        </p:nvSpPr>
        <p:spPr>
          <a:xfrm>
            <a:off x="685800" y="777311"/>
            <a:ext cx="10515600" cy="391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900"/>
              <a:buFont typeface="Malgun Gothic"/>
              <a:buNone/>
            </a:pPr>
            <a:r>
              <a:rPr b="1" i="0" lang="en-US" sz="2900" u="none" cap="none" strike="noStrike">
                <a:solidFill>
                  <a:srgbClr val="1F2A44"/>
                </a:solidFill>
                <a:latin typeface="Malgun Gothic"/>
                <a:ea typeface="Malgun Gothic"/>
                <a:cs typeface="Malgun Gothic"/>
                <a:sym typeface="Malgun Gothic"/>
              </a:rPr>
              <a:t>2. Algorithm Generated와 Hand Crafted 차이</a:t>
            </a:r>
            <a:endParaRPr b="0" i="0" sz="2900" u="none" cap="none" strike="noStrike">
              <a:solidFill>
                <a:schemeClr val="dk1"/>
              </a:solidFill>
              <a:latin typeface="Malgun Gothic"/>
              <a:ea typeface="Malgun Gothic"/>
              <a:cs typeface="Malgun Gothic"/>
              <a:sym typeface="Malgun Gothic"/>
            </a:endParaRPr>
          </a:p>
        </p:txBody>
      </p:sp>
      <p:cxnSp>
        <p:nvCxnSpPr>
          <p:cNvPr id="111" name="Google Shape;111;p9"/>
          <p:cNvCxnSpPr/>
          <p:nvPr/>
        </p:nvCxnSpPr>
        <p:spPr>
          <a:xfrm>
            <a:off x="713232" y="5998211"/>
            <a:ext cx="1828800" cy="0"/>
          </a:xfrm>
          <a:prstGeom prst="straightConnector1">
            <a:avLst/>
          </a:prstGeom>
          <a:noFill/>
          <a:ln cap="flat" cmpd="sng" w="50800">
            <a:solidFill>
              <a:srgbClr val="2A9D8F"/>
            </a:solidFill>
            <a:prstDash val="solid"/>
            <a:round/>
            <a:headEnd len="sm" w="sm" type="none"/>
            <a:tailEnd len="sm" w="sm" type="none"/>
          </a:ln>
        </p:spPr>
      </p:cxnSp>
      <p:sp>
        <p:nvSpPr>
          <p:cNvPr id="112" name="Google Shape;112;p9"/>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9</a:t>
            </a:r>
            <a:endParaRPr b="0" i="0" sz="8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10"/>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Algorithm Generated vs Hand Crafted: 한 줄 차이</a:t>
            </a:r>
            <a:endParaRPr b="0" i="0" sz="2200" u="none" cap="none" strike="noStrike">
              <a:solidFill>
                <a:schemeClr val="dk1"/>
              </a:solidFill>
              <a:latin typeface="Malgun Gothic"/>
              <a:ea typeface="Malgun Gothic"/>
              <a:cs typeface="Malgun Gothic"/>
              <a:sym typeface="Malgun Gothic"/>
            </a:endParaRPr>
          </a:p>
        </p:txBody>
      </p:sp>
      <p:sp>
        <p:nvSpPr>
          <p:cNvPr id="119" name="Google Shape;119;p10"/>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같은 Who&amp;When 안에 있지만 분석 방식이 다름</a:t>
            </a:r>
            <a:endParaRPr b="0" i="0" sz="950" u="none" cap="none" strike="noStrike">
              <a:solidFill>
                <a:schemeClr val="dk1"/>
              </a:solidFill>
              <a:latin typeface="Malgun Gothic"/>
              <a:ea typeface="Malgun Gothic"/>
              <a:cs typeface="Malgun Gothic"/>
              <a:sym typeface="Malgun Gothic"/>
            </a:endParaRPr>
          </a:p>
        </p:txBody>
      </p:sp>
      <p:cxnSp>
        <p:nvCxnSpPr>
          <p:cNvPr id="120" name="Google Shape;120;p10"/>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121" name="Google Shape;121;p10"/>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10</a:t>
            </a:r>
            <a:endParaRPr b="0" i="0" sz="800" u="none" cap="none" strike="noStrike">
              <a:solidFill>
                <a:schemeClr val="dk1"/>
              </a:solidFill>
              <a:latin typeface="Malgun Gothic"/>
              <a:ea typeface="Malgun Gothic"/>
              <a:cs typeface="Malgun Gothic"/>
              <a:sym typeface="Malgun Gothic"/>
            </a:endParaRPr>
          </a:p>
        </p:txBody>
      </p:sp>
      <p:graphicFrame>
        <p:nvGraphicFramePr>
          <p:cNvPr id="122" name="Google Shape;122;p10"/>
          <p:cNvGraphicFramePr/>
          <p:nvPr/>
        </p:nvGraphicFramePr>
        <p:xfrm>
          <a:off x="566928" y="1097280"/>
          <a:ext cx="3000000" cy="3000000"/>
        </p:xfrm>
        <a:graphic>
          <a:graphicData uri="http://schemas.openxmlformats.org/drawingml/2006/table">
            <a:tbl>
              <a:tblPr>
                <a:noFill/>
                <a:tableStyleId>{50896835-E566-46DC-AF42-435CE09E4439}</a:tableStyleId>
              </a:tblPr>
              <a:tblGrid>
                <a:gridCol w="1828800"/>
                <a:gridCol w="4617725"/>
                <a:gridCol w="4617725"/>
              </a:tblGrid>
              <a:tr h="70477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구분</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2A44"/>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Algorithm Generated</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2A44"/>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Hand Crafted</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2A44"/>
                    </a:solidFill>
                  </a:tcPr>
                </a:tc>
              </a:tr>
              <a:tr h="7047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생성 방식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문제마다 agentic system을 자동 구성</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사람이 설계한 multi-agent system 사용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047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agent 종류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문제별 전문 expert agent가 다양하게 등장</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 WebSurfer, FileSurfer, Assistant 중심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047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agent 정의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system_prompt 필드에서 직접 확인 가능</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history의 role 흐름에서 추론해야 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7047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로그 길이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대체로 짧음. history 5–10 수준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대체로 김. 수십 step 이상 가능</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047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실패 양상</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가짜 데이터, 검증 실패, role mismatch, 잘못된 코드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웹 탐색 실패, 파일 추출 실패, Orchestrator 지시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12"/>
          <p:cNvSpPr/>
          <p:nvPr/>
        </p:nvSpPr>
        <p:spPr>
          <a:xfrm>
            <a:off x="438900" y="228600"/>
            <a:ext cx="11292900" cy="63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분석 기준의 차이</a:t>
            </a:r>
            <a:endParaRPr b="0" i="0" sz="2200" u="none" cap="none" strike="noStrike">
              <a:solidFill>
                <a:schemeClr val="dk1"/>
              </a:solidFill>
              <a:latin typeface="Malgun Gothic"/>
              <a:ea typeface="Malgun Gothic"/>
              <a:cs typeface="Malgun Gothic"/>
              <a:sym typeface="Malgun Gothic"/>
            </a:endParaRPr>
          </a:p>
        </p:txBody>
      </p:sp>
      <p:cxnSp>
        <p:nvCxnSpPr>
          <p:cNvPr id="129" name="Google Shape;129;p12"/>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130" name="Google Shape;130;p12"/>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12</a:t>
            </a:r>
            <a:endParaRPr b="0" i="0" sz="800" u="none" cap="none" strike="noStrike">
              <a:solidFill>
                <a:schemeClr val="dk1"/>
              </a:solidFill>
              <a:latin typeface="Malgun Gothic"/>
              <a:ea typeface="Malgun Gothic"/>
              <a:cs typeface="Malgun Gothic"/>
              <a:sym typeface="Malgun Gothic"/>
            </a:endParaRPr>
          </a:p>
        </p:txBody>
      </p:sp>
      <p:graphicFrame>
        <p:nvGraphicFramePr>
          <p:cNvPr id="131" name="Google Shape;131;p12"/>
          <p:cNvGraphicFramePr/>
          <p:nvPr/>
        </p:nvGraphicFramePr>
        <p:xfrm>
          <a:off x="594360" y="1115568"/>
          <a:ext cx="3000000" cy="3000000"/>
        </p:xfrm>
        <a:graphic>
          <a:graphicData uri="http://schemas.openxmlformats.org/drawingml/2006/table">
            <a:tbl>
              <a:tblPr>
                <a:noFill/>
                <a:tableStyleId>{50896835-E566-46DC-AF42-435CE09E4439}</a:tableStyleId>
              </a:tblPr>
              <a:tblGrid>
                <a:gridCol w="2743200"/>
                <a:gridCol w="4160525"/>
                <a:gridCol w="4114800"/>
              </a:tblGrid>
              <a:tr h="640075">
                <a:tc>
                  <a:txBody>
                    <a:bodyPr/>
                    <a:lstStyle/>
                    <a:p>
                      <a:pPr indent="0" lvl="0" marL="0" marR="0" rtl="0" algn="ctr">
                        <a:spcBef>
                          <a:spcPts val="0"/>
                        </a:spcBef>
                        <a:spcAft>
                          <a:spcPts val="0"/>
                        </a:spcAft>
                        <a:buClr>
                          <a:srgbClr val="FFFFFF"/>
                        </a:buClr>
                        <a:buSzPts val="1040"/>
                        <a:buFont typeface="Malgun Gothic"/>
                        <a:buNone/>
                      </a:pPr>
                      <a:r>
                        <a:rPr b="1" lang="en-US" sz="1040" u="none" cap="none" strike="noStrike">
                          <a:solidFill>
                            <a:srgbClr val="FFFFFF"/>
                          </a:solidFill>
                          <a:latin typeface="Malgun Gothic"/>
                          <a:ea typeface="Malgun Gothic"/>
                          <a:cs typeface="Malgun Gothic"/>
                          <a:sym typeface="Malgun Gothic"/>
                        </a:rPr>
                        <a:t>분석 질문</a:t>
                      </a:r>
                      <a:endParaRPr sz="10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2A44"/>
                    </a:solidFill>
                  </a:tcPr>
                </a:tc>
                <a:tc>
                  <a:txBody>
                    <a:bodyPr/>
                    <a:lstStyle/>
                    <a:p>
                      <a:pPr indent="0" lvl="0" marL="0" marR="0" rtl="0" algn="ctr">
                        <a:spcBef>
                          <a:spcPts val="0"/>
                        </a:spcBef>
                        <a:spcAft>
                          <a:spcPts val="0"/>
                        </a:spcAft>
                        <a:buClr>
                          <a:srgbClr val="FFFFFF"/>
                        </a:buClr>
                        <a:buSzPts val="1040"/>
                        <a:buFont typeface="Malgun Gothic"/>
                        <a:buNone/>
                      </a:pPr>
                      <a:r>
                        <a:rPr b="1" lang="en-US" sz="1040" u="none" cap="none" strike="noStrike">
                          <a:solidFill>
                            <a:srgbClr val="FFFFFF"/>
                          </a:solidFill>
                          <a:latin typeface="Malgun Gothic"/>
                          <a:ea typeface="Malgun Gothic"/>
                          <a:cs typeface="Malgun Gothic"/>
                          <a:sym typeface="Malgun Gothic"/>
                        </a:rPr>
                        <a:t>Algorithm Generated에서 확인할 곳</a:t>
                      </a:r>
                      <a:endParaRPr sz="10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2A44"/>
                    </a:solidFill>
                  </a:tcPr>
                </a:tc>
                <a:tc>
                  <a:txBody>
                    <a:bodyPr/>
                    <a:lstStyle/>
                    <a:p>
                      <a:pPr indent="0" lvl="0" marL="0" marR="0" rtl="0" algn="ctr">
                        <a:spcBef>
                          <a:spcPts val="0"/>
                        </a:spcBef>
                        <a:spcAft>
                          <a:spcPts val="0"/>
                        </a:spcAft>
                        <a:buClr>
                          <a:srgbClr val="FFFFFF"/>
                        </a:buClr>
                        <a:buSzPts val="1040"/>
                        <a:buFont typeface="Malgun Gothic"/>
                        <a:buNone/>
                      </a:pPr>
                      <a:r>
                        <a:rPr b="1" lang="en-US" sz="1040" u="none" cap="none" strike="noStrike">
                          <a:solidFill>
                            <a:srgbClr val="FFFFFF"/>
                          </a:solidFill>
                          <a:latin typeface="Malgun Gothic"/>
                          <a:ea typeface="Malgun Gothic"/>
                          <a:cs typeface="Malgun Gothic"/>
                          <a:sym typeface="Malgun Gothic"/>
                        </a:rPr>
                        <a:t>Hand Crafted에서 확인할 곳</a:t>
                      </a:r>
                      <a:endParaRPr sz="10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1F2A44"/>
                    </a:solidFill>
                  </a:tcPr>
                </a:tc>
              </a:tr>
              <a:tr h="640075">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agent가 무엇을 해야 하는가?</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system_prompt</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Orchestrator 지시와 role 이름</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40075">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누가 실제로 행동했는가?</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history.name</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history.role</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40075">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task가 어떻게 배분되었는가?</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agent 간 발화 순서</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Orchestrator → WebSurfer/FileSurfer 메시지</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40075">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오류가 어디서 시작되었는가?</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mistake_step과 해당 name의 content</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mistake_step과 role 흐름</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40075">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최종 답은 왜 틀렸는가?</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ground_truth와 history 결과 비교</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ground_truth와 final answer 비교</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132" name="Google Shape;132;p12"/>
          <p:cNvSpPr/>
          <p:nvPr/>
        </p:nvSpPr>
        <p:spPr>
          <a:xfrm>
            <a:off x="777240" y="5321808"/>
            <a:ext cx="182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200"/>
              <a:buFont typeface="Malgun Gothic"/>
              <a:buNone/>
            </a:pPr>
            <a:r>
              <a:rPr b="0" i="0" lang="en-US" sz="1200" u="none" cap="none" strike="noStrike">
                <a:solidFill>
                  <a:srgbClr val="355C7D"/>
                </a:solidFill>
                <a:latin typeface="Malgun Gothic"/>
                <a:ea typeface="Malgun Gothic"/>
                <a:cs typeface="Malgun Gothic"/>
                <a:sym typeface="Malgun Gothic"/>
              </a:rPr>
              <a:t>•</a:t>
            </a:r>
            <a:endParaRPr b="0" i="0" sz="1200" u="none" cap="none" strike="noStrike">
              <a:solidFill>
                <a:schemeClr val="dk1"/>
              </a:solidFill>
              <a:latin typeface="Malgun Gothic"/>
              <a:ea typeface="Malgun Gothic"/>
              <a:cs typeface="Malgun Gothic"/>
              <a:sym typeface="Malgun Gothic"/>
            </a:endParaRPr>
          </a:p>
        </p:txBody>
      </p:sp>
      <p:sp>
        <p:nvSpPr>
          <p:cNvPr id="133" name="Google Shape;133;p12"/>
          <p:cNvSpPr/>
          <p:nvPr/>
        </p:nvSpPr>
        <p:spPr>
          <a:xfrm>
            <a:off x="1033272" y="5321808"/>
            <a:ext cx="1025956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200"/>
              <a:buFont typeface="Malgun Gothic"/>
              <a:buNone/>
            </a:pPr>
            <a:r>
              <a:rPr b="0" i="0" lang="en-US" sz="1200" u="none" cap="none" strike="noStrike">
                <a:solidFill>
                  <a:srgbClr val="111827"/>
                </a:solidFill>
                <a:latin typeface="Malgun Gothic"/>
                <a:ea typeface="Malgun Gothic"/>
                <a:cs typeface="Malgun Gothic"/>
                <a:sym typeface="Malgun Gothic"/>
              </a:rPr>
              <a:t>AG는 agent 이름이 세분화되어 있어 역할은 잘 보이지만, 문제마다 agent pool이 달라진다.</a:t>
            </a:r>
            <a:endParaRPr b="0" i="0" sz="1200" u="none" cap="none" strike="noStrike">
              <a:solidFill>
                <a:schemeClr val="dk1"/>
              </a:solidFill>
              <a:latin typeface="Malgun Gothic"/>
              <a:ea typeface="Malgun Gothic"/>
              <a:cs typeface="Malgun Gothic"/>
              <a:sym typeface="Malgun Gothic"/>
            </a:endParaRPr>
          </a:p>
        </p:txBody>
      </p:sp>
      <p:sp>
        <p:nvSpPr>
          <p:cNvPr id="134" name="Google Shape;134;p12"/>
          <p:cNvSpPr/>
          <p:nvPr/>
        </p:nvSpPr>
        <p:spPr>
          <a:xfrm>
            <a:off x="777240" y="5705856"/>
            <a:ext cx="182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200"/>
              <a:buFont typeface="Malgun Gothic"/>
              <a:buNone/>
            </a:pPr>
            <a:r>
              <a:rPr b="0" i="0" lang="en-US" sz="1200" u="none" cap="none" strike="noStrike">
                <a:solidFill>
                  <a:srgbClr val="355C7D"/>
                </a:solidFill>
                <a:latin typeface="Malgun Gothic"/>
                <a:ea typeface="Malgun Gothic"/>
                <a:cs typeface="Malgun Gothic"/>
                <a:sym typeface="Malgun Gothic"/>
              </a:rPr>
              <a:t>•</a:t>
            </a:r>
            <a:endParaRPr b="0" i="0" sz="1200" u="none" cap="none" strike="noStrike">
              <a:solidFill>
                <a:schemeClr val="dk1"/>
              </a:solidFill>
              <a:latin typeface="Malgun Gothic"/>
              <a:ea typeface="Malgun Gothic"/>
              <a:cs typeface="Malgun Gothic"/>
              <a:sym typeface="Malgun Gothic"/>
            </a:endParaRPr>
          </a:p>
        </p:txBody>
      </p:sp>
      <p:sp>
        <p:nvSpPr>
          <p:cNvPr id="135" name="Google Shape;135;p12"/>
          <p:cNvSpPr/>
          <p:nvPr/>
        </p:nvSpPr>
        <p:spPr>
          <a:xfrm>
            <a:off x="1033272" y="5705856"/>
            <a:ext cx="1025956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200"/>
              <a:buFont typeface="Malgun Gothic"/>
              <a:buNone/>
            </a:pPr>
            <a:r>
              <a:rPr b="0" i="0" lang="en-US" sz="1200" u="none" cap="none" strike="noStrike">
                <a:solidFill>
                  <a:srgbClr val="111827"/>
                </a:solidFill>
                <a:latin typeface="Malgun Gothic"/>
                <a:ea typeface="Malgun Gothic"/>
                <a:cs typeface="Malgun Gothic"/>
                <a:sym typeface="Malgun Gothic"/>
              </a:rPr>
              <a:t>HC는 agent pool은 더 반복적이지만, 긴 history 안에서 지시와 실행을 따라가야 한다.</a:t>
            </a:r>
            <a:endParaRPr b="0" i="0" sz="1200" u="none" cap="none" strike="noStrike">
              <a:solidFill>
                <a:schemeClr val="dk1"/>
              </a:solidFill>
              <a:latin typeface="Malgun Gothic"/>
              <a:ea typeface="Malgun Gothic"/>
              <a:cs typeface="Malgun Gothic"/>
              <a:sym typeface="Malgun Gothic"/>
            </a:endParaRPr>
          </a:p>
        </p:txBody>
      </p:sp>
      <p:sp>
        <p:nvSpPr>
          <p:cNvPr id="136" name="Google Shape;136;p12"/>
          <p:cNvSpPr/>
          <p:nvPr/>
        </p:nvSpPr>
        <p:spPr>
          <a:xfrm>
            <a:off x="777240" y="6089904"/>
            <a:ext cx="182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200"/>
              <a:buFont typeface="Malgun Gothic"/>
              <a:buNone/>
            </a:pPr>
            <a:r>
              <a:rPr b="0" i="0" lang="en-US" sz="1200" u="none" cap="none" strike="noStrike">
                <a:solidFill>
                  <a:srgbClr val="355C7D"/>
                </a:solidFill>
                <a:latin typeface="Malgun Gothic"/>
                <a:ea typeface="Malgun Gothic"/>
                <a:cs typeface="Malgun Gothic"/>
                <a:sym typeface="Malgun Gothic"/>
              </a:rPr>
              <a:t>•</a:t>
            </a:r>
            <a:endParaRPr b="0" i="0" sz="1200" u="none" cap="none" strike="noStrike">
              <a:solidFill>
                <a:schemeClr val="dk1"/>
              </a:solidFill>
              <a:latin typeface="Malgun Gothic"/>
              <a:ea typeface="Malgun Gothic"/>
              <a:cs typeface="Malgun Gothic"/>
              <a:sym typeface="Malgun Gothic"/>
            </a:endParaRPr>
          </a:p>
        </p:txBody>
      </p:sp>
      <p:sp>
        <p:nvSpPr>
          <p:cNvPr id="137" name="Google Shape;137;p12"/>
          <p:cNvSpPr/>
          <p:nvPr/>
        </p:nvSpPr>
        <p:spPr>
          <a:xfrm>
            <a:off x="1033272" y="6089904"/>
            <a:ext cx="1025956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200"/>
              <a:buFont typeface="Malgun Gothic"/>
              <a:buNone/>
            </a:pPr>
            <a:r>
              <a:rPr b="0" i="0" lang="en-US" sz="1200" u="none" cap="none" strike="noStrike">
                <a:solidFill>
                  <a:srgbClr val="111827"/>
                </a:solidFill>
                <a:latin typeface="Malgun Gothic"/>
                <a:ea typeface="Malgun Gothic"/>
                <a:cs typeface="Malgun Gothic"/>
                <a:sym typeface="Malgun Gothic"/>
              </a:rPr>
              <a:t>따라서 query-task-agent 분석은 두 split에서 방식이 다르게 적용되어야 한다.</a:t>
            </a:r>
            <a:endParaRPr b="0" i="0" sz="12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13"/>
          <p:cNvSpPr/>
          <p:nvPr/>
        </p:nvSpPr>
        <p:spPr>
          <a:xfrm>
            <a:off x="685800" y="777313"/>
            <a:ext cx="10515600" cy="402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900"/>
              <a:buFont typeface="Malgun Gothic"/>
              <a:buNone/>
            </a:pPr>
            <a:r>
              <a:rPr b="1" i="0" lang="en-US" sz="2900" u="none" cap="none" strike="noStrike">
                <a:solidFill>
                  <a:srgbClr val="1F2A44"/>
                </a:solidFill>
                <a:latin typeface="Malgun Gothic"/>
                <a:ea typeface="Malgun Gothic"/>
                <a:cs typeface="Malgun Gothic"/>
                <a:sym typeface="Malgun Gothic"/>
              </a:rPr>
              <a:t>3. Agent 세부 정의</a:t>
            </a:r>
            <a:endParaRPr b="0" i="0" sz="2900" u="none" cap="none" strike="noStrike">
              <a:solidFill>
                <a:schemeClr val="dk1"/>
              </a:solidFill>
              <a:latin typeface="Malgun Gothic"/>
              <a:ea typeface="Malgun Gothic"/>
              <a:cs typeface="Malgun Gothic"/>
              <a:sym typeface="Malgun Gothic"/>
            </a:endParaRPr>
          </a:p>
        </p:txBody>
      </p:sp>
      <p:cxnSp>
        <p:nvCxnSpPr>
          <p:cNvPr id="144" name="Google Shape;144;p13"/>
          <p:cNvCxnSpPr/>
          <p:nvPr/>
        </p:nvCxnSpPr>
        <p:spPr>
          <a:xfrm>
            <a:off x="713232" y="6143263"/>
            <a:ext cx="1828800" cy="0"/>
          </a:xfrm>
          <a:prstGeom prst="straightConnector1">
            <a:avLst/>
          </a:prstGeom>
          <a:noFill/>
          <a:ln cap="flat" cmpd="sng" w="50800">
            <a:solidFill>
              <a:srgbClr val="6C5CE7"/>
            </a:solidFill>
            <a:prstDash val="solid"/>
            <a:round/>
            <a:headEnd len="sm" w="sm" type="none"/>
            <a:tailEnd len="sm" w="sm" type="none"/>
          </a:ln>
        </p:spPr>
      </p:cxnSp>
      <p:sp>
        <p:nvSpPr>
          <p:cNvPr id="145" name="Google Shape;145;p13"/>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13</a:t>
            </a:r>
            <a:endParaRPr b="0" i="0" sz="8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14"/>
          <p:cNvSpPr/>
          <p:nvPr/>
        </p:nvSpPr>
        <p:spPr>
          <a:xfrm>
            <a:off x="438900" y="228600"/>
            <a:ext cx="11292900" cy="57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Algorithm Generated agent 정의 1</a:t>
            </a:r>
            <a:endParaRPr b="0" i="0" sz="2200" u="none" cap="none" strike="noStrike">
              <a:solidFill>
                <a:schemeClr val="dk1"/>
              </a:solidFill>
              <a:latin typeface="Malgun Gothic"/>
              <a:ea typeface="Malgun Gothic"/>
              <a:cs typeface="Malgun Gothic"/>
              <a:sym typeface="Malgun Gothic"/>
            </a:endParaRPr>
          </a:p>
        </p:txBody>
      </p:sp>
      <p:cxnSp>
        <p:nvCxnSpPr>
          <p:cNvPr id="152" name="Google Shape;152;p14"/>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153" name="Google Shape;153;p14"/>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14</a:t>
            </a:r>
            <a:endParaRPr b="0" i="0" sz="800" u="none" cap="none" strike="noStrike">
              <a:solidFill>
                <a:schemeClr val="dk1"/>
              </a:solidFill>
              <a:latin typeface="Malgun Gothic"/>
              <a:ea typeface="Malgun Gothic"/>
              <a:cs typeface="Malgun Gothic"/>
              <a:sym typeface="Malgun Gothic"/>
            </a:endParaRPr>
          </a:p>
        </p:txBody>
      </p:sp>
      <p:graphicFrame>
        <p:nvGraphicFramePr>
          <p:cNvPr id="154" name="Google Shape;154;p14"/>
          <p:cNvGraphicFramePr/>
          <p:nvPr/>
        </p:nvGraphicFramePr>
        <p:xfrm>
          <a:off x="502920" y="1078992"/>
          <a:ext cx="3000000" cy="3000000"/>
        </p:xfrm>
        <a:graphic>
          <a:graphicData uri="http://schemas.openxmlformats.org/drawingml/2006/table">
            <a:tbl>
              <a:tblPr>
                <a:noFill/>
                <a:tableStyleId>{50896835-E566-46DC-AF42-435CE09E4439}</a:tableStyleId>
              </a:tblPr>
              <a:tblGrid>
                <a:gridCol w="1828800"/>
                <a:gridCol w="2971800"/>
                <a:gridCol w="2926075"/>
                <a:gridCol w="3474725"/>
              </a:tblGrid>
              <a:tr h="69887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정의</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주로 맡는 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실패 가능 지점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6988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다른 agent의 결과를 검증하는 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최종 답 검토, 조건 충족 여부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검증 없이 틀린 답 승인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988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데이터/코드 결과를 검증하는 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데이터 정확성, 코드 결과 점검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잘못된 코드나 빈 결과를 그대로 받아들임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988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DataAnalysis_Expert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수치·표·데이터 분석 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CSV 분석, 최대/최소 계산, 차이 계산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데이터 없이 임의 데이터 사용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988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Excel_Expert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Excel 파일을 읽고 열/행 처리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엑셀 열 확인, 주소/고객 수 계산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edge case 누락</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988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Statistics_Expert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통계/집계 문제 처리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최소/최대, tie-breaking, 분포 계산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자료 대신 생성 데이터 사용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988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Computer_terminal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코드 실행 도구 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Python/shell 실행 결과 반환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판단 없이 실행만 수행</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15"/>
          <p:cNvSpPr/>
          <p:nvPr/>
        </p:nvSpPr>
        <p:spPr>
          <a:xfrm>
            <a:off x="438900" y="228600"/>
            <a:ext cx="11292900" cy="63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Algorithm Generated agent 정의 2</a:t>
            </a:r>
            <a:endParaRPr b="0" i="0" sz="2200" u="none" cap="none" strike="noStrike">
              <a:solidFill>
                <a:schemeClr val="dk1"/>
              </a:solidFill>
              <a:latin typeface="Malgun Gothic"/>
              <a:ea typeface="Malgun Gothic"/>
              <a:cs typeface="Malgun Gothic"/>
              <a:sym typeface="Malgun Gothic"/>
            </a:endParaRPr>
          </a:p>
        </p:txBody>
      </p:sp>
      <p:cxnSp>
        <p:nvCxnSpPr>
          <p:cNvPr id="161" name="Google Shape;161;p15"/>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162" name="Google Shape;162;p15"/>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15</a:t>
            </a:r>
            <a:endParaRPr b="0" i="0" sz="800" u="none" cap="none" strike="noStrike">
              <a:solidFill>
                <a:schemeClr val="dk1"/>
              </a:solidFill>
              <a:latin typeface="Malgun Gothic"/>
              <a:ea typeface="Malgun Gothic"/>
              <a:cs typeface="Malgun Gothic"/>
              <a:sym typeface="Malgun Gothic"/>
            </a:endParaRPr>
          </a:p>
        </p:txBody>
      </p:sp>
      <p:graphicFrame>
        <p:nvGraphicFramePr>
          <p:cNvPr id="163" name="Google Shape;163;p15"/>
          <p:cNvGraphicFramePr/>
          <p:nvPr/>
        </p:nvGraphicFramePr>
        <p:xfrm>
          <a:off x="411480" y="1024128"/>
          <a:ext cx="3000000" cy="3000000"/>
        </p:xfrm>
        <a:graphic>
          <a:graphicData uri="http://schemas.openxmlformats.org/drawingml/2006/table">
            <a:tbl>
              <a:tblPr>
                <a:noFill/>
                <a:tableStyleId>{50896835-E566-46DC-AF42-435CE09E4439}</a:tableStyleId>
              </a:tblPr>
              <a:tblGrid>
                <a:gridCol w="1920250"/>
                <a:gridCol w="2834650"/>
                <a:gridCol w="2834650"/>
                <a:gridCol w="3794750"/>
              </a:tblGrid>
              <a:tr h="64007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정의</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주로 맡는 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실패 가능 지점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6400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ArtHistory_Expert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미술 전시, 작품, 이미지 맥락 조사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전시 정보 확인, 이미지/작품 해석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웹사이트 내용을 확인하지 않고 지어냄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400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Chinese_Zodiac_Expert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중국 십이지·상징 해석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zodiac 동물 식별, 전시 해석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관련 정보 수집 부족</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400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Culinary_Awards_Expert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James Beard Award/음식 관련 조사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수상자, 추천 식당, 책 제목 연결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식당 이름을 못 찾거나 wrong direction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400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Video_Analyst_Expert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YouTube 영상 탐색과 분석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영상 찾기, 장면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영상 ID를 못 찾거나 잘못된 영상 사용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400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Narration_Expert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영상/음성에서 발화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narration 청취, 숫자 추출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음성 확인 없이 추정</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400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Local_Knowledge_Expert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특정 지역 장소와 시설 정보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주변 시설, 위치 반경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가짜 전화번호/부정확한 지역 지식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400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Fitness_Expert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헬스장 운영과 수업 스케줄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class schedule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schedule 확인 없이 추정</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16"/>
          <p:cNvSpPr/>
          <p:nvPr/>
        </p:nvSpPr>
        <p:spPr>
          <a:xfrm>
            <a:off x="438900" y="228600"/>
            <a:ext cx="11292900" cy="61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Hand Crafted agent 정의</a:t>
            </a:r>
            <a:endParaRPr b="0" i="0" sz="2200" u="none" cap="none" strike="noStrike">
              <a:solidFill>
                <a:schemeClr val="dk1"/>
              </a:solidFill>
              <a:latin typeface="Malgun Gothic"/>
              <a:ea typeface="Malgun Gothic"/>
              <a:cs typeface="Malgun Gothic"/>
              <a:sym typeface="Malgun Gothic"/>
            </a:endParaRPr>
          </a:p>
        </p:txBody>
      </p:sp>
      <p:cxnSp>
        <p:nvCxnSpPr>
          <p:cNvPr id="170" name="Google Shape;170;p16"/>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171" name="Google Shape;171;p16"/>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16</a:t>
            </a:r>
            <a:endParaRPr b="0" i="0" sz="800" u="none" cap="none" strike="noStrike">
              <a:solidFill>
                <a:schemeClr val="dk1"/>
              </a:solidFill>
              <a:latin typeface="Malgun Gothic"/>
              <a:ea typeface="Malgun Gothic"/>
              <a:cs typeface="Malgun Gothic"/>
              <a:sym typeface="Malgun Gothic"/>
            </a:endParaRPr>
          </a:p>
        </p:txBody>
      </p:sp>
      <p:graphicFrame>
        <p:nvGraphicFramePr>
          <p:cNvPr id="172" name="Google Shape;172;p16"/>
          <p:cNvGraphicFramePr/>
          <p:nvPr/>
        </p:nvGraphicFramePr>
        <p:xfrm>
          <a:off x="502920" y="1115568"/>
          <a:ext cx="3000000" cy="3000000"/>
        </p:xfrm>
        <a:graphic>
          <a:graphicData uri="http://schemas.openxmlformats.org/drawingml/2006/table">
            <a:tbl>
              <a:tblPr>
                <a:noFill/>
                <a:tableStyleId>{50896835-E566-46DC-AF42-435CE09E4439}</a:tableStyleId>
              </a:tblPr>
              <a:tblGrid>
                <a:gridCol w="1783075"/>
                <a:gridCol w="3291850"/>
                <a:gridCol w="2971800"/>
                <a:gridCol w="3154675"/>
              </a:tblGrid>
              <a:tr h="60197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정의</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주로 맡는 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실패 가능 지점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6019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전체 작업을 계획하고 다음 agent를 선택하는 조정자</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query 해석, 작업 분배, 다음 speaker 선택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잘못된 지시를 내려 전체 방향을 틀 수 있음</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019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웹 브라우저로 검색, 클릭, 페이지 확인을 수행</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웹 검색, 페이지 탐색, OCR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유용한 정보를 못 찾거나 잘못된 페이지를 신뢰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019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로컬 파일, PDF, 오디오, 문서를 탐색</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파일 열기, PDF/문서/오디오 정보 추출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필요한 정보를 잘못 추출하거나 처리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019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일반 보조 및 최종 답변 정리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최종 응답, 계산, 요약</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중간 오류를 받아 최종 오답 생성</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019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ComputerTerminal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코드 실행만 담당하는 도구 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Python/shell 실행</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직접 판단하지 않고 실행 결과만 반환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173" name="Google Shape;173;p16"/>
          <p:cNvSpPr/>
          <p:nvPr/>
        </p:nvSpPr>
        <p:spPr>
          <a:xfrm>
            <a:off x="685800" y="5074920"/>
            <a:ext cx="10835640" cy="822960"/>
          </a:xfrm>
          <a:prstGeom prst="roundRect">
            <a:avLst>
              <a:gd fmla="val 5556"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
          <p:cNvSpPr/>
          <p:nvPr/>
        </p:nvSpPr>
        <p:spPr>
          <a:xfrm>
            <a:off x="822960" y="5166360"/>
            <a:ext cx="10561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Malgun Gothic"/>
              <a:buNone/>
            </a:pPr>
            <a:r>
              <a:rPr b="1" i="0" lang="en-US" sz="1100" u="none" cap="none" strike="noStrike">
                <a:solidFill>
                  <a:srgbClr val="2A9D8F"/>
                </a:solidFill>
                <a:latin typeface="Malgun Gothic"/>
                <a:ea typeface="Malgun Gothic"/>
                <a:cs typeface="Malgun Gothic"/>
                <a:sym typeface="Malgun Gothic"/>
              </a:rPr>
              <a:t>핵심 차이</a:t>
            </a:r>
            <a:endParaRPr b="0" i="0" sz="1100" u="none" cap="none" strike="noStrike">
              <a:solidFill>
                <a:schemeClr val="dk1"/>
              </a:solidFill>
              <a:latin typeface="Malgun Gothic"/>
              <a:ea typeface="Malgun Gothic"/>
              <a:cs typeface="Malgun Gothic"/>
              <a:sym typeface="Malgun Gothic"/>
            </a:endParaRPr>
          </a:p>
        </p:txBody>
      </p:sp>
      <p:sp>
        <p:nvSpPr>
          <p:cNvPr id="175" name="Google Shape;175;p16"/>
          <p:cNvSpPr/>
          <p:nvPr/>
        </p:nvSpPr>
        <p:spPr>
          <a:xfrm>
            <a:off x="822960" y="5458968"/>
            <a:ext cx="10561320"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AG의 agent 정의는 system_prompt 기반으로 명시적이고 세분화되어 있다. HC의 agent 정의는 더 일반적이며, 실제 역할은 Orchestrator의 지시와 history 흐름을 따라가며 확인해야 한다.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sp>
        <p:nvSpPr>
          <p:cNvPr id="181" name="Google Shape;181;p18"/>
          <p:cNvSpPr/>
          <p:nvPr/>
        </p:nvSpPr>
        <p:spPr>
          <a:xfrm>
            <a:off x="685800" y="777311"/>
            <a:ext cx="10515600" cy="389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900"/>
              <a:buFont typeface="Malgun Gothic"/>
              <a:buNone/>
            </a:pPr>
            <a:r>
              <a:rPr b="1" i="0" lang="en-US" sz="2900" u="none" cap="none" strike="noStrike">
                <a:solidFill>
                  <a:srgbClr val="1F2A44"/>
                </a:solidFill>
                <a:latin typeface="Malgun Gothic"/>
                <a:ea typeface="Malgun Gothic"/>
                <a:cs typeface="Malgun Gothic"/>
                <a:sym typeface="Malgun Gothic"/>
              </a:rPr>
              <a:t>4. 1</a:t>
            </a:r>
            <a:r>
              <a:rPr b="1" lang="en-US" sz="2900">
                <a:solidFill>
                  <a:srgbClr val="1F2A44"/>
                </a:solidFill>
                <a:latin typeface="Malgun Gothic"/>
                <a:ea typeface="Malgun Gothic"/>
                <a:cs typeface="Malgun Gothic"/>
                <a:sym typeface="Malgun Gothic"/>
              </a:rPr>
              <a:t>4</a:t>
            </a:r>
            <a:r>
              <a:rPr b="1" i="0" lang="en-US" sz="2900" u="none" cap="none" strike="noStrike">
                <a:solidFill>
                  <a:srgbClr val="1F2A44"/>
                </a:solidFill>
                <a:latin typeface="Malgun Gothic"/>
                <a:ea typeface="Malgun Gothic"/>
                <a:cs typeface="Malgun Gothic"/>
                <a:sym typeface="Malgun Gothic"/>
              </a:rPr>
              <a:t>개 사례 상세 분석</a:t>
            </a:r>
            <a:endParaRPr b="0" i="0" sz="2900" u="none" cap="none" strike="noStrike">
              <a:solidFill>
                <a:schemeClr val="dk1"/>
              </a:solidFill>
              <a:latin typeface="Malgun Gothic"/>
              <a:ea typeface="Malgun Gothic"/>
              <a:cs typeface="Malgun Gothic"/>
              <a:sym typeface="Malgun Gothic"/>
            </a:endParaRPr>
          </a:p>
        </p:txBody>
      </p:sp>
      <p:cxnSp>
        <p:nvCxnSpPr>
          <p:cNvPr id="182" name="Google Shape;182;p18"/>
          <p:cNvCxnSpPr/>
          <p:nvPr/>
        </p:nvCxnSpPr>
        <p:spPr>
          <a:xfrm>
            <a:off x="713232" y="5975686"/>
            <a:ext cx="1828800" cy="0"/>
          </a:xfrm>
          <a:prstGeom prst="straightConnector1">
            <a:avLst/>
          </a:prstGeom>
          <a:noFill/>
          <a:ln cap="flat" cmpd="sng" w="50800">
            <a:solidFill>
              <a:srgbClr val="F29E4C"/>
            </a:solidFill>
            <a:prstDash val="solid"/>
            <a:round/>
            <a:headEnd len="sm" w="sm" type="none"/>
            <a:tailEnd len="sm" w="sm" type="none"/>
          </a:ln>
        </p:spPr>
      </p:cxnSp>
      <p:sp>
        <p:nvSpPr>
          <p:cNvPr id="183" name="Google Shape;183;p18"/>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18</a:t>
            </a:r>
            <a:endParaRPr b="0" i="0" sz="8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 name="Shape 188"/>
        <p:cNvGrpSpPr/>
        <p:nvPr/>
      </p:nvGrpSpPr>
      <p:grpSpPr>
        <a:xfrm>
          <a:off x="0" y="0"/>
          <a:ext cx="0" cy="0"/>
          <a:chOff x="0" y="0"/>
          <a:chExt cx="0" cy="0"/>
        </a:xfrm>
      </p:grpSpPr>
      <p:sp>
        <p:nvSpPr>
          <p:cNvPr id="189" name="Google Shape;189;p19"/>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1</a:t>
            </a:r>
            <a:r>
              <a:rPr b="1" lang="en-US" sz="2200">
                <a:solidFill>
                  <a:srgbClr val="1F2A44"/>
                </a:solidFill>
                <a:latin typeface="Malgun Gothic"/>
                <a:ea typeface="Malgun Gothic"/>
                <a:cs typeface="Malgun Gothic"/>
                <a:sym typeface="Malgun Gothic"/>
              </a:rPr>
              <a:t>4</a:t>
            </a:r>
            <a:r>
              <a:rPr b="1" i="0" lang="en-US" sz="2200" u="none" cap="none" strike="noStrike">
                <a:solidFill>
                  <a:srgbClr val="1F2A44"/>
                </a:solidFill>
                <a:latin typeface="Malgun Gothic"/>
                <a:ea typeface="Malgun Gothic"/>
                <a:cs typeface="Malgun Gothic"/>
                <a:sym typeface="Malgun Gothic"/>
              </a:rPr>
              <a:t>개 사례 요약표 1: Algorithm Generated </a:t>
            </a:r>
            <a:r>
              <a:rPr b="1" lang="en-US" sz="2200">
                <a:solidFill>
                  <a:srgbClr val="1F2A44"/>
                </a:solidFill>
                <a:latin typeface="Malgun Gothic"/>
                <a:ea typeface="Malgun Gothic"/>
                <a:cs typeface="Malgun Gothic"/>
                <a:sym typeface="Malgun Gothic"/>
              </a:rPr>
              <a:t>7</a:t>
            </a:r>
            <a:r>
              <a:rPr b="1" i="0" lang="en-US" sz="2200" u="none" cap="none" strike="noStrike">
                <a:solidFill>
                  <a:srgbClr val="1F2A44"/>
                </a:solidFill>
                <a:latin typeface="Malgun Gothic"/>
                <a:ea typeface="Malgun Gothic"/>
                <a:cs typeface="Malgun Gothic"/>
                <a:sym typeface="Malgun Gothic"/>
              </a:rPr>
              <a:t>개</a:t>
            </a:r>
            <a:endParaRPr b="0" i="0" sz="2200" u="none" cap="none" strike="noStrike">
              <a:solidFill>
                <a:schemeClr val="dk1"/>
              </a:solidFill>
              <a:latin typeface="Malgun Gothic"/>
              <a:ea typeface="Malgun Gothic"/>
              <a:cs typeface="Malgun Gothic"/>
              <a:sym typeface="Malgun Gothic"/>
            </a:endParaRPr>
          </a:p>
        </p:txBody>
      </p:sp>
      <p:sp>
        <p:nvSpPr>
          <p:cNvPr id="190" name="Google Shape;190;p19"/>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각 사례의 핵심 실패 유형</a:t>
            </a:r>
            <a:endParaRPr b="0" i="0" sz="950" u="none" cap="none" strike="noStrike">
              <a:solidFill>
                <a:schemeClr val="dk1"/>
              </a:solidFill>
              <a:latin typeface="Malgun Gothic"/>
              <a:ea typeface="Malgun Gothic"/>
              <a:cs typeface="Malgun Gothic"/>
              <a:sym typeface="Malgun Gothic"/>
            </a:endParaRPr>
          </a:p>
        </p:txBody>
      </p:sp>
      <p:cxnSp>
        <p:nvCxnSpPr>
          <p:cNvPr id="191" name="Google Shape;191;p19"/>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192" name="Google Shape;192;p19"/>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19</a:t>
            </a:r>
            <a:endParaRPr b="0" i="0" sz="800" u="none" cap="none" strike="noStrike">
              <a:solidFill>
                <a:schemeClr val="dk1"/>
              </a:solidFill>
              <a:latin typeface="Malgun Gothic"/>
              <a:ea typeface="Malgun Gothic"/>
              <a:cs typeface="Malgun Gothic"/>
              <a:sym typeface="Malgun Gothic"/>
            </a:endParaRPr>
          </a:p>
        </p:txBody>
      </p:sp>
      <p:graphicFrame>
        <p:nvGraphicFramePr>
          <p:cNvPr id="193" name="Google Shape;193;p19"/>
          <p:cNvGraphicFramePr/>
          <p:nvPr/>
        </p:nvGraphicFramePr>
        <p:xfrm>
          <a:off x="411480" y="1078992"/>
          <a:ext cx="3000000" cy="3000000"/>
        </p:xfrm>
        <a:graphic>
          <a:graphicData uri="http://schemas.openxmlformats.org/drawingml/2006/table">
            <a:tbl>
              <a:tblPr>
                <a:noFill/>
                <a:tableStyleId>{50896835-E566-46DC-AF42-435CE09E4439}</a:tableStyleId>
              </a:tblPr>
              <a:tblGrid>
                <a:gridCol w="411475"/>
                <a:gridCol w="2606050"/>
                <a:gridCol w="2057400"/>
                <a:gridCol w="2057400"/>
                <a:gridCol w="548650"/>
                <a:gridCol w="3703325"/>
              </a:tblGrid>
              <a:tr h="63390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No</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사례</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ground truth</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mistake_agent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step</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핵심 실패 유형</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6339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California season pass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$55</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retrieval 실패 + 검증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339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1928 Olympics IOC code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CUB</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가짜 데이터 사용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339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3</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Met zodiac hands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11</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ArtHistory_Expert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source fabrication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339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Ali Khan / James Beard book</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Five Hundred Things...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Culinary_Awards_Expert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query 연결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339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5</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YouTube VR narration number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100000000</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Narration_Expert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hallucinated tool input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339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6</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Tompkins Square Park gyms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CrossFit East River; Avea Pilates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6</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검증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339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7</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Harkness eatery</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McDonald's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3</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코드/검증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20"/>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1</a:t>
            </a:r>
            <a:r>
              <a:rPr b="1" lang="en-US" sz="2200">
                <a:solidFill>
                  <a:srgbClr val="1F2A44"/>
                </a:solidFill>
                <a:latin typeface="Malgun Gothic"/>
                <a:ea typeface="Malgun Gothic"/>
                <a:cs typeface="Malgun Gothic"/>
                <a:sym typeface="Malgun Gothic"/>
              </a:rPr>
              <a:t>4</a:t>
            </a:r>
            <a:r>
              <a:rPr b="1" i="0" lang="en-US" sz="2200" u="none" cap="none" strike="noStrike">
                <a:solidFill>
                  <a:srgbClr val="1F2A44"/>
                </a:solidFill>
                <a:latin typeface="Malgun Gothic"/>
                <a:ea typeface="Malgun Gothic"/>
                <a:cs typeface="Malgun Gothic"/>
                <a:sym typeface="Malgun Gothic"/>
              </a:rPr>
              <a:t>개 사례 요약표 2: Hand Crafted 7개</a:t>
            </a:r>
            <a:endParaRPr b="0" i="0" sz="2200" u="none" cap="none" strike="noStrike">
              <a:solidFill>
                <a:schemeClr val="dk1"/>
              </a:solidFill>
              <a:latin typeface="Malgun Gothic"/>
              <a:ea typeface="Malgun Gothic"/>
              <a:cs typeface="Malgun Gothic"/>
              <a:sym typeface="Malgun Gothic"/>
            </a:endParaRPr>
          </a:p>
        </p:txBody>
      </p:sp>
      <p:sp>
        <p:nvSpPr>
          <p:cNvPr id="200" name="Google Shape;200;p20"/>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Orchestrator/WebSurfer/FileSurfer 중심의 실패</a:t>
            </a:r>
            <a:endParaRPr b="0" i="0" sz="950" u="none" cap="none" strike="noStrike">
              <a:solidFill>
                <a:schemeClr val="dk1"/>
              </a:solidFill>
              <a:latin typeface="Malgun Gothic"/>
              <a:ea typeface="Malgun Gothic"/>
              <a:cs typeface="Malgun Gothic"/>
              <a:sym typeface="Malgun Gothic"/>
            </a:endParaRPr>
          </a:p>
        </p:txBody>
      </p:sp>
      <p:cxnSp>
        <p:nvCxnSpPr>
          <p:cNvPr id="201" name="Google Shape;201;p20"/>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202" name="Google Shape;202;p20"/>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20</a:t>
            </a:r>
            <a:endParaRPr b="0" i="0" sz="800" u="none" cap="none" strike="noStrike">
              <a:solidFill>
                <a:schemeClr val="dk1"/>
              </a:solidFill>
              <a:latin typeface="Malgun Gothic"/>
              <a:ea typeface="Malgun Gothic"/>
              <a:cs typeface="Malgun Gothic"/>
              <a:sym typeface="Malgun Gothic"/>
            </a:endParaRPr>
          </a:p>
        </p:txBody>
      </p:sp>
      <p:graphicFrame>
        <p:nvGraphicFramePr>
          <p:cNvPr id="203" name="Google Shape;203;p20"/>
          <p:cNvGraphicFramePr/>
          <p:nvPr/>
        </p:nvGraphicFramePr>
        <p:xfrm>
          <a:off x="411480" y="1078992"/>
          <a:ext cx="3000000" cy="3000000"/>
        </p:xfrm>
        <a:graphic>
          <a:graphicData uri="http://schemas.openxmlformats.org/drawingml/2006/table">
            <a:tbl>
              <a:tblPr>
                <a:noFill/>
                <a:tableStyleId>{50896835-E566-46DC-AF42-435CE09E4439}</a:tableStyleId>
              </a:tblPr>
              <a:tblGrid>
                <a:gridCol w="411475"/>
                <a:gridCol w="2834650"/>
                <a:gridCol w="2057400"/>
                <a:gridCol w="1828800"/>
                <a:gridCol w="548650"/>
                <a:gridCol w="3703325"/>
              </a:tblGrid>
              <a:tr h="5943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No</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사례</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ground truth</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mistake_agent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step</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핵심 실패 유형</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594350">
                <a:tc>
                  <a:txBody>
                    <a:bodyPr/>
                    <a:lstStyle/>
                    <a:p>
                      <a:pPr indent="0" lvl="0" marL="0" marR="0" rtl="0" algn="ctr">
                        <a:spcBef>
                          <a:spcPts val="0"/>
                        </a:spcBef>
                        <a:spcAft>
                          <a:spcPts val="0"/>
                        </a:spcAft>
                        <a:buClr>
                          <a:srgbClr val="111827"/>
                        </a:buClr>
                        <a:buSzPts val="939"/>
                        <a:buFont typeface="Malgun Gothic"/>
                        <a:buNone/>
                      </a:pPr>
                      <a:r>
                        <a:rPr lang="en-US" sz="940">
                          <a:solidFill>
                            <a:srgbClr val="111827"/>
                          </a:solidFill>
                          <a:latin typeface="Malgun Gothic"/>
                          <a:ea typeface="Malgun Gothic"/>
                          <a:cs typeface="Malgun Gothic"/>
                          <a:sym typeface="Malgun Gothic"/>
                        </a:rPr>
                        <a:t>8</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Ted Danson Rotten Tomatoes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CSI: Cyber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웹 검색 품질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94350">
                <a:tc>
                  <a:txBody>
                    <a:bodyPr/>
                    <a:lstStyle/>
                    <a:p>
                      <a:pPr indent="0" lvl="0" marL="0" marR="0" rtl="0" algn="ctr">
                        <a:spcBef>
                          <a:spcPts val="0"/>
                        </a:spcBef>
                        <a:spcAft>
                          <a:spcPts val="0"/>
                        </a:spcAft>
                        <a:buClr>
                          <a:srgbClr val="111827"/>
                        </a:buClr>
                        <a:buSzPts val="939"/>
                        <a:buFont typeface="Malgun Gothic"/>
                        <a:buNone/>
                      </a:pPr>
                      <a:r>
                        <a:rPr lang="en-US" sz="940">
                          <a:solidFill>
                            <a:srgbClr val="111827"/>
                          </a:solidFill>
                          <a:latin typeface="Malgun Gothic"/>
                          <a:ea typeface="Malgun Gothic"/>
                          <a:cs typeface="Malgun Gothic"/>
                          <a:sym typeface="Malgun Gothic"/>
                        </a:rPr>
                        <a:t>9</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American Alligator west of Texas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1954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웹 탐색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94350">
                <a:tc>
                  <a:txBody>
                    <a:bodyPr/>
                    <a:lstStyle/>
                    <a:p>
                      <a:pPr indent="0" lvl="0" marL="0" marR="0" rtl="0" algn="ctr">
                        <a:spcBef>
                          <a:spcPts val="0"/>
                        </a:spcBef>
                        <a:spcAft>
                          <a:spcPts val="0"/>
                        </a:spcAft>
                        <a:buClr>
                          <a:srgbClr val="111827"/>
                        </a:buClr>
                        <a:buSzPts val="939"/>
                        <a:buFont typeface="Malgun Gothic"/>
                        <a:buNone/>
                      </a:pPr>
                      <a:r>
                        <a:rPr lang="en-US" sz="940">
                          <a:solidFill>
                            <a:srgbClr val="111827"/>
                          </a:solidFill>
                          <a:latin typeface="Malgun Gothic"/>
                          <a:ea typeface="Malgun Gothic"/>
                          <a:cs typeface="Malgun Gothic"/>
                          <a:sym typeface="Malgun Gothic"/>
                        </a:rPr>
                        <a:t>10</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BASE DDC 633 unknown language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Guatemala</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8</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웹 탐색/오류 처리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94350">
                <a:tc>
                  <a:txBody>
                    <a:bodyPr/>
                    <a:lstStyle/>
                    <a:p>
                      <a:pPr indent="0" lvl="0" marL="0" marR="0" rtl="0" algn="ctr">
                        <a:spcBef>
                          <a:spcPts val="0"/>
                        </a:spcBef>
                        <a:spcAft>
                          <a:spcPts val="0"/>
                        </a:spcAft>
                        <a:buClr>
                          <a:srgbClr val="111827"/>
                        </a:buClr>
                        <a:buSzPts val="939"/>
                        <a:buFont typeface="Malgun Gothic"/>
                        <a:buNone/>
                      </a:pPr>
                      <a:r>
                        <a:rPr lang="en-US" sz="940">
                          <a:solidFill>
                            <a:srgbClr val="111827"/>
                          </a:solidFill>
                          <a:latin typeface="Malgun Gothic"/>
                          <a:ea typeface="Malgun Gothic"/>
                          <a:cs typeface="Malgun Gothic"/>
                          <a:sym typeface="Malgun Gothic"/>
                        </a:rPr>
                        <a:t>11</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DOI book endnote date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32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파일/PDF 추출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94350">
                <a:tc>
                  <a:txBody>
                    <a:bodyPr/>
                    <a:lstStyle/>
                    <a:p>
                      <a:pPr indent="0" lvl="0" marL="0" marR="0" rtl="0" algn="ctr">
                        <a:spcBef>
                          <a:spcPts val="0"/>
                        </a:spcBef>
                        <a:spcAft>
                          <a:spcPts val="0"/>
                        </a:spcAft>
                        <a:buClr>
                          <a:srgbClr val="111827"/>
                        </a:buClr>
                        <a:buSzPts val="939"/>
                        <a:buFont typeface="Malgun Gothic"/>
                        <a:buNone/>
                      </a:pPr>
                      <a:r>
                        <a:rPr lang="en-US" sz="940">
                          <a:solidFill>
                            <a:srgbClr val="111827"/>
                          </a:solidFill>
                          <a:latin typeface="Malgun Gothic"/>
                          <a:ea typeface="Malgun Gothic"/>
                          <a:cs typeface="Malgun Gothic"/>
                          <a:sym typeface="Malgun Gothic"/>
                        </a:rPr>
                        <a:t>12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Audio calculus reading pages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132,133,134,197,245</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5</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audio/file 처리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94350">
                <a:tc>
                  <a:txBody>
                    <a:bodyPr/>
                    <a:lstStyle/>
                    <a:p>
                      <a:pPr indent="0" lvl="0" marL="0" marR="0" rtl="0" algn="ctr">
                        <a:spcBef>
                          <a:spcPts val="0"/>
                        </a:spcBef>
                        <a:spcAft>
                          <a:spcPts val="0"/>
                        </a:spcAft>
                        <a:buClr>
                          <a:srgbClr val="111827"/>
                        </a:buClr>
                        <a:buSzPts val="939"/>
                        <a:buFont typeface="Malgun Gothic"/>
                        <a:buNone/>
                      </a:pPr>
                      <a:r>
                        <a:rPr lang="en-US" sz="940">
                          <a:solidFill>
                            <a:srgbClr val="111827"/>
                          </a:solidFill>
                          <a:latin typeface="Malgun Gothic"/>
                          <a:ea typeface="Malgun Gothic"/>
                          <a:cs typeface="Malgun Gothic"/>
                          <a:sym typeface="Malgun Gothic"/>
                        </a:rPr>
                        <a:t>13</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Seattle rainy day probability</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14.2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불충분한 근거로 답변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94350">
                <a:tc>
                  <a:txBody>
                    <a:bodyPr/>
                    <a:lstStyle/>
                    <a:p>
                      <a:pPr indent="0" lvl="0" marL="0" marR="0" rtl="0" algn="ctr">
                        <a:spcBef>
                          <a:spcPts val="0"/>
                        </a:spcBef>
                        <a:spcAft>
                          <a:spcPts val="0"/>
                        </a:spcAft>
                        <a:buClr>
                          <a:srgbClr val="111827"/>
                        </a:buClr>
                        <a:buSzPts val="939"/>
                        <a:buFont typeface="Malgun Gothic"/>
                        <a:buNone/>
                      </a:pPr>
                      <a:r>
                        <a:rPr lang="en-US" sz="940">
                          <a:solidFill>
                            <a:srgbClr val="111827"/>
                          </a:solidFill>
                          <a:latin typeface="Malgun Gothic"/>
                          <a:ea typeface="Malgun Gothic"/>
                          <a:cs typeface="Malgun Gothic"/>
                          <a:sym typeface="Malgun Gothic"/>
                        </a:rPr>
                        <a:t>14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Beluga whale GFF3 link</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Ensembl release 101 URL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30</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 지시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21"/>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1. California Great America season pass</a:t>
            </a:r>
            <a:endParaRPr b="0" i="0" sz="2200" u="none" cap="none" strike="noStrike">
              <a:solidFill>
                <a:schemeClr val="dk1"/>
              </a:solidFill>
              <a:latin typeface="Malgun Gothic"/>
              <a:ea typeface="Malgun Gothic"/>
              <a:cs typeface="Malgun Gothic"/>
              <a:sym typeface="Malgun Gothic"/>
            </a:endParaRPr>
          </a:p>
        </p:txBody>
      </p:sp>
      <p:sp>
        <p:nvSpPr>
          <p:cNvPr id="210" name="Google Shape;210;p21"/>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Algorithm Generated · 115.json</a:t>
            </a:r>
            <a:endParaRPr b="0" i="0" sz="950" u="none" cap="none" strike="noStrike">
              <a:solidFill>
                <a:schemeClr val="dk1"/>
              </a:solidFill>
              <a:latin typeface="Malgun Gothic"/>
              <a:ea typeface="Malgun Gothic"/>
              <a:cs typeface="Malgun Gothic"/>
              <a:sym typeface="Malgun Gothic"/>
            </a:endParaRPr>
          </a:p>
        </p:txBody>
      </p:sp>
      <p:cxnSp>
        <p:nvCxnSpPr>
          <p:cNvPr id="211" name="Google Shape;211;p21"/>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212" name="Google Shape;212;p21"/>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21</a:t>
            </a:r>
            <a:endParaRPr b="0" i="0" sz="800" u="none" cap="none" strike="noStrike">
              <a:solidFill>
                <a:schemeClr val="dk1"/>
              </a:solidFill>
              <a:latin typeface="Malgun Gothic"/>
              <a:ea typeface="Malgun Gothic"/>
              <a:cs typeface="Malgun Gothic"/>
              <a:sym typeface="Malgun Gothic"/>
            </a:endParaRPr>
          </a:p>
        </p:txBody>
      </p:sp>
      <p:sp>
        <p:nvSpPr>
          <p:cNvPr id="213" name="Google Shape;213;p21"/>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How much did I save by purchasing a season pass instead of daily tickets for California's Great America in San Jose, if I planned to visit once a month in June, July, August, and September during the summer of 2024?</a:t>
            </a:r>
            <a:endParaRPr b="0" i="0" sz="1050" u="none" cap="none" strike="noStrike">
              <a:solidFill>
                <a:schemeClr val="dk1"/>
              </a:solidFill>
              <a:latin typeface="Malgun Gothic"/>
              <a:ea typeface="Malgun Gothic"/>
              <a:cs typeface="Malgun Gothic"/>
              <a:sym typeface="Malgun Gothic"/>
            </a:endParaRPr>
          </a:p>
        </p:txBody>
      </p:sp>
      <p:graphicFrame>
        <p:nvGraphicFramePr>
          <p:cNvPr id="214" name="Google Shape;214;p21"/>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$55</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ArithmeticProgressions_Expert, Computer_terminal, 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The agent fails to collect price data for the daily tickets and season passes for California's Great America in 2024.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215" name="Google Shape;215;p21"/>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7772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ArithmeticProgressions_Expert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방문 횟수와 비용 차이를 계산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daily ticket 가격과 season pass 가격이 실제 2024년 값인지 검증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Computer_terminal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코드 실행 요청이 있을 때만 실행하는 도구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216" name="Google Shape;216;p21"/>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1"/>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100"/>
              <a:buFont typeface="Malgun Gothic"/>
              <a:buNone/>
            </a:pPr>
            <a:r>
              <a:rPr b="1" i="0" lang="en-US" sz="1100" u="none" cap="none" strike="noStrike">
                <a:solidFill>
                  <a:srgbClr val="355C7D"/>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218" name="Google Shape;218;p21"/>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계산 문제가 아니라 가격 </a:t>
            </a:r>
            <a:r>
              <a:rPr lang="en-US" sz="1050">
                <a:solidFill>
                  <a:srgbClr val="111827"/>
                </a:solidFill>
                <a:latin typeface="Malgun Gothic"/>
                <a:ea typeface="Malgun Gothic"/>
                <a:cs typeface="Malgun Gothic"/>
                <a:sym typeface="Malgun Gothic"/>
              </a:rPr>
              <a:t>검색</a:t>
            </a:r>
            <a:r>
              <a:rPr b="0" i="0" lang="en-US" sz="1050" u="none" cap="none" strike="noStrike">
                <a:solidFill>
                  <a:srgbClr val="111827"/>
                </a:solidFill>
                <a:latin typeface="Malgun Gothic"/>
                <a:ea typeface="Malgun Gothic"/>
                <a:cs typeface="Malgun Gothic"/>
                <a:sym typeface="Malgun Gothic"/>
              </a:rPr>
              <a:t> 실패이다. Verification_Expert가 실제 가격을 확인하지 않은 상태에서 계산 흐름이 진행되었다.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22"/>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1. Query–Task–Agent 분해</a:t>
            </a:r>
            <a:endParaRPr b="0" i="0" sz="2200" u="none" cap="none" strike="noStrike">
              <a:solidFill>
                <a:schemeClr val="dk1"/>
              </a:solidFill>
              <a:latin typeface="Malgun Gothic"/>
              <a:ea typeface="Malgun Gothic"/>
              <a:cs typeface="Malgun Gothic"/>
              <a:sym typeface="Malgun Gothic"/>
            </a:endParaRPr>
          </a:p>
        </p:txBody>
      </p:sp>
      <p:sp>
        <p:nvSpPr>
          <p:cNvPr id="225" name="Google Shape;225;p22"/>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California Great America season pass</a:t>
            </a:r>
            <a:endParaRPr b="0" i="0" sz="950" u="none" cap="none" strike="noStrike">
              <a:solidFill>
                <a:schemeClr val="dk1"/>
              </a:solidFill>
              <a:latin typeface="Malgun Gothic"/>
              <a:ea typeface="Malgun Gothic"/>
              <a:cs typeface="Malgun Gothic"/>
              <a:sym typeface="Malgun Gothic"/>
            </a:endParaRPr>
          </a:p>
        </p:txBody>
      </p:sp>
      <p:cxnSp>
        <p:nvCxnSpPr>
          <p:cNvPr id="226" name="Google Shape;226;p22"/>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227" name="Google Shape;227;p22"/>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22</a:t>
            </a:r>
            <a:endParaRPr b="0" i="0" sz="800" u="none" cap="none" strike="noStrike">
              <a:solidFill>
                <a:schemeClr val="dk1"/>
              </a:solidFill>
              <a:latin typeface="Malgun Gothic"/>
              <a:ea typeface="Malgun Gothic"/>
              <a:cs typeface="Malgun Gothic"/>
              <a:sym typeface="Malgun Gothic"/>
            </a:endParaRPr>
          </a:p>
        </p:txBody>
      </p:sp>
      <p:graphicFrame>
        <p:nvGraphicFramePr>
          <p:cNvPr id="228" name="Google Shape;228;p22"/>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72500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7250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California's Great America in San Jose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대상 시설 식별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Web/Verification 계열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정확한 park인지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250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summer of 2024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시점 조건 적용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Web/Verification 계열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2024년 가격인지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7250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June–September once a month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방문 횟수 계산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ArithmeticProgressions_Expert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ArithmeticProgressions_Expert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총 4회 방문으로 계산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250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daily tickets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1일권 가격 수집</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Web/Verification 계열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가격 수집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7250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season pass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season pass 가격 수집</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Web/Verification 계열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가격 수집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250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how much did I save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가격 차이 계산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ArithmeticProgressions_Expert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ArithmeticProgressions_Expert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입력값이 틀리면 무의미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23"/>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2. 1928 Olympics IOC code</a:t>
            </a:r>
            <a:endParaRPr b="0" i="0" sz="2200" u="none" cap="none" strike="noStrike">
              <a:solidFill>
                <a:schemeClr val="dk1"/>
              </a:solidFill>
              <a:latin typeface="Malgun Gothic"/>
              <a:ea typeface="Malgun Gothic"/>
              <a:cs typeface="Malgun Gothic"/>
              <a:sym typeface="Malgun Gothic"/>
            </a:endParaRPr>
          </a:p>
        </p:txBody>
      </p:sp>
      <p:sp>
        <p:nvSpPr>
          <p:cNvPr id="235" name="Google Shape;235;p23"/>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Algorithm Generated · 2.json</a:t>
            </a:r>
            <a:endParaRPr b="0" i="0" sz="950" u="none" cap="none" strike="noStrike">
              <a:solidFill>
                <a:schemeClr val="dk1"/>
              </a:solidFill>
              <a:latin typeface="Malgun Gothic"/>
              <a:ea typeface="Malgun Gothic"/>
              <a:cs typeface="Malgun Gothic"/>
              <a:sym typeface="Malgun Gothic"/>
            </a:endParaRPr>
          </a:p>
        </p:txBody>
      </p:sp>
      <p:cxnSp>
        <p:nvCxnSpPr>
          <p:cNvPr id="236" name="Google Shape;236;p23"/>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237" name="Google Shape;237;p23"/>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23</a:t>
            </a:r>
            <a:endParaRPr b="0" i="0" sz="800" u="none" cap="none" strike="noStrike">
              <a:solidFill>
                <a:schemeClr val="dk1"/>
              </a:solidFill>
              <a:latin typeface="Malgun Gothic"/>
              <a:ea typeface="Malgun Gothic"/>
              <a:cs typeface="Malgun Gothic"/>
              <a:sym typeface="Malgun Gothic"/>
            </a:endParaRPr>
          </a:p>
        </p:txBody>
      </p:sp>
      <p:sp>
        <p:nvSpPr>
          <p:cNvPr id="238" name="Google Shape;238;p23"/>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What country had the least number of athletes at the 1928 Summer Olympics? If there's a tie for a number of athletes, return the first in alphabetical order. Give the IOC country code as your answer.</a:t>
            </a:r>
            <a:endParaRPr b="0" i="0" sz="1050" u="none" cap="none" strike="noStrike">
              <a:solidFill>
                <a:schemeClr val="dk1"/>
              </a:solidFill>
              <a:latin typeface="Malgun Gothic"/>
              <a:ea typeface="Malgun Gothic"/>
              <a:cs typeface="Malgun Gothic"/>
              <a:sym typeface="Malgun Gothic"/>
            </a:endParaRPr>
          </a:p>
        </p:txBody>
      </p:sp>
      <p:graphicFrame>
        <p:nvGraphicFramePr>
          <p:cNvPr id="239" name="Google Shape;239;p23"/>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CUB</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 Computer_terminal, Statistics_Expert, DataAnalysis_Expert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The agent starts by generating a simulated dataset and then processes the data. It should search the web for real historical data.</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240" name="Google Shape;240;p23"/>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62180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historical data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Statistics_Expert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최솟값과 tie-breaking 처리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DataAnalysis_Expert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국가별 선수 수 데이터 분석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Computer_terminal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코드 실행 도구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
        <p:nvSpPr>
          <p:cNvPr id="241" name="Google Shape;241;p23"/>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3"/>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100"/>
              <a:buFont typeface="Malgun Gothic"/>
              <a:buNone/>
            </a:pPr>
            <a:r>
              <a:rPr b="1" i="0" lang="en-US" sz="1100" u="none" cap="none" strike="noStrike">
                <a:solidFill>
                  <a:srgbClr val="355C7D"/>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243" name="Google Shape;243;p23"/>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실제 역사 데이터를 찾아야 하는데 임의 dataset을 만들어 처리했다. query가 검색 기반 task에서 가짜 데이터 분석 task로 바뀌었다.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p24"/>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2. Query–Task–Agent 분해</a:t>
            </a:r>
            <a:endParaRPr b="0" i="0" sz="2200" u="none" cap="none" strike="noStrike">
              <a:solidFill>
                <a:schemeClr val="dk1"/>
              </a:solidFill>
              <a:latin typeface="Malgun Gothic"/>
              <a:ea typeface="Malgun Gothic"/>
              <a:cs typeface="Malgun Gothic"/>
              <a:sym typeface="Malgun Gothic"/>
            </a:endParaRPr>
          </a:p>
        </p:txBody>
      </p:sp>
      <p:sp>
        <p:nvSpPr>
          <p:cNvPr id="250" name="Google Shape;250;p24"/>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1928 Olympics IOC code</a:t>
            </a:r>
            <a:endParaRPr b="0" i="0" sz="950" u="none" cap="none" strike="noStrike">
              <a:solidFill>
                <a:schemeClr val="dk1"/>
              </a:solidFill>
              <a:latin typeface="Malgun Gothic"/>
              <a:ea typeface="Malgun Gothic"/>
              <a:cs typeface="Malgun Gothic"/>
              <a:sym typeface="Malgun Gothic"/>
            </a:endParaRPr>
          </a:p>
        </p:txBody>
      </p:sp>
      <p:cxnSp>
        <p:nvCxnSpPr>
          <p:cNvPr id="251" name="Google Shape;251;p24"/>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252" name="Google Shape;252;p24"/>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24</a:t>
            </a:r>
            <a:endParaRPr b="0" i="0" sz="800" u="none" cap="none" strike="noStrike">
              <a:solidFill>
                <a:schemeClr val="dk1"/>
              </a:solidFill>
              <a:latin typeface="Malgun Gothic"/>
              <a:ea typeface="Malgun Gothic"/>
              <a:cs typeface="Malgun Gothic"/>
              <a:sym typeface="Malgun Gothic"/>
            </a:endParaRPr>
          </a:p>
        </p:txBody>
      </p:sp>
      <p:graphicFrame>
        <p:nvGraphicFramePr>
          <p:cNvPr id="253" name="Google Shape;253;p24"/>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845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1928 Summer Olympics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역사적 대회 데이터 식별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Web/Verification 계열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자료 검색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country별 athletes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국가별 선수 수 데이터 수집</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DataAnalysis_Expert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DataAnalysis_Expert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simulated data 사용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least number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최솟값 계산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Statistics_Expert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Statistics_Expert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데이터가 틀려 계산 의미 없음</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tie이면 alphabetical first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tie-breaking 규칙 적용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Statistics_Expert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Statistics_Expert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정렬 규칙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IOC country code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국가명을 IOC code로 변환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최종 code CUB가 되어야 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25"/>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3. Met zodiac animals with visible hand</a:t>
            </a:r>
            <a:endParaRPr b="0" i="0" sz="2200" u="none" cap="none" strike="noStrike">
              <a:solidFill>
                <a:schemeClr val="dk1"/>
              </a:solidFill>
              <a:latin typeface="Malgun Gothic"/>
              <a:ea typeface="Malgun Gothic"/>
              <a:cs typeface="Malgun Gothic"/>
              <a:sym typeface="Malgun Gothic"/>
            </a:endParaRPr>
          </a:p>
        </p:txBody>
      </p:sp>
      <p:sp>
        <p:nvSpPr>
          <p:cNvPr id="260" name="Google Shape;260;p25"/>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Algorithm Generated · 13.json</a:t>
            </a:r>
            <a:endParaRPr b="0" i="0" sz="950" u="none" cap="none" strike="noStrike">
              <a:solidFill>
                <a:schemeClr val="dk1"/>
              </a:solidFill>
              <a:latin typeface="Malgun Gothic"/>
              <a:ea typeface="Malgun Gothic"/>
              <a:cs typeface="Malgun Gothic"/>
              <a:sym typeface="Malgun Gothic"/>
            </a:endParaRPr>
          </a:p>
        </p:txBody>
      </p:sp>
      <p:cxnSp>
        <p:nvCxnSpPr>
          <p:cNvPr id="261" name="Google Shape;261;p25"/>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262" name="Google Shape;262;p25"/>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25</a:t>
            </a:r>
            <a:endParaRPr b="0" i="0" sz="800" u="none" cap="none" strike="noStrike">
              <a:solidFill>
                <a:schemeClr val="dk1"/>
              </a:solidFill>
              <a:latin typeface="Malgun Gothic"/>
              <a:ea typeface="Malgun Gothic"/>
              <a:cs typeface="Malgun Gothic"/>
              <a:sym typeface="Malgun Gothic"/>
            </a:endParaRPr>
          </a:p>
        </p:txBody>
      </p:sp>
      <p:sp>
        <p:nvSpPr>
          <p:cNvPr id="263" name="Google Shape;263;p25"/>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In the 2015 Metropolitan Museum of Art exhibition titled after the Chinese zodiac animal of 2015, how many of the twelve animals of the Chinese zodiac have a hand visible?</a:t>
            </a:r>
            <a:endParaRPr b="0" i="0" sz="1050" u="none" cap="none" strike="noStrike">
              <a:solidFill>
                <a:schemeClr val="dk1"/>
              </a:solidFill>
              <a:latin typeface="Malgun Gothic"/>
              <a:ea typeface="Malgun Gothic"/>
              <a:cs typeface="Malgun Gothic"/>
              <a:sym typeface="Malgun Gothic"/>
            </a:endParaRPr>
          </a:p>
        </p:txBody>
      </p:sp>
      <p:graphicFrame>
        <p:nvGraphicFramePr>
          <p:cNvPr id="264" name="Google Shape;264;p25"/>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11</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Chinese_Zodiac_Expert, Computer_terminal, Verification_Expert, ArtHistory_Expert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ArtHistory_Expert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The agent fabricates the content of the website and does not actually verify its contents.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265" name="Google Shape;265;p25"/>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62180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ArtHistory_Expert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Met 전시 정보와 작품 내용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Chinese_Zodiac_Expert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십이지 동물 목록과 맥락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이미지/출처 확인 타당성 검증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Computer_terminal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검색/코드 실행 결과 반환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
        <p:nvSpPr>
          <p:cNvPr id="266" name="Google Shape;266;p25"/>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5"/>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100"/>
              <a:buFont typeface="Malgun Gothic"/>
              <a:buNone/>
            </a:pPr>
            <a:r>
              <a:rPr b="1" i="0" lang="en-US" sz="1100" u="none" cap="none" strike="noStrike">
                <a:solidFill>
                  <a:srgbClr val="355C7D"/>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268" name="Google Shape;268;p25"/>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웹사이트 내용을 실제로 확인하지 않고 만들어냈기 때문에 실패했다. 시각적 근거 확인이 핵심인 문제다.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sp>
        <p:nvSpPr>
          <p:cNvPr id="274" name="Google Shape;274;p26"/>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3. Query–Task–Agent 분해</a:t>
            </a:r>
            <a:endParaRPr b="0" i="0" sz="2200" u="none" cap="none" strike="noStrike">
              <a:solidFill>
                <a:schemeClr val="dk1"/>
              </a:solidFill>
              <a:latin typeface="Malgun Gothic"/>
              <a:ea typeface="Malgun Gothic"/>
              <a:cs typeface="Malgun Gothic"/>
              <a:sym typeface="Malgun Gothic"/>
            </a:endParaRPr>
          </a:p>
        </p:txBody>
      </p:sp>
      <p:sp>
        <p:nvSpPr>
          <p:cNvPr id="275" name="Google Shape;275;p26"/>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Met zodiac animals with visible hand</a:t>
            </a:r>
            <a:endParaRPr b="0" i="0" sz="950" u="none" cap="none" strike="noStrike">
              <a:solidFill>
                <a:schemeClr val="dk1"/>
              </a:solidFill>
              <a:latin typeface="Malgun Gothic"/>
              <a:ea typeface="Malgun Gothic"/>
              <a:cs typeface="Malgun Gothic"/>
              <a:sym typeface="Malgun Gothic"/>
            </a:endParaRPr>
          </a:p>
        </p:txBody>
      </p:sp>
      <p:cxnSp>
        <p:nvCxnSpPr>
          <p:cNvPr id="276" name="Google Shape;276;p26"/>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277" name="Google Shape;277;p26"/>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26</a:t>
            </a:r>
            <a:endParaRPr b="0" i="0" sz="800" u="none" cap="none" strike="noStrike">
              <a:solidFill>
                <a:schemeClr val="dk1"/>
              </a:solidFill>
              <a:latin typeface="Malgun Gothic"/>
              <a:ea typeface="Malgun Gothic"/>
              <a:cs typeface="Malgun Gothic"/>
              <a:sym typeface="Malgun Gothic"/>
            </a:endParaRPr>
          </a:p>
        </p:txBody>
      </p:sp>
      <p:graphicFrame>
        <p:nvGraphicFramePr>
          <p:cNvPr id="278" name="Google Shape;278;p26"/>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845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2015 Met exhibition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전시 식별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ArtHistory_Expert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ArtHistory_Expert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전시명과 페이지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Chinese zodiac animal of 2015</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2015 zodiac animal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Chinese_Zodiac_Expert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Chinese_Zodiac_Expert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양/염소 관련 전시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twelve animals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분석 대상 12개 동물 목록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Chinese_Zodiac_Expert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Chinese_Zodiac_Expert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목록 자체는 명확</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hand visible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이미지/작품 속 hand visible 판정</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ArtHistory_Expert, 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ArtHistory_Expert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이미지 확인 없이 fabrication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how many</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개수 집계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Verification/Data 계열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원자료가 틀리면 집계 불가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sp>
        <p:nvSpPr>
          <p:cNvPr id="284" name="Google Shape;284;p27"/>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4. Ali Khan / James Beard book title</a:t>
            </a:r>
            <a:endParaRPr b="0" i="0" sz="2200" u="none" cap="none" strike="noStrike">
              <a:solidFill>
                <a:schemeClr val="dk1"/>
              </a:solidFill>
              <a:latin typeface="Malgun Gothic"/>
              <a:ea typeface="Malgun Gothic"/>
              <a:cs typeface="Malgun Gothic"/>
              <a:sym typeface="Malgun Gothic"/>
            </a:endParaRPr>
          </a:p>
        </p:txBody>
      </p:sp>
      <p:sp>
        <p:nvSpPr>
          <p:cNvPr id="285" name="Google Shape;285;p27"/>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Algorithm Generated · 14.json</a:t>
            </a:r>
            <a:endParaRPr b="0" i="0" sz="950" u="none" cap="none" strike="noStrike">
              <a:solidFill>
                <a:schemeClr val="dk1"/>
              </a:solidFill>
              <a:latin typeface="Malgun Gothic"/>
              <a:ea typeface="Malgun Gothic"/>
              <a:cs typeface="Malgun Gothic"/>
              <a:sym typeface="Malgun Gothic"/>
            </a:endParaRPr>
          </a:p>
        </p:txBody>
      </p:sp>
      <p:cxnSp>
        <p:nvCxnSpPr>
          <p:cNvPr id="286" name="Google Shape;286;p27"/>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287" name="Google Shape;287;p27"/>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27</a:t>
            </a:r>
            <a:endParaRPr b="0" i="0" sz="800" u="none" cap="none" strike="noStrike">
              <a:solidFill>
                <a:schemeClr val="dk1"/>
              </a:solidFill>
              <a:latin typeface="Malgun Gothic"/>
              <a:ea typeface="Malgun Gothic"/>
              <a:cs typeface="Malgun Gothic"/>
              <a:sym typeface="Malgun Gothic"/>
            </a:endParaRPr>
          </a:p>
        </p:txBody>
      </p:sp>
      <p:sp>
        <p:nvSpPr>
          <p:cNvPr id="288" name="Google Shape;288;p27"/>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What was the complete title of the book in which two James Beard Award winners recommended the restaurant where Ali Khan enjoyed a New Mexican staple in his cost-conscious TV show that started in 2015?</a:t>
            </a:r>
            <a:endParaRPr b="0" i="0" sz="1050" u="none" cap="none" strike="noStrike">
              <a:solidFill>
                <a:schemeClr val="dk1"/>
              </a:solidFill>
              <a:latin typeface="Malgun Gothic"/>
              <a:ea typeface="Malgun Gothic"/>
              <a:cs typeface="Malgun Gothic"/>
              <a:sym typeface="Malgun Gothic"/>
            </a:endParaRPr>
          </a:p>
        </p:txBody>
      </p:sp>
      <p:graphicFrame>
        <p:nvGraphicFramePr>
          <p:cNvPr id="289" name="Google Shape;289;p27"/>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Five Hundred Things To Eat Before It's Too Late: and the Very Best Places to Eat Them</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Culinary_Awards_Expert, Ali_Khan_Shows_and_New_Mexican_Cuisine_Expert, Computer_terminal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Culinary_Awards_Expert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The agent is approaching the task in the wrong direction. It failed to locate the restaurant's name.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290" name="Google Shape;290;p27"/>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7772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Culinary_Awards_Expert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James Beard 수상자와 추천 책 조사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Ali_Khan...Expert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Ali Khan 방송/음식/장소 연결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Computer_terminal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검색/코드 실행 도구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291" name="Google Shape;291;p27"/>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7"/>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100"/>
              <a:buFont typeface="Malgun Gothic"/>
              <a:buNone/>
            </a:pPr>
            <a:r>
              <a:rPr b="1" i="0" lang="en-US" sz="1100" u="none" cap="none" strike="noStrike">
                <a:solidFill>
                  <a:srgbClr val="355C7D"/>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293" name="Google Shape;293;p27"/>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방송, 음식, 식당, 수상자, 책 제목이 이어지는 multi-hop 연결 문제이며, 중간 연결고리인 식당명을 찾지 못했다.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sp>
        <p:nvSpPr>
          <p:cNvPr id="299" name="Google Shape;299;p28"/>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4. Query–Task–Agent 분해</a:t>
            </a:r>
            <a:endParaRPr b="0" i="0" sz="2200" u="none" cap="none" strike="noStrike">
              <a:solidFill>
                <a:schemeClr val="dk1"/>
              </a:solidFill>
              <a:latin typeface="Malgun Gothic"/>
              <a:ea typeface="Malgun Gothic"/>
              <a:cs typeface="Malgun Gothic"/>
              <a:sym typeface="Malgun Gothic"/>
            </a:endParaRPr>
          </a:p>
        </p:txBody>
      </p:sp>
      <p:sp>
        <p:nvSpPr>
          <p:cNvPr id="300" name="Google Shape;300;p28"/>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Ali Khan / James Beard book title</a:t>
            </a:r>
            <a:endParaRPr b="0" i="0" sz="950" u="none" cap="none" strike="noStrike">
              <a:solidFill>
                <a:schemeClr val="dk1"/>
              </a:solidFill>
              <a:latin typeface="Malgun Gothic"/>
              <a:ea typeface="Malgun Gothic"/>
              <a:cs typeface="Malgun Gothic"/>
              <a:sym typeface="Malgun Gothic"/>
            </a:endParaRPr>
          </a:p>
        </p:txBody>
      </p:sp>
      <p:cxnSp>
        <p:nvCxnSpPr>
          <p:cNvPr id="301" name="Google Shape;301;p28"/>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302" name="Google Shape;302;p28"/>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28</a:t>
            </a:r>
            <a:endParaRPr b="0" i="0" sz="800" u="none" cap="none" strike="noStrike">
              <a:solidFill>
                <a:schemeClr val="dk1"/>
              </a:solidFill>
              <a:latin typeface="Malgun Gothic"/>
              <a:ea typeface="Malgun Gothic"/>
              <a:cs typeface="Malgun Gothic"/>
              <a:sym typeface="Malgun Gothic"/>
            </a:endParaRPr>
          </a:p>
        </p:txBody>
      </p:sp>
      <p:graphicFrame>
        <p:nvGraphicFramePr>
          <p:cNvPr id="303" name="Google Shape;303;p28"/>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845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cost-conscious TV show started in 2015</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Ali Khan 방송 식별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Ali_Khan_Shows_Expert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Ali_Khan...Expert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방송 연결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New Mexican staple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에피소드/음식 식별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New_Mexican_Cuisine_Expert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Ali_Khan...Expert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음식과 장소 연결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restaurant where Ali Khan enjoyed it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식당명 찾기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Ali_Khan/New Mexican 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Culinary_Awards_Expert와 연결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식당명을 못 찾음</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two James Beard winners recommended</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추천자 식별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Culinary_Awards_Expert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Culinary_Awards_Expert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추천 관계 검색</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complete title of the book</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책 제목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Culinary_Awards_Expert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Culinary_Awards_Expert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중간 연결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8" name="Shape 308"/>
        <p:cNvGrpSpPr/>
        <p:nvPr/>
      </p:nvGrpSpPr>
      <p:grpSpPr>
        <a:xfrm>
          <a:off x="0" y="0"/>
          <a:ext cx="0" cy="0"/>
          <a:chOff x="0" y="0"/>
          <a:chExt cx="0" cy="0"/>
        </a:xfrm>
      </p:grpSpPr>
      <p:sp>
        <p:nvSpPr>
          <p:cNvPr id="309" name="Google Shape;309;p29"/>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5. YouTube VR narration number</a:t>
            </a:r>
            <a:endParaRPr b="0" i="0" sz="2200" u="none" cap="none" strike="noStrike">
              <a:solidFill>
                <a:schemeClr val="dk1"/>
              </a:solidFill>
              <a:latin typeface="Malgun Gothic"/>
              <a:ea typeface="Malgun Gothic"/>
              <a:cs typeface="Malgun Gothic"/>
              <a:sym typeface="Malgun Gothic"/>
            </a:endParaRPr>
          </a:p>
        </p:txBody>
      </p:sp>
      <p:sp>
        <p:nvSpPr>
          <p:cNvPr id="310" name="Google Shape;310;p29"/>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Algorithm Generated · 16.json</a:t>
            </a:r>
            <a:endParaRPr b="0" i="0" sz="950" u="none" cap="none" strike="noStrike">
              <a:solidFill>
                <a:schemeClr val="dk1"/>
              </a:solidFill>
              <a:latin typeface="Malgun Gothic"/>
              <a:ea typeface="Malgun Gothic"/>
              <a:cs typeface="Malgun Gothic"/>
              <a:sym typeface="Malgun Gothic"/>
            </a:endParaRPr>
          </a:p>
        </p:txBody>
      </p:sp>
      <p:cxnSp>
        <p:nvCxnSpPr>
          <p:cNvPr id="311" name="Google Shape;311;p29"/>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312" name="Google Shape;312;p29"/>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29</a:t>
            </a:r>
            <a:endParaRPr b="0" i="0" sz="800" u="none" cap="none" strike="noStrike">
              <a:solidFill>
                <a:schemeClr val="dk1"/>
              </a:solidFill>
              <a:latin typeface="Malgun Gothic"/>
              <a:ea typeface="Malgun Gothic"/>
              <a:cs typeface="Malgun Gothic"/>
              <a:sym typeface="Malgun Gothic"/>
            </a:endParaRPr>
          </a:p>
        </p:txBody>
      </p:sp>
      <p:sp>
        <p:nvSpPr>
          <p:cNvPr id="313" name="Google Shape;313;p29"/>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In the YouTube 360 VR video from March 2018 narrated by the voice actor of Lord of the Rings' Gollum, what number was mentioned by the narrator directly after dinosaurs were first shown in the video?</a:t>
            </a:r>
            <a:endParaRPr b="0" i="0" sz="1050" u="none" cap="none" strike="noStrike">
              <a:solidFill>
                <a:schemeClr val="dk1"/>
              </a:solidFill>
              <a:latin typeface="Malgun Gothic"/>
              <a:ea typeface="Malgun Gothic"/>
              <a:cs typeface="Malgun Gothic"/>
              <a:sym typeface="Malgun Gothic"/>
            </a:endParaRPr>
          </a:p>
        </p:txBody>
      </p:sp>
      <p:graphicFrame>
        <p:nvGraphicFramePr>
          <p:cNvPr id="314" name="Google Shape;314;p29"/>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100000000</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Video_Analyst_Expert, Narration_Expert, Verification_Expert, Computer_terminal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Narration_Expert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The agent hallucinates the video ID and calls the tool with placeholder data. The task is not attempted.</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315" name="Google Shape;315;p29"/>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62180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Video_Analyst_Expert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YouTube 영상 탐색과 장면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Narration_Expert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영상/음성에서 특정 발화와 숫자 추출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영상/음성 근거 검증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Computer_terminal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코드 실행 도구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
        <p:nvSpPr>
          <p:cNvPr id="316" name="Google Shape;316;p29"/>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9"/>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100"/>
              <a:buFont typeface="Malgun Gothic"/>
              <a:buNone/>
            </a:pPr>
            <a:r>
              <a:rPr b="1" i="0" lang="en-US" sz="1100" u="none" cap="none" strike="noStrike">
                <a:solidFill>
                  <a:srgbClr val="355C7D"/>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318" name="Google Shape;318;p29"/>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실제 영상을 찾기 전에는 숫자를 추출할 수 없다. placeholder video ID를 사용한 것이 결정적 오류다.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30"/>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5. Query–Task–Agent 분해</a:t>
            </a:r>
            <a:endParaRPr b="0" i="0" sz="2200" u="none" cap="none" strike="noStrike">
              <a:solidFill>
                <a:schemeClr val="dk1"/>
              </a:solidFill>
              <a:latin typeface="Malgun Gothic"/>
              <a:ea typeface="Malgun Gothic"/>
              <a:cs typeface="Malgun Gothic"/>
              <a:sym typeface="Malgun Gothic"/>
            </a:endParaRPr>
          </a:p>
        </p:txBody>
      </p:sp>
      <p:sp>
        <p:nvSpPr>
          <p:cNvPr id="325" name="Google Shape;325;p30"/>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YouTube VR narration number</a:t>
            </a:r>
            <a:endParaRPr b="0" i="0" sz="950" u="none" cap="none" strike="noStrike">
              <a:solidFill>
                <a:schemeClr val="dk1"/>
              </a:solidFill>
              <a:latin typeface="Malgun Gothic"/>
              <a:ea typeface="Malgun Gothic"/>
              <a:cs typeface="Malgun Gothic"/>
              <a:sym typeface="Malgun Gothic"/>
            </a:endParaRPr>
          </a:p>
        </p:txBody>
      </p:sp>
      <p:cxnSp>
        <p:nvCxnSpPr>
          <p:cNvPr id="326" name="Google Shape;326;p30"/>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327" name="Google Shape;327;p30"/>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30</a:t>
            </a:r>
            <a:endParaRPr b="0" i="0" sz="800" u="none" cap="none" strike="noStrike">
              <a:solidFill>
                <a:schemeClr val="dk1"/>
              </a:solidFill>
              <a:latin typeface="Malgun Gothic"/>
              <a:ea typeface="Malgun Gothic"/>
              <a:cs typeface="Malgun Gothic"/>
              <a:sym typeface="Malgun Gothic"/>
            </a:endParaRPr>
          </a:p>
        </p:txBody>
      </p:sp>
      <p:graphicFrame>
        <p:nvGraphicFramePr>
          <p:cNvPr id="328" name="Google Shape;328;p30"/>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845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YouTube 360 VR video from March 2018</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영상 검색</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Video_Analyst_Expert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Video_Analyst_Expert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video ID 확보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voice actor of Gollum</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Andy Serkis 연결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Video_Analyst_Expert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Video_Analyst_Expert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성우 조건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dinosaurs first shown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영상 장면 위치 찾기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Video_Analyst_Expert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Video_Analyst_Expert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영상 시청/분석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number mentioned directly after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음성/자막 숫자 추출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Narration_Expert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Narration_Expert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placeholder data로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answer number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최종 숫자 반환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영상 분석 없음</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31"/>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6. Tompkins Square Park gyms</a:t>
            </a:r>
            <a:endParaRPr b="0" i="0" sz="2200" u="none" cap="none" strike="noStrike">
              <a:solidFill>
                <a:schemeClr val="dk1"/>
              </a:solidFill>
              <a:latin typeface="Malgun Gothic"/>
              <a:ea typeface="Malgun Gothic"/>
              <a:cs typeface="Malgun Gothic"/>
              <a:sym typeface="Malgun Gothic"/>
            </a:endParaRPr>
          </a:p>
        </p:txBody>
      </p:sp>
      <p:sp>
        <p:nvSpPr>
          <p:cNvPr id="335" name="Google Shape;335;p31"/>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Algorithm Generated · 105.json</a:t>
            </a:r>
            <a:endParaRPr b="0" i="0" sz="950" u="none" cap="none" strike="noStrike">
              <a:solidFill>
                <a:schemeClr val="dk1"/>
              </a:solidFill>
              <a:latin typeface="Malgun Gothic"/>
              <a:ea typeface="Malgun Gothic"/>
              <a:cs typeface="Malgun Gothic"/>
              <a:sym typeface="Malgun Gothic"/>
            </a:endParaRPr>
          </a:p>
        </p:txBody>
      </p:sp>
      <p:cxnSp>
        <p:nvCxnSpPr>
          <p:cNvPr id="336" name="Google Shape;336;p31"/>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337" name="Google Shape;337;p31"/>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31</a:t>
            </a:r>
            <a:endParaRPr b="0" i="0" sz="800" u="none" cap="none" strike="noStrike">
              <a:solidFill>
                <a:schemeClr val="dk1"/>
              </a:solidFill>
              <a:latin typeface="Malgun Gothic"/>
              <a:ea typeface="Malgun Gothic"/>
              <a:cs typeface="Malgun Gothic"/>
              <a:sym typeface="Malgun Gothic"/>
            </a:endParaRPr>
          </a:p>
        </p:txBody>
      </p:sp>
      <p:sp>
        <p:nvSpPr>
          <p:cNvPr id="338" name="Google Shape;338;p31"/>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Which gyms near Tompkins Square Park less than 200m have fitness classes before 7am?</a:t>
            </a:r>
            <a:endParaRPr b="0" i="0" sz="1050" u="none" cap="none" strike="noStrike">
              <a:solidFill>
                <a:schemeClr val="dk1"/>
              </a:solidFill>
              <a:latin typeface="Malgun Gothic"/>
              <a:ea typeface="Malgun Gothic"/>
              <a:cs typeface="Malgun Gothic"/>
              <a:sym typeface="Malgun Gothic"/>
            </a:endParaRPr>
          </a:p>
        </p:txBody>
      </p:sp>
      <p:graphicFrame>
        <p:nvGraphicFramePr>
          <p:cNvPr id="339" name="Google Shape;339;p31"/>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CrossFit East River; Avea Pilates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Local_Knowledge_Expert, Fitness_Expert, Verification_Expert, Computer_terminal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6</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 fails to identify issues with Fitness_Expert and Local_Knowledge_Expert, who are not providing accurate information.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340" name="Google Shape;340;p31"/>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62180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Local_Knowledge_Expert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기준 위치와 주변 시설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Fitness_Expert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gym 운영과 수업 스케줄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거리/시간/장소 조건 검증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Computer_terminal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코드 실행 도구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
        <p:nvSpPr>
          <p:cNvPr id="341" name="Google Shape;341;p31"/>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1"/>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100"/>
              <a:buFont typeface="Malgun Gothic"/>
              <a:buNone/>
            </a:pPr>
            <a:r>
              <a:rPr b="1" i="0" lang="en-US" sz="1100" u="none" cap="none" strike="noStrike">
                <a:solidFill>
                  <a:srgbClr val="355C7D"/>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343" name="Google Shape;343;p31"/>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위치 조건과 시간 조건이 동시에 있고, Verification_Expert가 앞 agent의 부정확한 정보를 다시 확인하지 못했다.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8" name="Shape 348"/>
        <p:cNvGrpSpPr/>
        <p:nvPr/>
      </p:nvGrpSpPr>
      <p:grpSpPr>
        <a:xfrm>
          <a:off x="0" y="0"/>
          <a:ext cx="0" cy="0"/>
          <a:chOff x="0" y="0"/>
          <a:chExt cx="0" cy="0"/>
        </a:xfrm>
      </p:grpSpPr>
      <p:sp>
        <p:nvSpPr>
          <p:cNvPr id="349" name="Google Shape;349;p32"/>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6. Query–Task–Agent 분해</a:t>
            </a:r>
            <a:endParaRPr b="0" i="0" sz="2200" u="none" cap="none" strike="noStrike">
              <a:solidFill>
                <a:schemeClr val="dk1"/>
              </a:solidFill>
              <a:latin typeface="Malgun Gothic"/>
              <a:ea typeface="Malgun Gothic"/>
              <a:cs typeface="Malgun Gothic"/>
              <a:sym typeface="Malgun Gothic"/>
            </a:endParaRPr>
          </a:p>
        </p:txBody>
      </p:sp>
      <p:sp>
        <p:nvSpPr>
          <p:cNvPr id="350" name="Google Shape;350;p32"/>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Tompkins Square Park gyms</a:t>
            </a:r>
            <a:endParaRPr b="0" i="0" sz="950" u="none" cap="none" strike="noStrike">
              <a:solidFill>
                <a:schemeClr val="dk1"/>
              </a:solidFill>
              <a:latin typeface="Malgun Gothic"/>
              <a:ea typeface="Malgun Gothic"/>
              <a:cs typeface="Malgun Gothic"/>
              <a:sym typeface="Malgun Gothic"/>
            </a:endParaRPr>
          </a:p>
        </p:txBody>
      </p:sp>
      <p:cxnSp>
        <p:nvCxnSpPr>
          <p:cNvPr id="351" name="Google Shape;351;p32"/>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352" name="Google Shape;352;p32"/>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32</a:t>
            </a:r>
            <a:endParaRPr b="0" i="0" sz="800" u="none" cap="none" strike="noStrike">
              <a:solidFill>
                <a:schemeClr val="dk1"/>
              </a:solidFill>
              <a:latin typeface="Malgun Gothic"/>
              <a:ea typeface="Malgun Gothic"/>
              <a:cs typeface="Malgun Gothic"/>
              <a:sym typeface="Malgun Gothic"/>
            </a:endParaRPr>
          </a:p>
        </p:txBody>
      </p:sp>
      <p:graphicFrame>
        <p:nvGraphicFramePr>
          <p:cNvPr id="353" name="Google Shape;353;p32"/>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845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near Tompkins Square Park</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기준 위치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Local_Knowledge_Expert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Local_Knowledge_Expert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지도 기준점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less than 200m</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거리 계산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Location/Local 계열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Local_Knowledge_Expert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거리 검증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gyms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장소 카테고리 필터링</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Local_Knowledge_Expert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Local_Knowledge_Expert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gym 후보 추출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fitness classes before 7am</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수업 시간표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Fitness_Expert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Fitness_Expert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class schedule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final gym list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최종 검증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앞 agent 오류를 잡지 못함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8" name="Shape 358"/>
        <p:cNvGrpSpPr/>
        <p:nvPr/>
      </p:nvGrpSpPr>
      <p:grpSpPr>
        <a:xfrm>
          <a:off x="0" y="0"/>
          <a:ext cx="0" cy="0"/>
          <a:chOff x="0" y="0"/>
          <a:chExt cx="0" cy="0"/>
        </a:xfrm>
      </p:grpSpPr>
      <p:sp>
        <p:nvSpPr>
          <p:cNvPr id="359" name="Google Shape;359;p33"/>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7. Harkness Memorial State Park eatery</a:t>
            </a:r>
            <a:endParaRPr b="0" i="0" sz="2200" u="none" cap="none" strike="noStrike">
              <a:solidFill>
                <a:schemeClr val="dk1"/>
              </a:solidFill>
              <a:latin typeface="Malgun Gothic"/>
              <a:ea typeface="Malgun Gothic"/>
              <a:cs typeface="Malgun Gothic"/>
              <a:sym typeface="Malgun Gothic"/>
            </a:endParaRPr>
          </a:p>
        </p:txBody>
      </p:sp>
      <p:sp>
        <p:nvSpPr>
          <p:cNvPr id="360" name="Google Shape;360;p33"/>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Algorithm Generated · </a:t>
            </a:r>
            <a:r>
              <a:rPr lang="en-US" sz="950">
                <a:solidFill>
                  <a:srgbClr val="6C757D"/>
                </a:solidFill>
                <a:latin typeface="Malgun Gothic"/>
                <a:ea typeface="Malgun Gothic"/>
                <a:cs typeface="Malgun Gothic"/>
                <a:sym typeface="Malgun Gothic"/>
              </a:rPr>
              <a:t>19.json</a:t>
            </a:r>
            <a:endParaRPr b="0" i="0" sz="950" u="none" cap="none" strike="noStrike">
              <a:solidFill>
                <a:schemeClr val="dk1"/>
              </a:solidFill>
              <a:latin typeface="Malgun Gothic"/>
              <a:ea typeface="Malgun Gothic"/>
              <a:cs typeface="Malgun Gothic"/>
              <a:sym typeface="Malgun Gothic"/>
            </a:endParaRPr>
          </a:p>
        </p:txBody>
      </p:sp>
      <p:cxnSp>
        <p:nvCxnSpPr>
          <p:cNvPr id="361" name="Google Shape;361;p33"/>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362" name="Google Shape;362;p33"/>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33</a:t>
            </a:r>
            <a:endParaRPr b="0" i="0" sz="800" u="none" cap="none" strike="noStrike">
              <a:solidFill>
                <a:schemeClr val="dk1"/>
              </a:solidFill>
              <a:latin typeface="Malgun Gothic"/>
              <a:ea typeface="Malgun Gothic"/>
              <a:cs typeface="Malgun Gothic"/>
              <a:sym typeface="Malgun Gothic"/>
            </a:endParaRPr>
          </a:p>
        </p:txBody>
      </p:sp>
      <p:sp>
        <p:nvSpPr>
          <p:cNvPr id="363" name="Google Shape;363;p33"/>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What is the closest eatery to Harkness Memorial State Park that is still open at 11pm on Wednesdays?</a:t>
            </a:r>
            <a:endParaRPr b="0" i="0" sz="1050" u="none" cap="none" strike="noStrike">
              <a:solidFill>
                <a:schemeClr val="dk1"/>
              </a:solidFill>
              <a:latin typeface="Malgun Gothic"/>
              <a:ea typeface="Malgun Gothic"/>
              <a:cs typeface="Malgun Gothic"/>
              <a:sym typeface="Malgun Gothic"/>
            </a:endParaRPr>
          </a:p>
        </p:txBody>
      </p:sp>
      <p:graphicFrame>
        <p:nvGraphicFramePr>
          <p:cNvPr id="364" name="Google Shape;364;p33"/>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McDonald's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Eateries_Expert, Location-Based_Services_Expert, DataVerification_Expert, Computer_terminal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3</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The Python code is incorrect.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365" name="Google Shape;365;p33"/>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62180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Eateries_Expert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주변 음식점 후보 수집</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Location-Based_Services_Expert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기준 위치와 거리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영업시간/요일 조건과 거리 검증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218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Computer_terminal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Python 실행 도구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
        <p:nvSpPr>
          <p:cNvPr id="366" name="Google Shape;366;p33"/>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3"/>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100"/>
              <a:buFont typeface="Malgun Gothic"/>
              <a:buNone/>
            </a:pPr>
            <a:r>
              <a:rPr b="1" i="0" lang="en-US" sz="1100" u="none" cap="none" strike="noStrike">
                <a:solidFill>
                  <a:srgbClr val="355C7D"/>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368" name="Google Shape;368;p33"/>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위치, 거리, 시간, 요일 조건이 모두 유지되어야 하는 조건 필터링 문제이며, 실패는 검증 코드 오류로 연결된다.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34"/>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7. Query–Task–Agent 분해</a:t>
            </a:r>
            <a:endParaRPr b="0" i="0" sz="2200" u="none" cap="none" strike="noStrike">
              <a:solidFill>
                <a:schemeClr val="dk1"/>
              </a:solidFill>
              <a:latin typeface="Malgun Gothic"/>
              <a:ea typeface="Malgun Gothic"/>
              <a:cs typeface="Malgun Gothic"/>
              <a:sym typeface="Malgun Gothic"/>
            </a:endParaRPr>
          </a:p>
        </p:txBody>
      </p:sp>
      <p:sp>
        <p:nvSpPr>
          <p:cNvPr id="375" name="Google Shape;375;p34"/>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Harkness Memorial State Park eatery</a:t>
            </a:r>
            <a:endParaRPr b="0" i="0" sz="950" u="none" cap="none" strike="noStrike">
              <a:solidFill>
                <a:schemeClr val="dk1"/>
              </a:solidFill>
              <a:latin typeface="Malgun Gothic"/>
              <a:ea typeface="Malgun Gothic"/>
              <a:cs typeface="Malgun Gothic"/>
              <a:sym typeface="Malgun Gothic"/>
            </a:endParaRPr>
          </a:p>
        </p:txBody>
      </p:sp>
      <p:cxnSp>
        <p:nvCxnSpPr>
          <p:cNvPr id="376" name="Google Shape;376;p34"/>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377" name="Google Shape;377;p34"/>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34</a:t>
            </a:r>
            <a:endParaRPr b="0" i="0" sz="800" u="none" cap="none" strike="noStrike">
              <a:solidFill>
                <a:schemeClr val="dk1"/>
              </a:solidFill>
              <a:latin typeface="Malgun Gothic"/>
              <a:ea typeface="Malgun Gothic"/>
              <a:cs typeface="Malgun Gothic"/>
              <a:sym typeface="Malgun Gothic"/>
            </a:endParaRPr>
          </a:p>
        </p:txBody>
      </p:sp>
      <p:graphicFrame>
        <p:nvGraphicFramePr>
          <p:cNvPr id="378" name="Google Shape;378;p34"/>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845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355C7D"/>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Harkness Memorial State Park</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기준 위치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Location-Based_Services_Expert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Location-Based_Services_Expert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정확한 좌표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closest eatery</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주변 음식점 검색 및 거리 계산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Eateries_Expert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Eateries_Expert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거리 정렬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still open at 11pm</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영업시간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영업시간 데이터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on Wednesdays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요일 조건 적용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수요일 기준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answer closest open eatery</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최종 선택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DataVerification_Expert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Python code 오류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37"/>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a:t>
            </a:r>
            <a:r>
              <a:rPr b="1" lang="en-US" sz="2200">
                <a:solidFill>
                  <a:srgbClr val="1F2A44"/>
                </a:solidFill>
                <a:latin typeface="Malgun Gothic"/>
                <a:ea typeface="Malgun Gothic"/>
                <a:cs typeface="Malgun Gothic"/>
                <a:sym typeface="Malgun Gothic"/>
              </a:rPr>
              <a:t>8</a:t>
            </a:r>
            <a:r>
              <a:rPr b="1" i="0" lang="en-US" sz="2200" u="none" cap="none" strike="noStrike">
                <a:solidFill>
                  <a:srgbClr val="1F2A44"/>
                </a:solidFill>
                <a:latin typeface="Malgun Gothic"/>
                <a:ea typeface="Malgun Gothic"/>
                <a:cs typeface="Malgun Gothic"/>
                <a:sym typeface="Malgun Gothic"/>
              </a:rPr>
              <a:t>. Ted Danson Prime Video Rotten Tomatoes</a:t>
            </a:r>
            <a:endParaRPr b="0" i="0" sz="2200" u="none" cap="none" strike="noStrike">
              <a:solidFill>
                <a:schemeClr val="dk1"/>
              </a:solidFill>
              <a:latin typeface="Malgun Gothic"/>
              <a:ea typeface="Malgun Gothic"/>
              <a:cs typeface="Malgun Gothic"/>
              <a:sym typeface="Malgun Gothic"/>
            </a:endParaRPr>
          </a:p>
        </p:txBody>
      </p:sp>
      <p:sp>
        <p:nvSpPr>
          <p:cNvPr id="385" name="Google Shape;385;p37"/>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Hand Crafted · 2.json</a:t>
            </a:r>
            <a:endParaRPr b="0" i="0" sz="950" u="none" cap="none" strike="noStrike">
              <a:solidFill>
                <a:schemeClr val="dk1"/>
              </a:solidFill>
              <a:latin typeface="Malgun Gothic"/>
              <a:ea typeface="Malgun Gothic"/>
              <a:cs typeface="Malgun Gothic"/>
              <a:sym typeface="Malgun Gothic"/>
            </a:endParaRPr>
          </a:p>
        </p:txBody>
      </p:sp>
      <p:cxnSp>
        <p:nvCxnSpPr>
          <p:cNvPr id="386" name="Google Shape;386;p37"/>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387" name="Google Shape;387;p37"/>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37</a:t>
            </a:r>
            <a:endParaRPr b="0" i="0" sz="800" u="none" cap="none" strike="noStrike">
              <a:solidFill>
                <a:schemeClr val="dk1"/>
              </a:solidFill>
              <a:latin typeface="Malgun Gothic"/>
              <a:ea typeface="Malgun Gothic"/>
              <a:cs typeface="Malgun Gothic"/>
              <a:sym typeface="Malgun Gothic"/>
            </a:endParaRPr>
          </a:p>
        </p:txBody>
      </p:sp>
      <p:sp>
        <p:nvSpPr>
          <p:cNvPr id="388" name="Google Shape;388;p37"/>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What is the worst rated series according to Rotten Tomatoes with more than 1 season that Ted Danson has starred in and is available on Amazon Prime Video US?</a:t>
            </a:r>
            <a:endParaRPr b="0" i="0" sz="1050" u="none" cap="none" strike="noStrike">
              <a:solidFill>
                <a:schemeClr val="dk1"/>
              </a:solidFill>
              <a:latin typeface="Malgun Gothic"/>
              <a:ea typeface="Malgun Gothic"/>
              <a:cs typeface="Malgun Gothic"/>
              <a:sym typeface="Malgun Gothic"/>
            </a:endParaRPr>
          </a:p>
        </p:txBody>
      </p:sp>
      <p:graphicFrame>
        <p:nvGraphicFramePr>
          <p:cNvPr id="389" name="Google Shape;389;p37"/>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CSI: Cyber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human, Orchestrator, 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The information obtained by WebSurfer is neither reliable nor satisfies the requirements of the 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390" name="Google Shape;390;p37"/>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10363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10363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Ted Danson 출연작, RT rating, Prime availability </a:t>
                      </a:r>
                      <a:endParaRPr sz="940" u="none" cap="none" strike="noStrike">
                        <a:solidFill>
                          <a:srgbClr val="111827"/>
                        </a:solidFill>
                        <a:latin typeface="Malgun Gothic"/>
                        <a:ea typeface="Malgun Gothic"/>
                        <a:cs typeface="Malgun Gothic"/>
                        <a:sym typeface="Malgun Gothic"/>
                      </a:endParaRPr>
                    </a:p>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조건을 분해</a:t>
                      </a:r>
                      <a:r>
                        <a:rPr lang="en-US" sz="940">
                          <a:solidFill>
                            <a:srgbClr val="111827"/>
                          </a:solidFill>
                          <a:latin typeface="Malgun Gothic"/>
                          <a:ea typeface="Malgun Gothic"/>
                          <a:cs typeface="Malgun Gothic"/>
                          <a:sym typeface="Malgun Gothic"/>
                        </a:rPr>
                        <a:t>, </a:t>
                      </a:r>
                      <a:r>
                        <a:rPr lang="en-US" sz="940" u="none" cap="none" strike="noStrike">
                          <a:solidFill>
                            <a:srgbClr val="111827"/>
                          </a:solidFill>
                          <a:latin typeface="Malgun Gothic"/>
                          <a:ea typeface="Malgun Gothic"/>
                          <a:cs typeface="Malgun Gothic"/>
                          <a:sym typeface="Malgun Gothic"/>
                        </a:rPr>
                        <a:t>지시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10363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출연작, 평점, 스트리밍 가능 여부 검색</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
        <p:nvSpPr>
          <p:cNvPr id="391" name="Google Shape;391;p37"/>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7"/>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Malgun Gothic"/>
              <a:buNone/>
            </a:pPr>
            <a:r>
              <a:rPr b="1" i="0" lang="en-US" sz="1100" u="none" cap="none" strike="noStrike">
                <a:solidFill>
                  <a:srgbClr val="2A9D8F"/>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393" name="Google Shape;393;p37"/>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세 조건을 동시에 만족해야 하는 웹 조건 조합 문제인데, WebSurfer 정보가 신뢰도와 조건 충족 측면에서 부족했다.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8" name="Shape 398"/>
        <p:cNvGrpSpPr/>
        <p:nvPr/>
      </p:nvGrpSpPr>
      <p:grpSpPr>
        <a:xfrm>
          <a:off x="0" y="0"/>
          <a:ext cx="0" cy="0"/>
          <a:chOff x="0" y="0"/>
          <a:chExt cx="0" cy="0"/>
        </a:xfrm>
      </p:grpSpPr>
      <p:sp>
        <p:nvSpPr>
          <p:cNvPr id="399" name="Google Shape;399;p38"/>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a:t>
            </a:r>
            <a:r>
              <a:rPr b="1" lang="en-US" sz="2200">
                <a:solidFill>
                  <a:srgbClr val="1F2A44"/>
                </a:solidFill>
                <a:latin typeface="Malgun Gothic"/>
                <a:ea typeface="Malgun Gothic"/>
                <a:cs typeface="Malgun Gothic"/>
                <a:sym typeface="Malgun Gothic"/>
              </a:rPr>
              <a:t>8</a:t>
            </a:r>
            <a:r>
              <a:rPr b="1" i="0" lang="en-US" sz="2200" u="none" cap="none" strike="noStrike">
                <a:solidFill>
                  <a:srgbClr val="1F2A44"/>
                </a:solidFill>
                <a:latin typeface="Malgun Gothic"/>
                <a:ea typeface="Malgun Gothic"/>
                <a:cs typeface="Malgun Gothic"/>
                <a:sym typeface="Malgun Gothic"/>
              </a:rPr>
              <a:t>. Query–Task–Agent 분해</a:t>
            </a:r>
            <a:endParaRPr b="0" i="0" sz="2200" u="none" cap="none" strike="noStrike">
              <a:solidFill>
                <a:schemeClr val="dk1"/>
              </a:solidFill>
              <a:latin typeface="Malgun Gothic"/>
              <a:ea typeface="Malgun Gothic"/>
              <a:cs typeface="Malgun Gothic"/>
              <a:sym typeface="Malgun Gothic"/>
            </a:endParaRPr>
          </a:p>
        </p:txBody>
      </p:sp>
      <p:sp>
        <p:nvSpPr>
          <p:cNvPr id="400" name="Google Shape;400;p38"/>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Ted Danson Prime Video Rotten Tomatoes</a:t>
            </a:r>
            <a:endParaRPr b="0" i="0" sz="950" u="none" cap="none" strike="noStrike">
              <a:solidFill>
                <a:schemeClr val="dk1"/>
              </a:solidFill>
              <a:latin typeface="Malgun Gothic"/>
              <a:ea typeface="Malgun Gothic"/>
              <a:cs typeface="Malgun Gothic"/>
              <a:sym typeface="Malgun Gothic"/>
            </a:endParaRPr>
          </a:p>
        </p:txBody>
      </p:sp>
      <p:cxnSp>
        <p:nvCxnSpPr>
          <p:cNvPr id="401" name="Google Shape;401;p38"/>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402" name="Google Shape;402;p38"/>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38</a:t>
            </a:r>
            <a:endParaRPr b="0" i="0" sz="800" u="none" cap="none" strike="noStrike">
              <a:solidFill>
                <a:schemeClr val="dk1"/>
              </a:solidFill>
              <a:latin typeface="Malgun Gothic"/>
              <a:ea typeface="Malgun Gothic"/>
              <a:cs typeface="Malgun Gothic"/>
              <a:sym typeface="Malgun Gothic"/>
            </a:endParaRPr>
          </a:p>
        </p:txBody>
      </p:sp>
      <p:graphicFrame>
        <p:nvGraphicFramePr>
          <p:cNvPr id="403" name="Google Shape;403;p38"/>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845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Ted Danson starred in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출연작 목록 확보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출연작 전체성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series with more than 1 season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TV series 필터링</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시즌 수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available on Amazon Prime Video US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스트리밍 가능 여부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지역 조건 포함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worst rated by Rotten Tomatoes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평점 비교</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rating source 신뢰도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final title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조건 만족 최저평점 작품 반환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정보가 조건을 만족하지 못함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8" name="Shape 408"/>
        <p:cNvGrpSpPr/>
        <p:nvPr/>
      </p:nvGrpSpPr>
      <p:grpSpPr>
        <a:xfrm>
          <a:off x="0" y="0"/>
          <a:ext cx="0" cy="0"/>
          <a:chOff x="0" y="0"/>
          <a:chExt cx="0" cy="0"/>
        </a:xfrm>
      </p:grpSpPr>
      <p:sp>
        <p:nvSpPr>
          <p:cNvPr id="409" name="Google Shape;409;p39"/>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a:t>
            </a:r>
            <a:r>
              <a:rPr b="1" lang="en-US" sz="2200">
                <a:solidFill>
                  <a:srgbClr val="1F2A44"/>
                </a:solidFill>
                <a:latin typeface="Malgun Gothic"/>
                <a:ea typeface="Malgun Gothic"/>
                <a:cs typeface="Malgun Gothic"/>
                <a:sym typeface="Malgun Gothic"/>
              </a:rPr>
              <a:t>9</a:t>
            </a:r>
            <a:r>
              <a:rPr b="1" i="0" lang="en-US" sz="2200" u="none" cap="none" strike="noStrike">
                <a:solidFill>
                  <a:srgbClr val="1F2A44"/>
                </a:solidFill>
                <a:latin typeface="Malgun Gothic"/>
                <a:ea typeface="Malgun Gothic"/>
                <a:cs typeface="Malgun Gothic"/>
                <a:sym typeface="Malgun Gothic"/>
              </a:rPr>
              <a:t>. American Alligator west of Texas</a:t>
            </a:r>
            <a:endParaRPr b="0" i="0" sz="2200" u="none" cap="none" strike="noStrike">
              <a:solidFill>
                <a:schemeClr val="dk1"/>
              </a:solidFill>
              <a:latin typeface="Malgun Gothic"/>
              <a:ea typeface="Malgun Gothic"/>
              <a:cs typeface="Malgun Gothic"/>
              <a:sym typeface="Malgun Gothic"/>
            </a:endParaRPr>
          </a:p>
        </p:txBody>
      </p:sp>
      <p:sp>
        <p:nvSpPr>
          <p:cNvPr id="410" name="Google Shape;410;p39"/>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Hand Crafted · 29.json</a:t>
            </a:r>
            <a:endParaRPr b="0" i="0" sz="950" u="none" cap="none" strike="noStrike">
              <a:solidFill>
                <a:schemeClr val="dk1"/>
              </a:solidFill>
              <a:latin typeface="Malgun Gothic"/>
              <a:ea typeface="Malgun Gothic"/>
              <a:cs typeface="Malgun Gothic"/>
              <a:sym typeface="Malgun Gothic"/>
            </a:endParaRPr>
          </a:p>
        </p:txBody>
      </p:sp>
      <p:cxnSp>
        <p:nvCxnSpPr>
          <p:cNvPr id="411" name="Google Shape;411;p39"/>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412" name="Google Shape;412;p39"/>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39</a:t>
            </a:r>
            <a:endParaRPr b="0" i="0" sz="800" u="none" cap="none" strike="noStrike">
              <a:solidFill>
                <a:schemeClr val="dk1"/>
              </a:solidFill>
              <a:latin typeface="Malgun Gothic"/>
              <a:ea typeface="Malgun Gothic"/>
              <a:cs typeface="Malgun Gothic"/>
              <a:sym typeface="Malgun Gothic"/>
            </a:endParaRPr>
          </a:p>
        </p:txBody>
      </p:sp>
      <p:sp>
        <p:nvSpPr>
          <p:cNvPr id="413" name="Google Shape;413;p39"/>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According to the USGS, in what year was the American Alligator first found west of Texas, not including Texas?</a:t>
            </a:r>
            <a:endParaRPr b="0" i="0" sz="1050" u="none" cap="none" strike="noStrike">
              <a:solidFill>
                <a:schemeClr val="dk1"/>
              </a:solidFill>
              <a:latin typeface="Malgun Gothic"/>
              <a:ea typeface="Malgun Gothic"/>
              <a:cs typeface="Malgun Gothic"/>
              <a:sym typeface="Malgun Gothic"/>
            </a:endParaRPr>
          </a:p>
        </p:txBody>
      </p:sp>
      <p:graphicFrame>
        <p:nvGraphicFramePr>
          <p:cNvPr id="414" name="Google Shape;414;p39"/>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1954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human, Orchestrator, 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It did not return anything useful.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415" name="Google Shape;415;p39"/>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10363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10363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USGS 출처와 west of Texas 조건을 WebSurfer에게 지시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10363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USGS 공식 자료 탐색 및 최초 발견 연도 추출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
        <p:nvSpPr>
          <p:cNvPr id="416" name="Google Shape;416;p39"/>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9"/>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Malgun Gothic"/>
              <a:buNone/>
            </a:pPr>
            <a:r>
              <a:rPr b="1" i="0" lang="en-US" sz="1100" u="none" cap="none" strike="noStrike">
                <a:solidFill>
                  <a:srgbClr val="2A9D8F"/>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418" name="Google Shape;418;p39"/>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출처 조건과 위치 제외 조건이 중요하다. WebSurfer가 필요한 정보를 못 찾으면 Orchestrator가 다음 판단을 할 수 없다.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 name="Shape 423"/>
        <p:cNvGrpSpPr/>
        <p:nvPr/>
      </p:nvGrpSpPr>
      <p:grpSpPr>
        <a:xfrm>
          <a:off x="0" y="0"/>
          <a:ext cx="0" cy="0"/>
          <a:chOff x="0" y="0"/>
          <a:chExt cx="0" cy="0"/>
        </a:xfrm>
      </p:grpSpPr>
      <p:sp>
        <p:nvSpPr>
          <p:cNvPr id="424" name="Google Shape;424;p40"/>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a:t>
            </a:r>
            <a:r>
              <a:rPr b="1" lang="en-US" sz="2200">
                <a:solidFill>
                  <a:srgbClr val="1F2A44"/>
                </a:solidFill>
                <a:latin typeface="Malgun Gothic"/>
                <a:ea typeface="Malgun Gothic"/>
                <a:cs typeface="Malgun Gothic"/>
                <a:sym typeface="Malgun Gothic"/>
              </a:rPr>
              <a:t>9</a:t>
            </a:r>
            <a:r>
              <a:rPr b="1" i="0" lang="en-US" sz="2200" u="none" cap="none" strike="noStrike">
                <a:solidFill>
                  <a:srgbClr val="1F2A44"/>
                </a:solidFill>
                <a:latin typeface="Malgun Gothic"/>
                <a:ea typeface="Malgun Gothic"/>
                <a:cs typeface="Malgun Gothic"/>
                <a:sym typeface="Malgun Gothic"/>
              </a:rPr>
              <a:t>. Query–Task–Agent 분해</a:t>
            </a:r>
            <a:endParaRPr b="0" i="0" sz="2200" u="none" cap="none" strike="noStrike">
              <a:solidFill>
                <a:schemeClr val="dk1"/>
              </a:solidFill>
              <a:latin typeface="Malgun Gothic"/>
              <a:ea typeface="Malgun Gothic"/>
              <a:cs typeface="Malgun Gothic"/>
              <a:sym typeface="Malgun Gothic"/>
            </a:endParaRPr>
          </a:p>
        </p:txBody>
      </p:sp>
      <p:sp>
        <p:nvSpPr>
          <p:cNvPr id="425" name="Google Shape;425;p40"/>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American Alligator west of Texas</a:t>
            </a:r>
            <a:endParaRPr b="0" i="0" sz="950" u="none" cap="none" strike="noStrike">
              <a:solidFill>
                <a:schemeClr val="dk1"/>
              </a:solidFill>
              <a:latin typeface="Malgun Gothic"/>
              <a:ea typeface="Malgun Gothic"/>
              <a:cs typeface="Malgun Gothic"/>
              <a:sym typeface="Malgun Gothic"/>
            </a:endParaRPr>
          </a:p>
        </p:txBody>
      </p:sp>
      <p:cxnSp>
        <p:nvCxnSpPr>
          <p:cNvPr id="426" name="Google Shape;426;p40"/>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427" name="Google Shape;427;p40"/>
          <p:cNvSpPr/>
          <p:nvPr/>
        </p:nvSpPr>
        <p:spPr>
          <a:xfrm>
            <a:off x="411480" y="6547104"/>
            <a:ext cx="73152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50"/>
              <a:buFont typeface="Malgun Gothic"/>
              <a:buNone/>
            </a:pPr>
            <a:r>
              <a:rPr b="0" i="0" lang="en-US" sz="750" u="none" cap="none" strike="noStrike">
                <a:solidFill>
                  <a:srgbClr val="667085"/>
                </a:solidFill>
                <a:latin typeface="Malgun Gothic"/>
                <a:ea typeface="Malgun Gothic"/>
                <a:cs typeface="Malgun Gothic"/>
                <a:sym typeface="Malgun Gothic"/>
              </a:rPr>
              <a:t>Who&amp;When 15개 사례 분석 · 상세 보고서형 PPT</a:t>
            </a:r>
            <a:endParaRPr b="0" i="0" sz="750" u="none" cap="none" strike="noStrike">
              <a:solidFill>
                <a:schemeClr val="dk1"/>
              </a:solidFill>
              <a:latin typeface="Malgun Gothic"/>
              <a:ea typeface="Malgun Gothic"/>
              <a:cs typeface="Malgun Gothic"/>
              <a:sym typeface="Malgun Gothic"/>
            </a:endParaRPr>
          </a:p>
        </p:txBody>
      </p:sp>
      <p:sp>
        <p:nvSpPr>
          <p:cNvPr id="428" name="Google Shape;428;p40"/>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40</a:t>
            </a:r>
            <a:endParaRPr b="0" i="0" sz="800" u="none" cap="none" strike="noStrike">
              <a:solidFill>
                <a:schemeClr val="dk1"/>
              </a:solidFill>
              <a:latin typeface="Malgun Gothic"/>
              <a:ea typeface="Malgun Gothic"/>
              <a:cs typeface="Malgun Gothic"/>
              <a:sym typeface="Malgun Gothic"/>
            </a:endParaRPr>
          </a:p>
        </p:txBody>
      </p:sp>
      <p:graphicFrame>
        <p:nvGraphicFramePr>
          <p:cNvPr id="429" name="Google Shape;429;p40"/>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845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According to the USGS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공식 출처 제한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USGS source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American Alligator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대상 종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종명 정확성</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first found west of Texas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최초 발견 위치/연도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Texas 서쪽 조건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not including Texas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제외 조건 적용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Texas 자체 기록 제외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year only</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최종 연도 반환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Assistant/Orchestrator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Assistant/Orchestrator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정보 제공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41"/>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1</a:t>
            </a:r>
            <a:r>
              <a:rPr b="1" lang="en-US" sz="2200">
                <a:solidFill>
                  <a:srgbClr val="1F2A44"/>
                </a:solidFill>
                <a:latin typeface="Malgun Gothic"/>
                <a:ea typeface="Malgun Gothic"/>
                <a:cs typeface="Malgun Gothic"/>
                <a:sym typeface="Malgun Gothic"/>
              </a:rPr>
              <a:t>0</a:t>
            </a:r>
            <a:r>
              <a:rPr b="1" i="0" lang="en-US" sz="2200" u="none" cap="none" strike="noStrike">
                <a:solidFill>
                  <a:srgbClr val="1F2A44"/>
                </a:solidFill>
                <a:latin typeface="Malgun Gothic"/>
                <a:ea typeface="Malgun Gothic"/>
                <a:cs typeface="Malgun Gothic"/>
                <a:sym typeface="Malgun Gothic"/>
              </a:rPr>
              <a:t>. BASE DDC 633 unknown language flag</a:t>
            </a:r>
            <a:endParaRPr b="0" i="0" sz="2200" u="none" cap="none" strike="noStrike">
              <a:solidFill>
                <a:schemeClr val="dk1"/>
              </a:solidFill>
              <a:latin typeface="Malgun Gothic"/>
              <a:ea typeface="Malgun Gothic"/>
              <a:cs typeface="Malgun Gothic"/>
              <a:sym typeface="Malgun Gothic"/>
            </a:endParaRPr>
          </a:p>
        </p:txBody>
      </p:sp>
      <p:sp>
        <p:nvSpPr>
          <p:cNvPr id="436" name="Google Shape;436;p41"/>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Hand Crafted · 33.json</a:t>
            </a:r>
            <a:endParaRPr b="0" i="0" sz="950" u="none" cap="none" strike="noStrike">
              <a:solidFill>
                <a:schemeClr val="dk1"/>
              </a:solidFill>
              <a:latin typeface="Malgun Gothic"/>
              <a:ea typeface="Malgun Gothic"/>
              <a:cs typeface="Malgun Gothic"/>
              <a:sym typeface="Malgun Gothic"/>
            </a:endParaRPr>
          </a:p>
        </p:txBody>
      </p:sp>
      <p:cxnSp>
        <p:nvCxnSpPr>
          <p:cNvPr id="437" name="Google Shape;437;p41"/>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438" name="Google Shape;438;p41"/>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41</a:t>
            </a:r>
            <a:endParaRPr b="0" i="0" sz="800" u="none" cap="none" strike="noStrike">
              <a:solidFill>
                <a:schemeClr val="dk1"/>
              </a:solidFill>
              <a:latin typeface="Malgun Gothic"/>
              <a:ea typeface="Malgun Gothic"/>
              <a:cs typeface="Malgun Gothic"/>
              <a:sym typeface="Malgun Gothic"/>
            </a:endParaRPr>
          </a:p>
        </p:txBody>
      </p:sp>
      <p:sp>
        <p:nvSpPr>
          <p:cNvPr id="439" name="Google Shape;439;p41"/>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Under DDC 633 on Bielefeld University Library's BASE, as of 2020, from what country was the unknown language article with a flag unique from the others?</a:t>
            </a:r>
            <a:endParaRPr b="0" i="0" sz="1050" u="none" cap="none" strike="noStrike">
              <a:solidFill>
                <a:schemeClr val="dk1"/>
              </a:solidFill>
              <a:latin typeface="Malgun Gothic"/>
              <a:ea typeface="Malgun Gothic"/>
              <a:cs typeface="Malgun Gothic"/>
              <a:sym typeface="Malgun Gothic"/>
            </a:endParaRPr>
          </a:p>
        </p:txBody>
      </p:sp>
      <p:graphicFrame>
        <p:nvGraphicFramePr>
          <p:cNvPr id="440" name="Google Shape;440;p41"/>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Guatemala</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human, Orchestrator, 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8</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 failed to provide useful information and encountered errors during the process.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441" name="Google Shape;441;p41"/>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10363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10363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BASE 검색 조건과 flag/country 확인 지시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10363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BASE 사이트 접속, 필터링, metadata/flag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
        <p:nvSpPr>
          <p:cNvPr id="442" name="Google Shape;442;p41"/>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41"/>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Malgun Gothic"/>
              <a:buNone/>
            </a:pPr>
            <a:r>
              <a:rPr b="1" i="0" lang="en-US" sz="1100" u="none" cap="none" strike="noStrike">
                <a:solidFill>
                  <a:srgbClr val="2A9D8F"/>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444" name="Google Shape;444;p41"/>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사이트 내부 필터링과 metadata 해석이 핵심이다. WebSurfer가 오류와 정보 부족을 겪었다.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42"/>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1</a:t>
            </a:r>
            <a:r>
              <a:rPr b="1" lang="en-US" sz="2200">
                <a:solidFill>
                  <a:srgbClr val="1F2A44"/>
                </a:solidFill>
                <a:latin typeface="Malgun Gothic"/>
                <a:ea typeface="Malgun Gothic"/>
                <a:cs typeface="Malgun Gothic"/>
                <a:sym typeface="Malgun Gothic"/>
              </a:rPr>
              <a:t>0</a:t>
            </a:r>
            <a:r>
              <a:rPr b="1" i="0" lang="en-US" sz="2200" u="none" cap="none" strike="noStrike">
                <a:solidFill>
                  <a:srgbClr val="1F2A44"/>
                </a:solidFill>
                <a:latin typeface="Malgun Gothic"/>
                <a:ea typeface="Malgun Gothic"/>
                <a:cs typeface="Malgun Gothic"/>
                <a:sym typeface="Malgun Gothic"/>
              </a:rPr>
              <a:t>. Query–Task–Agent 분해</a:t>
            </a:r>
            <a:endParaRPr b="0" i="0" sz="2200" u="none" cap="none" strike="noStrike">
              <a:solidFill>
                <a:schemeClr val="dk1"/>
              </a:solidFill>
              <a:latin typeface="Malgun Gothic"/>
              <a:ea typeface="Malgun Gothic"/>
              <a:cs typeface="Malgun Gothic"/>
              <a:sym typeface="Malgun Gothic"/>
            </a:endParaRPr>
          </a:p>
        </p:txBody>
      </p:sp>
      <p:sp>
        <p:nvSpPr>
          <p:cNvPr id="451" name="Google Shape;451;p42"/>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BASE DDC 633 unknown language flag</a:t>
            </a:r>
            <a:endParaRPr b="0" i="0" sz="950" u="none" cap="none" strike="noStrike">
              <a:solidFill>
                <a:schemeClr val="dk1"/>
              </a:solidFill>
              <a:latin typeface="Malgun Gothic"/>
              <a:ea typeface="Malgun Gothic"/>
              <a:cs typeface="Malgun Gothic"/>
              <a:sym typeface="Malgun Gothic"/>
            </a:endParaRPr>
          </a:p>
        </p:txBody>
      </p:sp>
      <p:cxnSp>
        <p:nvCxnSpPr>
          <p:cNvPr id="452" name="Google Shape;452;p42"/>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453" name="Google Shape;453;p42"/>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42</a:t>
            </a:r>
            <a:endParaRPr b="0" i="0" sz="800" u="none" cap="none" strike="noStrike">
              <a:solidFill>
                <a:schemeClr val="dk1"/>
              </a:solidFill>
              <a:latin typeface="Malgun Gothic"/>
              <a:ea typeface="Malgun Gothic"/>
              <a:cs typeface="Malgun Gothic"/>
              <a:sym typeface="Malgun Gothic"/>
            </a:endParaRPr>
          </a:p>
        </p:txBody>
      </p:sp>
      <p:graphicFrame>
        <p:nvGraphicFramePr>
          <p:cNvPr id="454" name="Google Shape;454;p42"/>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845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Bielefeld BASE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특정 검색엔진 접속</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사이트 탐색</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DDC 633</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분류 필터 적용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검색 필터 설정</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as of 2020</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시점/연도 조건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2020 기준 결과</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unknown language article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언어 metadata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unknown language 식별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flag unique from others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flag/country 비교</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오류와 정보 부족</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9" name="Shape 459"/>
        <p:cNvGrpSpPr/>
        <p:nvPr/>
      </p:nvGrpSpPr>
      <p:grpSpPr>
        <a:xfrm>
          <a:off x="0" y="0"/>
          <a:ext cx="0" cy="0"/>
          <a:chOff x="0" y="0"/>
          <a:chExt cx="0" cy="0"/>
        </a:xfrm>
      </p:grpSpPr>
      <p:sp>
        <p:nvSpPr>
          <p:cNvPr id="460" name="Google Shape;460;p43"/>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1</a:t>
            </a:r>
            <a:r>
              <a:rPr b="1" lang="en-US" sz="2200">
                <a:solidFill>
                  <a:srgbClr val="1F2A44"/>
                </a:solidFill>
                <a:latin typeface="Malgun Gothic"/>
                <a:ea typeface="Malgun Gothic"/>
                <a:cs typeface="Malgun Gothic"/>
                <a:sym typeface="Malgun Gothic"/>
              </a:rPr>
              <a:t>1</a:t>
            </a:r>
            <a:r>
              <a:rPr b="1" i="0" lang="en-US" sz="2200" u="none" cap="none" strike="noStrike">
                <a:solidFill>
                  <a:srgbClr val="1F2A44"/>
                </a:solidFill>
                <a:latin typeface="Malgun Gothic"/>
                <a:ea typeface="Malgun Gothic"/>
                <a:cs typeface="Malgun Gothic"/>
                <a:sym typeface="Malgun Gothic"/>
              </a:rPr>
              <a:t>. DOI book endnote access date</a:t>
            </a:r>
            <a:endParaRPr b="0" i="0" sz="2200" u="none" cap="none" strike="noStrike">
              <a:solidFill>
                <a:schemeClr val="dk1"/>
              </a:solidFill>
              <a:latin typeface="Malgun Gothic"/>
              <a:ea typeface="Malgun Gothic"/>
              <a:cs typeface="Malgun Gothic"/>
              <a:sym typeface="Malgun Gothic"/>
            </a:endParaRPr>
          </a:p>
        </p:txBody>
      </p:sp>
      <p:sp>
        <p:nvSpPr>
          <p:cNvPr id="461" name="Google Shape;461;p43"/>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Hand Crafted · 26.json</a:t>
            </a:r>
            <a:endParaRPr b="0" i="0" sz="950" u="none" cap="none" strike="noStrike">
              <a:solidFill>
                <a:schemeClr val="dk1"/>
              </a:solidFill>
              <a:latin typeface="Malgun Gothic"/>
              <a:ea typeface="Malgun Gothic"/>
              <a:cs typeface="Malgun Gothic"/>
              <a:sym typeface="Malgun Gothic"/>
            </a:endParaRPr>
          </a:p>
        </p:txBody>
      </p:sp>
      <p:cxnSp>
        <p:nvCxnSpPr>
          <p:cNvPr id="462" name="Google Shape;462;p43"/>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463" name="Google Shape;463;p43"/>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43</a:t>
            </a:r>
            <a:endParaRPr b="0" i="0" sz="800" u="none" cap="none" strike="noStrike">
              <a:solidFill>
                <a:schemeClr val="dk1"/>
              </a:solidFill>
              <a:latin typeface="Malgun Gothic"/>
              <a:ea typeface="Malgun Gothic"/>
              <a:cs typeface="Malgun Gothic"/>
              <a:sym typeface="Malgun Gothic"/>
            </a:endParaRPr>
          </a:p>
        </p:txBody>
      </p:sp>
      <p:sp>
        <p:nvSpPr>
          <p:cNvPr id="464" name="Google Shape;464;p43"/>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In the endnote found in the second-to-last paragraph of page 11 of the book with the doi 10.2307/j.ctv9b2xdv, what date in November was the Wikipedia article accessed? Just give the day of the month.</a:t>
            </a:r>
            <a:endParaRPr b="0" i="0" sz="1050" u="none" cap="none" strike="noStrike">
              <a:solidFill>
                <a:schemeClr val="dk1"/>
              </a:solidFill>
              <a:latin typeface="Malgun Gothic"/>
              <a:ea typeface="Malgun Gothic"/>
              <a:cs typeface="Malgun Gothic"/>
              <a:sym typeface="Malgun Gothic"/>
            </a:endParaRPr>
          </a:p>
        </p:txBody>
      </p:sp>
      <p:graphicFrame>
        <p:nvGraphicFramePr>
          <p:cNvPr id="465" name="Google Shape;465;p43"/>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human, Orchestrator, 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32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 did not correctly extract the relevant information but directly gave a wrong answer.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466" name="Google Shape;466;p43"/>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10363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10363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DOI book과 page/endnote 조건을 FileSurfer에게 지시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10363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PDF/문서 내부의 특정 page, paragraph, endnote 탐색</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
        <p:nvSpPr>
          <p:cNvPr id="467" name="Google Shape;467;p43"/>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3"/>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Malgun Gothic"/>
              <a:buNone/>
            </a:pPr>
            <a:r>
              <a:rPr b="1" i="0" lang="en-US" sz="1100" u="none" cap="none" strike="noStrike">
                <a:solidFill>
                  <a:srgbClr val="2A9D8F"/>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469" name="Google Shape;469;p43"/>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파일/PDF 내부에서 특정 페이지, 특정 문단, 특정 endnote를 따라가는 정밀 추출 문제이다.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4" name="Shape 474"/>
        <p:cNvGrpSpPr/>
        <p:nvPr/>
      </p:nvGrpSpPr>
      <p:grpSpPr>
        <a:xfrm>
          <a:off x="0" y="0"/>
          <a:ext cx="0" cy="0"/>
          <a:chOff x="0" y="0"/>
          <a:chExt cx="0" cy="0"/>
        </a:xfrm>
      </p:grpSpPr>
      <p:sp>
        <p:nvSpPr>
          <p:cNvPr id="475" name="Google Shape;475;p44"/>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1</a:t>
            </a:r>
            <a:r>
              <a:rPr b="1" lang="en-US" sz="2200">
                <a:solidFill>
                  <a:srgbClr val="1F2A44"/>
                </a:solidFill>
                <a:latin typeface="Malgun Gothic"/>
                <a:ea typeface="Malgun Gothic"/>
                <a:cs typeface="Malgun Gothic"/>
                <a:sym typeface="Malgun Gothic"/>
              </a:rPr>
              <a:t>1</a:t>
            </a:r>
            <a:r>
              <a:rPr b="1" i="0" lang="en-US" sz="2200" u="none" cap="none" strike="noStrike">
                <a:solidFill>
                  <a:srgbClr val="1F2A44"/>
                </a:solidFill>
                <a:latin typeface="Malgun Gothic"/>
                <a:ea typeface="Malgun Gothic"/>
                <a:cs typeface="Malgun Gothic"/>
                <a:sym typeface="Malgun Gothic"/>
              </a:rPr>
              <a:t>. Query–Task–Agent 분해</a:t>
            </a:r>
            <a:endParaRPr b="0" i="0" sz="2200" u="none" cap="none" strike="noStrike">
              <a:solidFill>
                <a:schemeClr val="dk1"/>
              </a:solidFill>
              <a:latin typeface="Malgun Gothic"/>
              <a:ea typeface="Malgun Gothic"/>
              <a:cs typeface="Malgun Gothic"/>
              <a:sym typeface="Malgun Gothic"/>
            </a:endParaRPr>
          </a:p>
        </p:txBody>
      </p:sp>
      <p:sp>
        <p:nvSpPr>
          <p:cNvPr id="476" name="Google Shape;476;p44"/>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DOI book endnote access date</a:t>
            </a:r>
            <a:endParaRPr b="0" i="0" sz="950" u="none" cap="none" strike="noStrike">
              <a:solidFill>
                <a:schemeClr val="dk1"/>
              </a:solidFill>
              <a:latin typeface="Malgun Gothic"/>
              <a:ea typeface="Malgun Gothic"/>
              <a:cs typeface="Malgun Gothic"/>
              <a:sym typeface="Malgun Gothic"/>
            </a:endParaRPr>
          </a:p>
        </p:txBody>
      </p:sp>
      <p:cxnSp>
        <p:nvCxnSpPr>
          <p:cNvPr id="477" name="Google Shape;477;p44"/>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478" name="Google Shape;478;p44"/>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44</a:t>
            </a:r>
            <a:endParaRPr b="0" i="0" sz="800" u="none" cap="none" strike="noStrike">
              <a:solidFill>
                <a:schemeClr val="dk1"/>
              </a:solidFill>
              <a:latin typeface="Malgun Gothic"/>
              <a:ea typeface="Malgun Gothic"/>
              <a:cs typeface="Malgun Gothic"/>
              <a:sym typeface="Malgun Gothic"/>
            </a:endParaRPr>
          </a:p>
        </p:txBody>
      </p:sp>
      <p:graphicFrame>
        <p:nvGraphicFramePr>
          <p:cNvPr id="479" name="Google Shape;479;p44"/>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72500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7250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book with DOI</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도서/PDF 확보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파일 접근</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250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page 11</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정확한 페이지 이동</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PDF page 기준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7250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second-to-last paragraph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문단 위치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위치 기반 추출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250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endnote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주석/미주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본문과 주석 연결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7250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Wikipedia accessed date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날짜 문자열 추출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추출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250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day of month only</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숫자만 반환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Assistant/FileSurfer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wrong answer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4" name="Shape 484"/>
        <p:cNvGrpSpPr/>
        <p:nvPr/>
      </p:nvGrpSpPr>
      <p:grpSpPr>
        <a:xfrm>
          <a:off x="0" y="0"/>
          <a:ext cx="0" cy="0"/>
          <a:chOff x="0" y="0"/>
          <a:chExt cx="0" cy="0"/>
        </a:xfrm>
      </p:grpSpPr>
      <p:sp>
        <p:nvSpPr>
          <p:cNvPr id="485" name="Google Shape;485;p45"/>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1</a:t>
            </a:r>
            <a:r>
              <a:rPr b="1" lang="en-US" sz="2200">
                <a:solidFill>
                  <a:srgbClr val="1F2A44"/>
                </a:solidFill>
                <a:latin typeface="Malgun Gothic"/>
                <a:ea typeface="Malgun Gothic"/>
                <a:cs typeface="Malgun Gothic"/>
                <a:sym typeface="Malgun Gothic"/>
              </a:rPr>
              <a:t>2</a:t>
            </a:r>
            <a:r>
              <a:rPr b="1" i="0" lang="en-US" sz="2200" u="none" cap="none" strike="noStrike">
                <a:solidFill>
                  <a:srgbClr val="1F2A44"/>
                </a:solidFill>
                <a:latin typeface="Malgun Gothic"/>
                <a:ea typeface="Malgun Gothic"/>
                <a:cs typeface="Malgun Gothic"/>
                <a:sym typeface="Malgun Gothic"/>
              </a:rPr>
              <a:t>. Audio calculus reading pages</a:t>
            </a:r>
            <a:endParaRPr b="0" i="0" sz="2200" u="none" cap="none" strike="noStrike">
              <a:solidFill>
                <a:schemeClr val="dk1"/>
              </a:solidFill>
              <a:latin typeface="Malgun Gothic"/>
              <a:ea typeface="Malgun Gothic"/>
              <a:cs typeface="Malgun Gothic"/>
              <a:sym typeface="Malgun Gothic"/>
            </a:endParaRPr>
          </a:p>
        </p:txBody>
      </p:sp>
      <p:sp>
        <p:nvSpPr>
          <p:cNvPr id="486" name="Google Shape;486;p45"/>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Hand Crafted · 51.json</a:t>
            </a:r>
            <a:endParaRPr b="0" i="0" sz="950" u="none" cap="none" strike="noStrike">
              <a:solidFill>
                <a:schemeClr val="dk1"/>
              </a:solidFill>
              <a:latin typeface="Malgun Gothic"/>
              <a:ea typeface="Malgun Gothic"/>
              <a:cs typeface="Malgun Gothic"/>
              <a:sym typeface="Malgun Gothic"/>
            </a:endParaRPr>
          </a:p>
        </p:txBody>
      </p:sp>
      <p:cxnSp>
        <p:nvCxnSpPr>
          <p:cNvPr id="487" name="Google Shape;487;p45"/>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488" name="Google Shape;488;p45"/>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45</a:t>
            </a:r>
            <a:endParaRPr b="0" i="0" sz="800" u="none" cap="none" strike="noStrike">
              <a:solidFill>
                <a:schemeClr val="dk1"/>
              </a:solidFill>
              <a:latin typeface="Malgun Gothic"/>
              <a:ea typeface="Malgun Gothic"/>
              <a:cs typeface="Malgun Gothic"/>
              <a:sym typeface="Malgun Gothic"/>
            </a:endParaRPr>
          </a:p>
        </p:txBody>
      </p:sp>
      <p:sp>
        <p:nvSpPr>
          <p:cNvPr id="489" name="Google Shape;489;p45"/>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User was sick and needs calculus midterm recommended reading from professor's audio recording because headphones are broken.</a:t>
            </a:r>
            <a:endParaRPr b="0" i="0" sz="1050" u="none" cap="none" strike="noStrike">
              <a:solidFill>
                <a:schemeClr val="dk1"/>
              </a:solidFill>
              <a:latin typeface="Malgun Gothic"/>
              <a:ea typeface="Malgun Gothic"/>
              <a:cs typeface="Malgun Gothic"/>
              <a:sym typeface="Malgun Gothic"/>
            </a:endParaRPr>
          </a:p>
        </p:txBody>
      </p:sp>
      <p:graphicFrame>
        <p:nvGraphicFramePr>
          <p:cNvPr id="490" name="Google Shape;490;p45"/>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132, 133, 134, 197, 245</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human, Orchestrator, FileSurfer, 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5</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The agent should provide a transcription of the audio file to extract the page numbers, but it failed to transcribe the audio.</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491" name="Google Shape;491;p45"/>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7772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audio file 처리와 page number 추출 지시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오디오 파일 접근 및 transcription 수행</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추출된 숫자를 최종 정리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492" name="Google Shape;492;p45"/>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5"/>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Malgun Gothic"/>
              <a:buNone/>
            </a:pPr>
            <a:r>
              <a:rPr b="1" i="0" lang="en-US" sz="1100" u="none" cap="none" strike="noStrike">
                <a:solidFill>
                  <a:srgbClr val="2A9D8F"/>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494" name="Google Shape;494;p45"/>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FileSurfer가 단순 파일 탐색이 아니라 audio transcription까지 해야 하는 사례이며, 전사 실패가 전체 실패로 이어졌다.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 name="Shape 499"/>
        <p:cNvGrpSpPr/>
        <p:nvPr/>
      </p:nvGrpSpPr>
      <p:grpSpPr>
        <a:xfrm>
          <a:off x="0" y="0"/>
          <a:ext cx="0" cy="0"/>
          <a:chOff x="0" y="0"/>
          <a:chExt cx="0" cy="0"/>
        </a:xfrm>
      </p:grpSpPr>
      <p:sp>
        <p:nvSpPr>
          <p:cNvPr id="500" name="Google Shape;500;p46"/>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1</a:t>
            </a:r>
            <a:r>
              <a:rPr b="1" lang="en-US" sz="2200">
                <a:solidFill>
                  <a:srgbClr val="1F2A44"/>
                </a:solidFill>
                <a:latin typeface="Malgun Gothic"/>
                <a:ea typeface="Malgun Gothic"/>
                <a:cs typeface="Malgun Gothic"/>
                <a:sym typeface="Malgun Gothic"/>
              </a:rPr>
              <a:t>2</a:t>
            </a:r>
            <a:r>
              <a:rPr b="1" i="0" lang="en-US" sz="2200" u="none" cap="none" strike="noStrike">
                <a:solidFill>
                  <a:srgbClr val="1F2A44"/>
                </a:solidFill>
                <a:latin typeface="Malgun Gothic"/>
                <a:ea typeface="Malgun Gothic"/>
                <a:cs typeface="Malgun Gothic"/>
                <a:sym typeface="Malgun Gothic"/>
              </a:rPr>
              <a:t>. Query–Task–Agent 분해</a:t>
            </a:r>
            <a:endParaRPr b="0" i="0" sz="2200" u="none" cap="none" strike="noStrike">
              <a:solidFill>
                <a:schemeClr val="dk1"/>
              </a:solidFill>
              <a:latin typeface="Malgun Gothic"/>
              <a:ea typeface="Malgun Gothic"/>
              <a:cs typeface="Malgun Gothic"/>
              <a:sym typeface="Malgun Gothic"/>
            </a:endParaRPr>
          </a:p>
        </p:txBody>
      </p:sp>
      <p:sp>
        <p:nvSpPr>
          <p:cNvPr id="501" name="Google Shape;501;p46"/>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Audio calculus reading pages</a:t>
            </a:r>
            <a:endParaRPr b="0" i="0" sz="950" u="none" cap="none" strike="noStrike">
              <a:solidFill>
                <a:schemeClr val="dk1"/>
              </a:solidFill>
              <a:latin typeface="Malgun Gothic"/>
              <a:ea typeface="Malgun Gothic"/>
              <a:cs typeface="Malgun Gothic"/>
              <a:sym typeface="Malgun Gothic"/>
            </a:endParaRPr>
          </a:p>
        </p:txBody>
      </p:sp>
      <p:cxnSp>
        <p:nvCxnSpPr>
          <p:cNvPr id="502" name="Google Shape;502;p46"/>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503" name="Google Shape;503;p46"/>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46</a:t>
            </a:r>
            <a:endParaRPr b="0" i="0" sz="800" u="none" cap="none" strike="noStrike">
              <a:solidFill>
                <a:schemeClr val="dk1"/>
              </a:solidFill>
              <a:latin typeface="Malgun Gothic"/>
              <a:ea typeface="Malgun Gothic"/>
              <a:cs typeface="Malgun Gothic"/>
              <a:sym typeface="Malgun Gothic"/>
            </a:endParaRPr>
          </a:p>
        </p:txBody>
      </p:sp>
      <p:graphicFrame>
        <p:nvGraphicFramePr>
          <p:cNvPr id="504" name="Google Shape;504;p46"/>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845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professor's audio recording</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파일 열기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audio file 접근</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headphones are broken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사용자는 직접 들을 수 없음</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agent가 대신 들어야 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calculus midterm reading</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관련 발화 구간 찾기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transcription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page numbers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숫자 추출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전사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comma-separated numbers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형식 정리</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중간 정보 없음</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9" name="Shape 509"/>
        <p:cNvGrpSpPr/>
        <p:nvPr/>
      </p:nvGrpSpPr>
      <p:grpSpPr>
        <a:xfrm>
          <a:off x="0" y="0"/>
          <a:ext cx="0" cy="0"/>
          <a:chOff x="0" y="0"/>
          <a:chExt cx="0" cy="0"/>
        </a:xfrm>
      </p:grpSpPr>
      <p:sp>
        <p:nvSpPr>
          <p:cNvPr id="510" name="Google Shape;510;p47"/>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1</a:t>
            </a:r>
            <a:r>
              <a:rPr b="1" lang="en-US" sz="2200">
                <a:solidFill>
                  <a:srgbClr val="1F2A44"/>
                </a:solidFill>
                <a:latin typeface="Malgun Gothic"/>
                <a:ea typeface="Malgun Gothic"/>
                <a:cs typeface="Malgun Gothic"/>
                <a:sym typeface="Malgun Gothic"/>
              </a:rPr>
              <a:t>3</a:t>
            </a:r>
            <a:r>
              <a:rPr b="1" i="0" lang="en-US" sz="2200" u="none" cap="none" strike="noStrike">
                <a:solidFill>
                  <a:srgbClr val="1F2A44"/>
                </a:solidFill>
                <a:latin typeface="Malgun Gothic"/>
                <a:ea typeface="Malgun Gothic"/>
                <a:cs typeface="Malgun Gothic"/>
                <a:sym typeface="Malgun Gothic"/>
              </a:rPr>
              <a:t>. Seattle rainy day probability</a:t>
            </a:r>
            <a:endParaRPr b="0" i="0" sz="2200" u="none" cap="none" strike="noStrike">
              <a:solidFill>
                <a:schemeClr val="dk1"/>
              </a:solidFill>
              <a:latin typeface="Malgun Gothic"/>
              <a:ea typeface="Malgun Gothic"/>
              <a:cs typeface="Malgun Gothic"/>
              <a:sym typeface="Malgun Gothic"/>
            </a:endParaRPr>
          </a:p>
        </p:txBody>
      </p:sp>
      <p:sp>
        <p:nvSpPr>
          <p:cNvPr id="511" name="Google Shape;511;p47"/>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Hand Crafted · 48.json</a:t>
            </a:r>
            <a:endParaRPr b="0" i="0" sz="950" u="none" cap="none" strike="noStrike">
              <a:solidFill>
                <a:schemeClr val="dk1"/>
              </a:solidFill>
              <a:latin typeface="Malgun Gothic"/>
              <a:ea typeface="Malgun Gothic"/>
              <a:cs typeface="Malgun Gothic"/>
              <a:sym typeface="Malgun Gothic"/>
            </a:endParaRPr>
          </a:p>
        </p:txBody>
      </p:sp>
      <p:cxnSp>
        <p:nvCxnSpPr>
          <p:cNvPr id="512" name="Google Shape;512;p47"/>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513" name="Google Shape;513;p47"/>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47</a:t>
            </a:r>
            <a:endParaRPr b="0" i="0" sz="800" u="none" cap="none" strike="noStrike">
              <a:solidFill>
                <a:schemeClr val="dk1"/>
              </a:solidFill>
              <a:latin typeface="Malgun Gothic"/>
              <a:ea typeface="Malgun Gothic"/>
              <a:cs typeface="Malgun Gothic"/>
              <a:sym typeface="Malgun Gothic"/>
            </a:endParaRPr>
          </a:p>
        </p:txBody>
      </p:sp>
      <p:sp>
        <p:nvSpPr>
          <p:cNvPr id="514" name="Google Shape;514;p47"/>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Based on recent years 2020-2023, how likely am I to hit a rainy day at least 0.5mm precipitation if I travel to Seattle during the first week of September? Provide percentage.</a:t>
            </a:r>
            <a:endParaRPr b="0" i="0" sz="1050" u="none" cap="none" strike="noStrike">
              <a:solidFill>
                <a:schemeClr val="dk1"/>
              </a:solidFill>
              <a:latin typeface="Malgun Gothic"/>
              <a:ea typeface="Malgun Gothic"/>
              <a:cs typeface="Malgun Gothic"/>
              <a:sym typeface="Malgun Gothic"/>
            </a:endParaRPr>
          </a:p>
        </p:txBody>
      </p:sp>
      <p:graphicFrame>
        <p:nvGraphicFramePr>
          <p:cNvPr id="515" name="Google Shape;515;p47"/>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14.2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human, Orchestrator, 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The agent did not find enough information to answer the question but directly gave the answer.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516" name="Google Shape;516;p47"/>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7772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기간, 지역, threshold 조건을 WebSurfer에게 지시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기상 자료 검색과 데이터 수집</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확률 계산 및 percentage 응답</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517" name="Google Shape;517;p47"/>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7"/>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Malgun Gothic"/>
              <a:buNone/>
            </a:pPr>
            <a:r>
              <a:rPr b="1" i="0" lang="en-US" sz="1100" u="none" cap="none" strike="noStrike">
                <a:solidFill>
                  <a:srgbClr val="2A9D8F"/>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519" name="Google Shape;519;p47"/>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충분한 데이터가 없는데도 답을 만든 사례이다. retrieval 부족과 계산 근거 부족이 함께 나타난다.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4" name="Shape 524"/>
        <p:cNvGrpSpPr/>
        <p:nvPr/>
      </p:nvGrpSpPr>
      <p:grpSpPr>
        <a:xfrm>
          <a:off x="0" y="0"/>
          <a:ext cx="0" cy="0"/>
          <a:chOff x="0" y="0"/>
          <a:chExt cx="0" cy="0"/>
        </a:xfrm>
      </p:grpSpPr>
      <p:sp>
        <p:nvSpPr>
          <p:cNvPr id="525" name="Google Shape;525;p48"/>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1</a:t>
            </a:r>
            <a:r>
              <a:rPr b="1" lang="en-US" sz="2200">
                <a:solidFill>
                  <a:srgbClr val="1F2A44"/>
                </a:solidFill>
                <a:latin typeface="Malgun Gothic"/>
                <a:ea typeface="Malgun Gothic"/>
                <a:cs typeface="Malgun Gothic"/>
                <a:sym typeface="Malgun Gothic"/>
              </a:rPr>
              <a:t>3</a:t>
            </a:r>
            <a:r>
              <a:rPr b="1" i="0" lang="en-US" sz="2200" u="none" cap="none" strike="noStrike">
                <a:solidFill>
                  <a:srgbClr val="1F2A44"/>
                </a:solidFill>
                <a:latin typeface="Malgun Gothic"/>
                <a:ea typeface="Malgun Gothic"/>
                <a:cs typeface="Malgun Gothic"/>
                <a:sym typeface="Malgun Gothic"/>
              </a:rPr>
              <a:t>. Query–Task–Agent 분해</a:t>
            </a:r>
            <a:endParaRPr b="0" i="0" sz="2200" u="none" cap="none" strike="noStrike">
              <a:solidFill>
                <a:schemeClr val="dk1"/>
              </a:solidFill>
              <a:latin typeface="Malgun Gothic"/>
              <a:ea typeface="Malgun Gothic"/>
              <a:cs typeface="Malgun Gothic"/>
              <a:sym typeface="Malgun Gothic"/>
            </a:endParaRPr>
          </a:p>
        </p:txBody>
      </p:sp>
      <p:sp>
        <p:nvSpPr>
          <p:cNvPr id="526" name="Google Shape;526;p48"/>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Seattle rainy day probability</a:t>
            </a:r>
            <a:endParaRPr b="0" i="0" sz="950" u="none" cap="none" strike="noStrike">
              <a:solidFill>
                <a:schemeClr val="dk1"/>
              </a:solidFill>
              <a:latin typeface="Malgun Gothic"/>
              <a:ea typeface="Malgun Gothic"/>
              <a:cs typeface="Malgun Gothic"/>
              <a:sym typeface="Malgun Gothic"/>
            </a:endParaRPr>
          </a:p>
        </p:txBody>
      </p:sp>
      <p:cxnSp>
        <p:nvCxnSpPr>
          <p:cNvPr id="527" name="Google Shape;527;p48"/>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528" name="Google Shape;528;p48"/>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48</a:t>
            </a:r>
            <a:endParaRPr b="0" i="0" sz="800" u="none" cap="none" strike="noStrike">
              <a:solidFill>
                <a:schemeClr val="dk1"/>
              </a:solidFill>
              <a:latin typeface="Malgun Gothic"/>
              <a:ea typeface="Malgun Gothic"/>
              <a:cs typeface="Malgun Gothic"/>
              <a:sym typeface="Malgun Gothic"/>
            </a:endParaRPr>
          </a:p>
        </p:txBody>
      </p:sp>
      <p:graphicFrame>
        <p:nvGraphicFramePr>
          <p:cNvPr id="529" name="Google Shape;529;p48"/>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845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recent years 2020–2023</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기간 필터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WebSurfer/Data 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연도별 데이터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Seattle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지역 기상 데이터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관측소/지역 데이터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first week of September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날짜 범위 필터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WebSurfer/Data 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9월 1주차 정의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rainy day at least 0.5mm</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강수량 threshold 적용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Data/Calculation 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threshold 계산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how likely percentage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확률 계산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Data/Assistant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충분한 정보 없이 답함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4" name="Shape 534"/>
        <p:cNvGrpSpPr/>
        <p:nvPr/>
      </p:nvGrpSpPr>
      <p:grpSpPr>
        <a:xfrm>
          <a:off x="0" y="0"/>
          <a:ext cx="0" cy="0"/>
          <a:chOff x="0" y="0"/>
          <a:chExt cx="0" cy="0"/>
        </a:xfrm>
      </p:grpSpPr>
      <p:sp>
        <p:nvSpPr>
          <p:cNvPr id="535" name="Google Shape;535;p49"/>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1</a:t>
            </a:r>
            <a:r>
              <a:rPr b="1" lang="en-US" sz="2200">
                <a:solidFill>
                  <a:srgbClr val="1F2A44"/>
                </a:solidFill>
                <a:latin typeface="Malgun Gothic"/>
                <a:ea typeface="Malgun Gothic"/>
                <a:cs typeface="Malgun Gothic"/>
                <a:sym typeface="Malgun Gothic"/>
              </a:rPr>
              <a:t>4</a:t>
            </a:r>
            <a:r>
              <a:rPr b="1" i="0" lang="en-US" sz="2200" u="none" cap="none" strike="noStrike">
                <a:solidFill>
                  <a:srgbClr val="1F2A44"/>
                </a:solidFill>
                <a:latin typeface="Malgun Gothic"/>
                <a:ea typeface="Malgun Gothic"/>
                <a:cs typeface="Malgun Gothic"/>
                <a:sym typeface="Malgun Gothic"/>
              </a:rPr>
              <a:t>. Beluga whale GFF3 file</a:t>
            </a:r>
            <a:endParaRPr b="0" i="0" sz="2200" u="none" cap="none" strike="noStrike">
              <a:solidFill>
                <a:schemeClr val="dk1"/>
              </a:solidFill>
              <a:latin typeface="Malgun Gothic"/>
              <a:ea typeface="Malgun Gothic"/>
              <a:cs typeface="Malgun Gothic"/>
              <a:sym typeface="Malgun Gothic"/>
            </a:endParaRPr>
          </a:p>
        </p:txBody>
      </p:sp>
      <p:sp>
        <p:nvSpPr>
          <p:cNvPr id="536" name="Google Shape;536;p49"/>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Hand Crafted · 39.json</a:t>
            </a:r>
            <a:endParaRPr b="0" i="0" sz="950" u="none" cap="none" strike="noStrike">
              <a:solidFill>
                <a:schemeClr val="dk1"/>
              </a:solidFill>
              <a:latin typeface="Malgun Gothic"/>
              <a:ea typeface="Malgun Gothic"/>
              <a:cs typeface="Malgun Gothic"/>
              <a:sym typeface="Malgun Gothic"/>
            </a:endParaRPr>
          </a:p>
        </p:txBody>
      </p:sp>
      <p:cxnSp>
        <p:nvCxnSpPr>
          <p:cNvPr id="537" name="Google Shape;537;p49"/>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538" name="Google Shape;538;p49"/>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49</a:t>
            </a:r>
            <a:endParaRPr b="0" i="0" sz="800" u="none" cap="none" strike="noStrike">
              <a:solidFill>
                <a:schemeClr val="dk1"/>
              </a:solidFill>
              <a:latin typeface="Malgun Gothic"/>
              <a:ea typeface="Malgun Gothic"/>
              <a:cs typeface="Malgun Gothic"/>
              <a:sym typeface="Malgun Gothic"/>
            </a:endParaRPr>
          </a:p>
        </p:txBody>
      </p:sp>
      <p:sp>
        <p:nvSpPr>
          <p:cNvPr id="539" name="Google Shape;539;p49"/>
          <p:cNvSpPr/>
          <p:nvPr/>
        </p:nvSpPr>
        <p:spPr>
          <a:xfrm>
            <a:off x="566928" y="1078992"/>
            <a:ext cx="10972800"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What is the link to the GFF3 file for beluga whales that was the most recent one on 20/10/2020?</a:t>
            </a:r>
            <a:endParaRPr b="0" i="0" sz="1050" u="none" cap="none" strike="noStrike">
              <a:solidFill>
                <a:schemeClr val="dk1"/>
              </a:solidFill>
              <a:latin typeface="Malgun Gothic"/>
              <a:ea typeface="Malgun Gothic"/>
              <a:cs typeface="Malgun Gothic"/>
              <a:sym typeface="Malgun Gothic"/>
            </a:endParaRPr>
          </a:p>
        </p:txBody>
      </p:sp>
      <p:graphicFrame>
        <p:nvGraphicFramePr>
          <p:cNvPr id="540" name="Google Shape;540;p49"/>
          <p:cNvGraphicFramePr/>
          <p:nvPr/>
        </p:nvGraphicFramePr>
        <p:xfrm>
          <a:off x="566928" y="1783080"/>
          <a:ext cx="3000000" cy="3000000"/>
        </p:xfrm>
        <a:graphic>
          <a:graphicData uri="http://schemas.openxmlformats.org/drawingml/2006/table">
            <a:tbl>
              <a:tblPr>
                <a:noFill/>
                <a:tableStyleId>{50896835-E566-46DC-AF42-435CE09E4439}</a:tableStyleId>
              </a:tblPr>
              <a:tblGrid>
                <a:gridCol w="1298450"/>
                <a:gridCol w="4096500"/>
              </a:tblGrid>
              <a:tr h="5181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필드</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값</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ground_truth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https://ftp.ensembl.org/pub/release-101/gff3/delphinapterus_leucas/Delphinapterus_leucas.ASM228892v3.101.gff3.gz</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history/agent 구조</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human, Orchestrator, Web/File exploration 계열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mistake_step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30</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181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mistake_reason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The instruction is wrong.</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graphicFrame>
        <p:nvGraphicFramePr>
          <p:cNvPr id="541" name="Google Shape;541;p49"/>
          <p:cNvGraphicFramePr/>
          <p:nvPr/>
        </p:nvGraphicFramePr>
        <p:xfrm>
          <a:off x="6199632" y="1783080"/>
          <a:ext cx="3000000" cy="3000000"/>
        </p:xfrm>
        <a:graphic>
          <a:graphicData uri="http://schemas.openxmlformats.org/drawingml/2006/table">
            <a:tbl>
              <a:tblPr>
                <a:noFill/>
                <a:tableStyleId>{50896835-E566-46DC-AF42-435CE09E4439}</a:tableStyleId>
              </a:tblPr>
              <a:tblGrid>
                <a:gridCol w="1901950"/>
                <a:gridCol w="3493000"/>
              </a:tblGrid>
              <a:tr h="7772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역할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release/date 기준과 다음 탐색 방향 지시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Ensembl FTP 경로와 GFF3 파일 탐색</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7772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URL 최종 반환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542" name="Google Shape;542;p49"/>
          <p:cNvSpPr/>
          <p:nvPr/>
        </p:nvSpPr>
        <p:spPr>
          <a:xfrm>
            <a:off x="566928" y="5166360"/>
            <a:ext cx="11027664" cy="960120"/>
          </a:xfrm>
          <a:prstGeom prst="roundRect">
            <a:avLst>
              <a:gd fmla="val 476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49"/>
          <p:cNvSpPr/>
          <p:nvPr/>
        </p:nvSpPr>
        <p:spPr>
          <a:xfrm>
            <a:off x="704088" y="5257800"/>
            <a:ext cx="1075334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100"/>
              <a:buFont typeface="Malgun Gothic"/>
              <a:buNone/>
            </a:pPr>
            <a:r>
              <a:rPr b="1" i="0" lang="en-US" sz="1100" u="none" cap="none" strike="noStrike">
                <a:solidFill>
                  <a:srgbClr val="2A9D8F"/>
                </a:solidFill>
                <a:latin typeface="Malgun Gothic"/>
                <a:ea typeface="Malgun Gothic"/>
                <a:cs typeface="Malgun Gothic"/>
                <a:sym typeface="Malgun Gothic"/>
              </a:rPr>
              <a:t>핵심 해석</a:t>
            </a:r>
            <a:endParaRPr b="0" i="0" sz="1100" u="none" cap="none" strike="noStrike">
              <a:solidFill>
                <a:schemeClr val="dk1"/>
              </a:solidFill>
              <a:latin typeface="Malgun Gothic"/>
              <a:ea typeface="Malgun Gothic"/>
              <a:cs typeface="Malgun Gothic"/>
              <a:sym typeface="Malgun Gothic"/>
            </a:endParaRPr>
          </a:p>
        </p:txBody>
      </p:sp>
      <p:sp>
        <p:nvSpPr>
          <p:cNvPr id="544" name="Google Shape;544;p49"/>
          <p:cNvSpPr/>
          <p:nvPr/>
        </p:nvSpPr>
        <p:spPr>
          <a:xfrm>
            <a:off x="704088" y="5550408"/>
            <a:ext cx="10753344"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실행 agent의 검색 실패보다 조정자가 잘못된 instruction을 내려 이후 흐름이 틀어진 사례이다.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9" name="Shape 549"/>
        <p:cNvGrpSpPr/>
        <p:nvPr/>
      </p:nvGrpSpPr>
      <p:grpSpPr>
        <a:xfrm>
          <a:off x="0" y="0"/>
          <a:ext cx="0" cy="0"/>
          <a:chOff x="0" y="0"/>
          <a:chExt cx="0" cy="0"/>
        </a:xfrm>
      </p:grpSpPr>
      <p:sp>
        <p:nvSpPr>
          <p:cNvPr id="550" name="Google Shape;550;p50"/>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사례 </a:t>
            </a:r>
            <a:r>
              <a:rPr b="1" lang="en-US" sz="2200">
                <a:solidFill>
                  <a:srgbClr val="1F2A44"/>
                </a:solidFill>
                <a:latin typeface="Malgun Gothic"/>
                <a:ea typeface="Malgun Gothic"/>
                <a:cs typeface="Malgun Gothic"/>
                <a:sym typeface="Malgun Gothic"/>
              </a:rPr>
              <a:t>14</a:t>
            </a:r>
            <a:r>
              <a:rPr b="1" i="0" lang="en-US" sz="2200" u="none" cap="none" strike="noStrike">
                <a:solidFill>
                  <a:srgbClr val="1F2A44"/>
                </a:solidFill>
                <a:latin typeface="Malgun Gothic"/>
                <a:ea typeface="Malgun Gothic"/>
                <a:cs typeface="Malgun Gothic"/>
                <a:sym typeface="Malgun Gothic"/>
              </a:rPr>
              <a:t>. Query–Task–Agent 분해</a:t>
            </a:r>
            <a:endParaRPr b="0" i="0" sz="2200" u="none" cap="none" strike="noStrike">
              <a:solidFill>
                <a:schemeClr val="dk1"/>
              </a:solidFill>
              <a:latin typeface="Malgun Gothic"/>
              <a:ea typeface="Malgun Gothic"/>
              <a:cs typeface="Malgun Gothic"/>
              <a:sym typeface="Malgun Gothic"/>
            </a:endParaRPr>
          </a:p>
        </p:txBody>
      </p:sp>
      <p:sp>
        <p:nvSpPr>
          <p:cNvPr id="551" name="Google Shape;551;p50"/>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Beluga whale GFF3 file</a:t>
            </a:r>
            <a:endParaRPr b="0" i="0" sz="950" u="none" cap="none" strike="noStrike">
              <a:solidFill>
                <a:schemeClr val="dk1"/>
              </a:solidFill>
              <a:latin typeface="Malgun Gothic"/>
              <a:ea typeface="Malgun Gothic"/>
              <a:cs typeface="Malgun Gothic"/>
              <a:sym typeface="Malgun Gothic"/>
            </a:endParaRPr>
          </a:p>
        </p:txBody>
      </p:sp>
      <p:cxnSp>
        <p:nvCxnSpPr>
          <p:cNvPr id="552" name="Google Shape;552;p50"/>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553" name="Google Shape;553;p50"/>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50</a:t>
            </a:r>
            <a:endParaRPr b="0" i="0" sz="800" u="none" cap="none" strike="noStrike">
              <a:solidFill>
                <a:schemeClr val="dk1"/>
              </a:solidFill>
              <a:latin typeface="Malgun Gothic"/>
              <a:ea typeface="Malgun Gothic"/>
              <a:cs typeface="Malgun Gothic"/>
              <a:sym typeface="Malgun Gothic"/>
            </a:endParaRPr>
          </a:p>
        </p:txBody>
      </p:sp>
      <p:graphicFrame>
        <p:nvGraphicFramePr>
          <p:cNvPr id="554" name="Google Shape;554;p50"/>
          <p:cNvGraphicFramePr/>
          <p:nvPr/>
        </p:nvGraphicFramePr>
        <p:xfrm>
          <a:off x="475488" y="1115568"/>
          <a:ext cx="3000000" cy="3000000"/>
        </p:xfrm>
        <a:graphic>
          <a:graphicData uri="http://schemas.openxmlformats.org/drawingml/2006/table">
            <a:tbl>
              <a:tblPr>
                <a:noFill/>
                <a:tableStyleId>{50896835-E566-46DC-AF42-435CE09E4439}</a:tableStyleId>
              </a:tblPr>
              <a:tblGrid>
                <a:gridCol w="2057400"/>
                <a:gridCol w="2148850"/>
                <a:gridCol w="2103125"/>
                <a:gridCol w="2103125"/>
                <a:gridCol w="2834650"/>
              </a:tblGrid>
              <a:tr h="84582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내부 요구</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subtask</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담당해야 할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실제 연결된 agent</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c>
                  <a:txBody>
                    <a:bodyPr/>
                    <a:lstStyle/>
                    <a:p>
                      <a:pPr indent="0" lvl="0" marL="0" marR="0" rtl="0" algn="ctr">
                        <a:spcBef>
                          <a:spcPts val="0"/>
                        </a:spcBef>
                        <a:spcAft>
                          <a:spcPts val="0"/>
                        </a:spcAft>
                        <a:buClr>
                          <a:srgbClr val="FFFFFF"/>
                        </a:buClr>
                        <a:buSzPts val="980"/>
                        <a:buFont typeface="Malgun Gothic"/>
                        <a:buNone/>
                      </a:pPr>
                      <a:r>
                        <a:rPr b="1" lang="en-US" sz="980">
                          <a:solidFill>
                            <a:srgbClr val="FFFFFF"/>
                          </a:solidFill>
                          <a:latin typeface="Malgun Gothic"/>
                          <a:ea typeface="Malgun Gothic"/>
                          <a:cs typeface="Malgun Gothic"/>
                          <a:sym typeface="Malgun Gothic"/>
                        </a:rPr>
                        <a:t>실제 history에서 확인할 점</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2A9D8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beluga whales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species/scientific name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Web/File 계열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Delphinapterus leucas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GFF3 file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파일 유형 확인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WebSurfer/FileSurfer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Web/File 계열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Ensembl FTP 경로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most recent on 20/10/2020</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날짜 기준 release 판정</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그 시점 최신 release 판단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link</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URL 그대로 반환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Assistant</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정확한 FTP URL</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4582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instruction flow</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agent 지시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instruction 자체가 잘못됨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9" name="Shape 559"/>
        <p:cNvGrpSpPr/>
        <p:nvPr/>
      </p:nvGrpSpPr>
      <p:grpSpPr>
        <a:xfrm>
          <a:off x="0" y="0"/>
          <a:ext cx="0" cy="0"/>
          <a:chOff x="0" y="0"/>
          <a:chExt cx="0" cy="0"/>
        </a:xfrm>
      </p:grpSpPr>
      <p:sp>
        <p:nvSpPr>
          <p:cNvPr id="560" name="Google Shape;560;p51"/>
          <p:cNvSpPr/>
          <p:nvPr/>
        </p:nvSpPr>
        <p:spPr>
          <a:xfrm>
            <a:off x="685800" y="777309"/>
            <a:ext cx="10515600" cy="379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900"/>
              <a:buFont typeface="Malgun Gothic"/>
              <a:buNone/>
            </a:pPr>
            <a:r>
              <a:rPr b="1" i="0" lang="en-US" sz="2900" u="none" cap="none" strike="noStrike">
                <a:solidFill>
                  <a:srgbClr val="1F2A44"/>
                </a:solidFill>
                <a:latin typeface="Malgun Gothic"/>
                <a:ea typeface="Malgun Gothic"/>
                <a:cs typeface="Malgun Gothic"/>
                <a:sym typeface="Malgun Gothic"/>
              </a:rPr>
              <a:t>5. 실패 유형 종합</a:t>
            </a:r>
            <a:endParaRPr b="0" i="0" sz="2900" u="none" cap="none" strike="noStrike">
              <a:solidFill>
                <a:schemeClr val="dk1"/>
              </a:solidFill>
              <a:latin typeface="Malgun Gothic"/>
              <a:ea typeface="Malgun Gothic"/>
              <a:cs typeface="Malgun Gothic"/>
              <a:sym typeface="Malgun Gothic"/>
            </a:endParaRPr>
          </a:p>
        </p:txBody>
      </p:sp>
      <p:cxnSp>
        <p:nvCxnSpPr>
          <p:cNvPr id="561" name="Google Shape;561;p51"/>
          <p:cNvCxnSpPr/>
          <p:nvPr/>
        </p:nvCxnSpPr>
        <p:spPr>
          <a:xfrm>
            <a:off x="713232" y="5832459"/>
            <a:ext cx="1828800" cy="0"/>
          </a:xfrm>
          <a:prstGeom prst="straightConnector1">
            <a:avLst/>
          </a:prstGeom>
          <a:noFill/>
          <a:ln cap="flat" cmpd="sng" w="50800">
            <a:solidFill>
              <a:srgbClr val="E76F51"/>
            </a:solidFill>
            <a:prstDash val="solid"/>
            <a:round/>
            <a:headEnd len="sm" w="sm" type="none"/>
            <a:tailEnd len="sm" w="sm" type="none"/>
          </a:ln>
        </p:spPr>
      </p:cxnSp>
      <p:sp>
        <p:nvSpPr>
          <p:cNvPr id="562" name="Google Shape;562;p51"/>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51</a:t>
            </a:r>
            <a:endParaRPr b="0" i="0" sz="8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7" name="Shape 567"/>
        <p:cNvGrpSpPr/>
        <p:nvPr/>
      </p:nvGrpSpPr>
      <p:grpSpPr>
        <a:xfrm>
          <a:off x="0" y="0"/>
          <a:ext cx="0" cy="0"/>
          <a:chOff x="0" y="0"/>
          <a:chExt cx="0" cy="0"/>
        </a:xfrm>
      </p:grpSpPr>
      <p:sp>
        <p:nvSpPr>
          <p:cNvPr id="568" name="Google Shape;568;p52"/>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1</a:t>
            </a:r>
            <a:r>
              <a:rPr b="1" lang="en-US" sz="2200">
                <a:solidFill>
                  <a:srgbClr val="1F2A44"/>
                </a:solidFill>
                <a:latin typeface="Malgun Gothic"/>
                <a:ea typeface="Malgun Gothic"/>
                <a:cs typeface="Malgun Gothic"/>
                <a:sym typeface="Malgun Gothic"/>
              </a:rPr>
              <a:t>4</a:t>
            </a:r>
            <a:r>
              <a:rPr b="1" i="0" lang="en-US" sz="2200" u="none" cap="none" strike="noStrike">
                <a:solidFill>
                  <a:srgbClr val="1F2A44"/>
                </a:solidFill>
                <a:latin typeface="Malgun Gothic"/>
                <a:ea typeface="Malgun Gothic"/>
                <a:cs typeface="Malgun Gothic"/>
                <a:sym typeface="Malgun Gothic"/>
              </a:rPr>
              <a:t>개 사례에서 보이는 실패 유형</a:t>
            </a:r>
            <a:endParaRPr b="0" i="0" sz="2200" u="none" cap="none" strike="noStrike">
              <a:solidFill>
                <a:schemeClr val="dk1"/>
              </a:solidFill>
              <a:latin typeface="Malgun Gothic"/>
              <a:ea typeface="Malgun Gothic"/>
              <a:cs typeface="Malgun Gothic"/>
              <a:sym typeface="Malgun Gothic"/>
            </a:endParaRPr>
          </a:p>
        </p:txBody>
      </p:sp>
      <p:sp>
        <p:nvSpPr>
          <p:cNvPr id="569" name="Google Shape;569;p52"/>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사례를 유형별로 다시 묶은 결과</a:t>
            </a:r>
            <a:endParaRPr b="0" i="0" sz="950" u="none" cap="none" strike="noStrike">
              <a:solidFill>
                <a:schemeClr val="dk1"/>
              </a:solidFill>
              <a:latin typeface="Malgun Gothic"/>
              <a:ea typeface="Malgun Gothic"/>
              <a:cs typeface="Malgun Gothic"/>
              <a:sym typeface="Malgun Gothic"/>
            </a:endParaRPr>
          </a:p>
        </p:txBody>
      </p:sp>
      <p:cxnSp>
        <p:nvCxnSpPr>
          <p:cNvPr id="570" name="Google Shape;570;p52"/>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571" name="Google Shape;571;p52"/>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52</a:t>
            </a:r>
            <a:endParaRPr b="0" i="0" sz="800" u="none" cap="none" strike="noStrike">
              <a:solidFill>
                <a:schemeClr val="dk1"/>
              </a:solidFill>
              <a:latin typeface="Malgun Gothic"/>
              <a:ea typeface="Malgun Gothic"/>
              <a:cs typeface="Malgun Gothic"/>
              <a:sym typeface="Malgun Gothic"/>
            </a:endParaRPr>
          </a:p>
        </p:txBody>
      </p:sp>
      <p:graphicFrame>
        <p:nvGraphicFramePr>
          <p:cNvPr id="572" name="Google Shape;572;p52"/>
          <p:cNvGraphicFramePr/>
          <p:nvPr/>
        </p:nvGraphicFramePr>
        <p:xfrm>
          <a:off x="475488" y="1024128"/>
          <a:ext cx="3000000" cy="3000000"/>
        </p:xfrm>
        <a:graphic>
          <a:graphicData uri="http://schemas.openxmlformats.org/drawingml/2006/table">
            <a:tbl>
              <a:tblPr>
                <a:noFill/>
                <a:tableStyleId>{50896835-E566-46DC-AF42-435CE09E4439}</a:tableStyleId>
              </a:tblPr>
              <a:tblGrid>
                <a:gridCol w="2148850"/>
                <a:gridCol w="2377450"/>
                <a:gridCol w="6766550"/>
              </a:tblGrid>
              <a:tr h="469675">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실패 유형</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E76F51"/>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해당 사례</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E76F51"/>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설명</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E76F51"/>
                    </a:solidFill>
                  </a:tcPr>
                </a:tc>
              </a:tr>
              <a:tr h="4696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데이터 미수집</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AG-115, AG-2, HC-48</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정답에 필요한 실제 데이터를 찾지 않고 답함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696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가짜 데이터/샘플 데이터 사용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historical data 대신 simulated dataset 사용</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69675">
                <a:tc>
                  <a:txBody>
                    <a:bodyPr/>
                    <a:lstStyle/>
                    <a:p>
                      <a:pPr indent="0" lvl="0" marL="0" marR="0" rtl="0" algn="ctr">
                        <a:spcBef>
                          <a:spcPts val="0"/>
                        </a:spcBef>
                        <a:spcAft>
                          <a:spcPts val="0"/>
                        </a:spcAft>
                        <a:buClr>
                          <a:srgbClr val="111827"/>
                        </a:buClr>
                        <a:buSzPts val="939"/>
                        <a:buFont typeface="Malgun Gothic"/>
                        <a:buNone/>
                      </a:pPr>
                      <a:r>
                        <a:rPr lang="en-US" sz="940">
                          <a:solidFill>
                            <a:srgbClr val="111827"/>
                          </a:solidFill>
                          <a:latin typeface="Malgun Gothic"/>
                          <a:ea typeface="Malgun Gothic"/>
                          <a:cs typeface="Malgun Gothic"/>
                          <a:sym typeface="Malgun Gothic"/>
                        </a:rPr>
                        <a:t>내용 오류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AG-13</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웹사이트 내용을 실제 확인하지 않고 만들어냄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696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query 연결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AG-14</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방송, 식당, 책 제목 연결고리 중간에서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69675">
                <a:tc>
                  <a:txBody>
                    <a:bodyPr/>
                    <a:lstStyle/>
                    <a:p>
                      <a:pPr indent="0" lvl="0" marL="0" marR="0" rtl="0" algn="ctr">
                        <a:spcBef>
                          <a:spcPts val="0"/>
                        </a:spcBef>
                        <a:spcAft>
                          <a:spcPts val="0"/>
                        </a:spcAft>
                        <a:buClr>
                          <a:srgbClr val="111827"/>
                        </a:buClr>
                        <a:buSzPts val="939"/>
                        <a:buFont typeface="Malgun Gothic"/>
                        <a:buNone/>
                      </a:pPr>
                      <a:r>
                        <a:rPr lang="en-US" sz="940">
                          <a:solidFill>
                            <a:srgbClr val="111827"/>
                          </a:solidFill>
                          <a:latin typeface="Malgun Gothic"/>
                          <a:ea typeface="Malgun Gothic"/>
                          <a:cs typeface="Malgun Gothic"/>
                          <a:sym typeface="Malgun Gothic"/>
                        </a:rPr>
                        <a:t>도구 호출 과정 오류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AG-16</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placeholder video ID로 tool 호출</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696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검증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AG-105, AG-115</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앞 agent의 오류를 Verification agent가 잡지 못함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696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코드 오류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a:t>
                      </a:r>
                      <a:r>
                        <a:rPr lang="en-US" sz="940">
                          <a:solidFill>
                            <a:srgbClr val="111827"/>
                          </a:solidFill>
                          <a:latin typeface="Malgun Gothic"/>
                          <a:ea typeface="Malgun Gothic"/>
                          <a:cs typeface="Malgun Gothic"/>
                          <a:sym typeface="Malgun Gothic"/>
                        </a:rPr>
                        <a:t>19</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조건 검증을 위한 Python code 자체가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696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웹 탐색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HC-2, HC-29, HC-33</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WebSurfer가 필요한 정보를 못 찾거나 신뢰도 낮은 정보를 가져옴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696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파일/오디오 추출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HC-26, HC-51</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FileSurfer가 문서 위치나 audio transcription을 처리하지 못함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69675">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 지시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HC-39</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실행 agent보다 지시자가 잘못된 방향을 줌</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7" name="Shape 577"/>
        <p:cNvGrpSpPr/>
        <p:nvPr/>
      </p:nvGrpSpPr>
      <p:grpSpPr>
        <a:xfrm>
          <a:off x="0" y="0"/>
          <a:ext cx="0" cy="0"/>
          <a:chOff x="0" y="0"/>
          <a:chExt cx="0" cy="0"/>
        </a:xfrm>
      </p:grpSpPr>
      <p:sp>
        <p:nvSpPr>
          <p:cNvPr id="578" name="Google Shape;578;p54"/>
          <p:cNvSpPr/>
          <p:nvPr/>
        </p:nvSpPr>
        <p:spPr>
          <a:xfrm>
            <a:off x="685800" y="777309"/>
            <a:ext cx="10515600" cy="377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900"/>
              <a:buFont typeface="Malgun Gothic"/>
              <a:buNone/>
            </a:pPr>
            <a:r>
              <a:rPr b="1" i="0" lang="en-US" sz="2900" u="none" cap="none" strike="noStrike">
                <a:solidFill>
                  <a:srgbClr val="1F2A44"/>
                </a:solidFill>
                <a:latin typeface="Malgun Gothic"/>
                <a:ea typeface="Malgun Gothic"/>
                <a:cs typeface="Malgun Gothic"/>
                <a:sym typeface="Malgun Gothic"/>
              </a:rPr>
              <a:t>6. Agent 구현 기술 조사</a:t>
            </a:r>
            <a:endParaRPr b="0" i="0" sz="2900" u="none" cap="none" strike="noStrike">
              <a:solidFill>
                <a:schemeClr val="dk1"/>
              </a:solidFill>
              <a:latin typeface="Malgun Gothic"/>
              <a:ea typeface="Malgun Gothic"/>
              <a:cs typeface="Malgun Gothic"/>
              <a:sym typeface="Malgun Gothic"/>
            </a:endParaRPr>
          </a:p>
        </p:txBody>
      </p:sp>
      <p:cxnSp>
        <p:nvCxnSpPr>
          <p:cNvPr id="579" name="Google Shape;579;p54"/>
          <p:cNvCxnSpPr/>
          <p:nvPr/>
        </p:nvCxnSpPr>
        <p:spPr>
          <a:xfrm>
            <a:off x="713232" y="5811759"/>
            <a:ext cx="1828800" cy="0"/>
          </a:xfrm>
          <a:prstGeom prst="straightConnector1">
            <a:avLst/>
          </a:prstGeom>
          <a:noFill/>
          <a:ln cap="flat" cmpd="sng" w="50800">
            <a:solidFill>
              <a:srgbClr val="7FB069"/>
            </a:solidFill>
            <a:prstDash val="solid"/>
            <a:round/>
            <a:headEnd len="sm" w="sm" type="none"/>
            <a:tailEnd len="sm" w="sm" type="none"/>
          </a:ln>
        </p:spPr>
      </p:cxnSp>
      <p:sp>
        <p:nvSpPr>
          <p:cNvPr id="580" name="Google Shape;580;p54"/>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54</a:t>
            </a:r>
            <a:endParaRPr b="0" i="0" sz="8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5" name="Shape 585"/>
        <p:cNvGrpSpPr/>
        <p:nvPr/>
      </p:nvGrpSpPr>
      <p:grpSpPr>
        <a:xfrm>
          <a:off x="0" y="0"/>
          <a:ext cx="0" cy="0"/>
          <a:chOff x="0" y="0"/>
          <a:chExt cx="0" cy="0"/>
        </a:xfrm>
      </p:grpSpPr>
      <p:sp>
        <p:nvSpPr>
          <p:cNvPr id="586" name="Google Shape;586;p55"/>
          <p:cNvSpPr/>
          <p:nvPr/>
        </p:nvSpPr>
        <p:spPr>
          <a:xfrm>
            <a:off x="438900" y="228600"/>
            <a:ext cx="11292900" cy="63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agent system 구현에 필요한 구성요소</a:t>
            </a:r>
            <a:endParaRPr b="0" i="0" sz="2200" u="none" cap="none" strike="noStrike">
              <a:solidFill>
                <a:schemeClr val="dk1"/>
              </a:solidFill>
              <a:latin typeface="Malgun Gothic"/>
              <a:ea typeface="Malgun Gothic"/>
              <a:cs typeface="Malgun Gothic"/>
              <a:sym typeface="Malgun Gothic"/>
            </a:endParaRPr>
          </a:p>
        </p:txBody>
      </p:sp>
      <p:cxnSp>
        <p:nvCxnSpPr>
          <p:cNvPr id="587" name="Google Shape;587;p55"/>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588" name="Google Shape;588;p55"/>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55</a:t>
            </a:r>
            <a:endParaRPr b="0" i="0" sz="800" u="none" cap="none" strike="noStrike">
              <a:solidFill>
                <a:schemeClr val="dk1"/>
              </a:solidFill>
              <a:latin typeface="Malgun Gothic"/>
              <a:ea typeface="Malgun Gothic"/>
              <a:cs typeface="Malgun Gothic"/>
              <a:sym typeface="Malgun Gothic"/>
            </a:endParaRPr>
          </a:p>
        </p:txBody>
      </p:sp>
      <p:graphicFrame>
        <p:nvGraphicFramePr>
          <p:cNvPr id="589" name="Google Shape;589;p55"/>
          <p:cNvGraphicFramePr/>
          <p:nvPr/>
        </p:nvGraphicFramePr>
        <p:xfrm>
          <a:off x="457200" y="987552"/>
          <a:ext cx="3000000" cy="3000000"/>
        </p:xfrm>
        <a:graphic>
          <a:graphicData uri="http://schemas.openxmlformats.org/drawingml/2006/table">
            <a:tbl>
              <a:tblPr>
                <a:noFill/>
                <a:tableStyleId>{50896835-E566-46DC-AF42-435CE09E4439}</a:tableStyleId>
              </a:tblPr>
              <a:tblGrid>
                <a:gridCol w="1828800"/>
                <a:gridCol w="3657600"/>
                <a:gridCol w="5852150"/>
              </a:tblGrid>
              <a:tr h="59945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구성요소</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질문</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필요한 이유</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r>
              <a:tr h="5994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LLM backend</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어떤 모델을 쓸 것인가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각 agent가 판단과 생성을 수행하는 엔진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994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Agent definition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agent별 역할을 어떻게 정의할 것인가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system prompt, role description, tool permission이 들어감</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994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Orchestrator / Router</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query를 누가 쪼개고 누구에게 보낼 것인가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multi-agent system의 핵심 제어부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994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Tool registry</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검색, 파일 읽기, 코드 실행 도구를 어떻게 붙일 것인가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WebSurfer, FileSurfer, DataAnalysis agent가 실제 행동하려면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994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State / Memory</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이전 step과 조건을 어디에 저장할 것인가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긴 task에서 조건 유지와 오류 추적에 필요</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994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Execution graph</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agent들이 어떤 순서로 호출될 것인가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순차형, supervisor형, group chat형 등 구조 선택</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994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Logging</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trajectory를 어떻게 저장할 것인가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나중에 Who/When 분석과 평가를 하려면 필수</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9945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Evaluation</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예측 결과를 무엇과 비교할 것인가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mistake_agent, mistake_step, routing label, final answer 등과 비교</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4" name="Shape 594"/>
        <p:cNvGrpSpPr/>
        <p:nvPr/>
      </p:nvGrpSpPr>
      <p:grpSpPr>
        <a:xfrm>
          <a:off x="0" y="0"/>
          <a:ext cx="0" cy="0"/>
          <a:chOff x="0" y="0"/>
          <a:chExt cx="0" cy="0"/>
        </a:xfrm>
      </p:grpSpPr>
      <p:sp>
        <p:nvSpPr>
          <p:cNvPr id="595" name="Google Shape;595;p56"/>
          <p:cNvSpPr/>
          <p:nvPr/>
        </p:nvSpPr>
        <p:spPr>
          <a:xfrm>
            <a:off x="438912" y="228600"/>
            <a:ext cx="11292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최소 구현 방식</a:t>
            </a:r>
            <a:endParaRPr b="0" i="0" sz="2200" u="none" cap="none" strike="noStrike">
              <a:solidFill>
                <a:schemeClr val="dk1"/>
              </a:solidFill>
              <a:latin typeface="Malgun Gothic"/>
              <a:ea typeface="Malgun Gothic"/>
              <a:cs typeface="Malgun Gothic"/>
              <a:sym typeface="Malgun Gothic"/>
            </a:endParaRPr>
          </a:p>
        </p:txBody>
      </p:sp>
      <p:sp>
        <p:nvSpPr>
          <p:cNvPr id="596" name="Google Shape;596;p56"/>
          <p:cNvSpPr/>
          <p:nvPr/>
        </p:nvSpPr>
        <p:spPr>
          <a:xfrm>
            <a:off x="457200" y="658368"/>
            <a:ext cx="110643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LangChain/AutoGen 없이도 가능한 baseline 구조</a:t>
            </a:r>
            <a:endParaRPr b="0" i="0" sz="950" u="none" cap="none" strike="noStrike">
              <a:solidFill>
                <a:schemeClr val="dk1"/>
              </a:solidFill>
              <a:latin typeface="Malgun Gothic"/>
              <a:ea typeface="Malgun Gothic"/>
              <a:cs typeface="Malgun Gothic"/>
              <a:sym typeface="Malgun Gothic"/>
            </a:endParaRPr>
          </a:p>
        </p:txBody>
      </p:sp>
      <p:cxnSp>
        <p:nvCxnSpPr>
          <p:cNvPr id="597" name="Google Shape;597;p56"/>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598" name="Google Shape;598;p56"/>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56</a:t>
            </a:r>
            <a:endParaRPr b="0" i="0" sz="800" u="none" cap="none" strike="noStrike">
              <a:solidFill>
                <a:schemeClr val="dk1"/>
              </a:solidFill>
              <a:latin typeface="Malgun Gothic"/>
              <a:ea typeface="Malgun Gothic"/>
              <a:cs typeface="Malgun Gothic"/>
              <a:sym typeface="Malgun Gothic"/>
            </a:endParaRPr>
          </a:p>
        </p:txBody>
      </p:sp>
      <p:cxnSp>
        <p:nvCxnSpPr>
          <p:cNvPr id="599" name="Google Shape;599;p56"/>
          <p:cNvCxnSpPr/>
          <p:nvPr/>
        </p:nvCxnSpPr>
        <p:spPr>
          <a:xfrm>
            <a:off x="1977717" y="1389888"/>
            <a:ext cx="146304" cy="0"/>
          </a:xfrm>
          <a:prstGeom prst="straightConnector1">
            <a:avLst/>
          </a:prstGeom>
          <a:noFill/>
          <a:ln cap="flat" cmpd="sng" w="17775">
            <a:solidFill>
              <a:srgbClr val="98A2B3"/>
            </a:solidFill>
            <a:prstDash val="solid"/>
            <a:round/>
            <a:headEnd len="sm" w="sm" type="none"/>
            <a:tailEnd len="med" w="med" type="triangle"/>
          </a:ln>
        </p:spPr>
      </p:cxnSp>
      <p:cxnSp>
        <p:nvCxnSpPr>
          <p:cNvPr id="600" name="Google Shape;600;p56"/>
          <p:cNvCxnSpPr/>
          <p:nvPr/>
        </p:nvCxnSpPr>
        <p:spPr>
          <a:xfrm>
            <a:off x="3598817" y="1389888"/>
            <a:ext cx="146304" cy="0"/>
          </a:xfrm>
          <a:prstGeom prst="straightConnector1">
            <a:avLst/>
          </a:prstGeom>
          <a:noFill/>
          <a:ln cap="flat" cmpd="sng" w="17775">
            <a:solidFill>
              <a:srgbClr val="98A2B3"/>
            </a:solidFill>
            <a:prstDash val="solid"/>
            <a:round/>
            <a:headEnd len="sm" w="sm" type="none"/>
            <a:tailEnd len="med" w="med" type="triangle"/>
          </a:ln>
        </p:spPr>
      </p:cxnSp>
      <p:cxnSp>
        <p:nvCxnSpPr>
          <p:cNvPr id="601" name="Google Shape;601;p56"/>
          <p:cNvCxnSpPr/>
          <p:nvPr/>
        </p:nvCxnSpPr>
        <p:spPr>
          <a:xfrm>
            <a:off x="5219918" y="1389888"/>
            <a:ext cx="146304" cy="0"/>
          </a:xfrm>
          <a:prstGeom prst="straightConnector1">
            <a:avLst/>
          </a:prstGeom>
          <a:noFill/>
          <a:ln cap="flat" cmpd="sng" w="17775">
            <a:solidFill>
              <a:srgbClr val="98A2B3"/>
            </a:solidFill>
            <a:prstDash val="solid"/>
            <a:round/>
            <a:headEnd len="sm" w="sm" type="none"/>
            <a:tailEnd len="med" w="med" type="triangle"/>
          </a:ln>
        </p:spPr>
      </p:cxnSp>
      <p:cxnSp>
        <p:nvCxnSpPr>
          <p:cNvPr id="602" name="Google Shape;602;p56"/>
          <p:cNvCxnSpPr/>
          <p:nvPr/>
        </p:nvCxnSpPr>
        <p:spPr>
          <a:xfrm>
            <a:off x="6841018" y="1389888"/>
            <a:ext cx="146304" cy="0"/>
          </a:xfrm>
          <a:prstGeom prst="straightConnector1">
            <a:avLst/>
          </a:prstGeom>
          <a:noFill/>
          <a:ln cap="flat" cmpd="sng" w="17775">
            <a:solidFill>
              <a:srgbClr val="98A2B3"/>
            </a:solidFill>
            <a:prstDash val="solid"/>
            <a:round/>
            <a:headEnd len="sm" w="sm" type="none"/>
            <a:tailEnd len="med" w="med" type="triangle"/>
          </a:ln>
        </p:spPr>
      </p:cxnSp>
      <p:cxnSp>
        <p:nvCxnSpPr>
          <p:cNvPr id="603" name="Google Shape;603;p56"/>
          <p:cNvCxnSpPr/>
          <p:nvPr/>
        </p:nvCxnSpPr>
        <p:spPr>
          <a:xfrm>
            <a:off x="8462119" y="1389888"/>
            <a:ext cx="146304" cy="0"/>
          </a:xfrm>
          <a:prstGeom prst="straightConnector1">
            <a:avLst/>
          </a:prstGeom>
          <a:noFill/>
          <a:ln cap="flat" cmpd="sng" w="17775">
            <a:solidFill>
              <a:srgbClr val="98A2B3"/>
            </a:solidFill>
            <a:prstDash val="solid"/>
            <a:round/>
            <a:headEnd len="sm" w="sm" type="none"/>
            <a:tailEnd len="med" w="med" type="triangle"/>
          </a:ln>
        </p:spPr>
      </p:cxnSp>
      <p:cxnSp>
        <p:nvCxnSpPr>
          <p:cNvPr id="604" name="Google Shape;604;p56"/>
          <p:cNvCxnSpPr/>
          <p:nvPr/>
        </p:nvCxnSpPr>
        <p:spPr>
          <a:xfrm>
            <a:off x="10083219" y="1389888"/>
            <a:ext cx="146304" cy="0"/>
          </a:xfrm>
          <a:prstGeom prst="straightConnector1">
            <a:avLst/>
          </a:prstGeom>
          <a:noFill/>
          <a:ln cap="flat" cmpd="sng" w="17775">
            <a:solidFill>
              <a:srgbClr val="98A2B3"/>
            </a:solidFill>
            <a:prstDash val="solid"/>
            <a:round/>
            <a:headEnd len="sm" w="sm" type="none"/>
            <a:tailEnd len="med" w="med" type="triangle"/>
          </a:ln>
        </p:spPr>
      </p:cxnSp>
      <p:sp>
        <p:nvSpPr>
          <p:cNvPr id="605" name="Google Shape;605;p56"/>
          <p:cNvSpPr/>
          <p:nvPr/>
        </p:nvSpPr>
        <p:spPr>
          <a:xfrm>
            <a:off x="502920" y="1097280"/>
            <a:ext cx="1474797" cy="603504"/>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56"/>
          <p:cNvSpPr/>
          <p:nvPr/>
        </p:nvSpPr>
        <p:spPr>
          <a:xfrm>
            <a:off x="539496" y="1243584"/>
            <a:ext cx="1401645"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agent prompt dict</a:t>
            </a:r>
            <a:endParaRPr b="0" i="0" sz="920" u="none" cap="none" strike="noStrike">
              <a:solidFill>
                <a:schemeClr val="dk1"/>
              </a:solidFill>
              <a:latin typeface="Malgun Gothic"/>
              <a:ea typeface="Malgun Gothic"/>
              <a:cs typeface="Malgun Gothic"/>
              <a:sym typeface="Malgun Gothic"/>
            </a:endParaRPr>
          </a:p>
        </p:txBody>
      </p:sp>
      <p:sp>
        <p:nvSpPr>
          <p:cNvPr id="607" name="Google Shape;607;p56"/>
          <p:cNvSpPr/>
          <p:nvPr/>
        </p:nvSpPr>
        <p:spPr>
          <a:xfrm>
            <a:off x="2124021" y="1097280"/>
            <a:ext cx="1474797" cy="603504"/>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56"/>
          <p:cNvSpPr/>
          <p:nvPr/>
        </p:nvSpPr>
        <p:spPr>
          <a:xfrm>
            <a:off x="2160597" y="1243584"/>
            <a:ext cx="1401645"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orchestrator prompt</a:t>
            </a:r>
            <a:endParaRPr b="0" i="0" sz="920" u="none" cap="none" strike="noStrike">
              <a:solidFill>
                <a:schemeClr val="dk1"/>
              </a:solidFill>
              <a:latin typeface="Malgun Gothic"/>
              <a:ea typeface="Malgun Gothic"/>
              <a:cs typeface="Malgun Gothic"/>
              <a:sym typeface="Malgun Gothic"/>
            </a:endParaRPr>
          </a:p>
        </p:txBody>
      </p:sp>
      <p:sp>
        <p:nvSpPr>
          <p:cNvPr id="609" name="Google Shape;609;p56"/>
          <p:cNvSpPr/>
          <p:nvPr/>
        </p:nvSpPr>
        <p:spPr>
          <a:xfrm>
            <a:off x="3745121" y="1097280"/>
            <a:ext cx="1474797" cy="603504"/>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56"/>
          <p:cNvSpPr/>
          <p:nvPr/>
        </p:nvSpPr>
        <p:spPr>
          <a:xfrm>
            <a:off x="3781697" y="1243584"/>
            <a:ext cx="1401645"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routing</a:t>
            </a:r>
            <a:endParaRPr b="0" i="0" sz="920" u="none" cap="none" strike="noStrike">
              <a:solidFill>
                <a:schemeClr val="dk1"/>
              </a:solidFill>
              <a:latin typeface="Malgun Gothic"/>
              <a:ea typeface="Malgun Gothic"/>
              <a:cs typeface="Malgun Gothic"/>
              <a:sym typeface="Malgun Gothic"/>
            </a:endParaRPr>
          </a:p>
        </p:txBody>
      </p:sp>
      <p:sp>
        <p:nvSpPr>
          <p:cNvPr id="611" name="Google Shape;611;p56"/>
          <p:cNvSpPr/>
          <p:nvPr/>
        </p:nvSpPr>
        <p:spPr>
          <a:xfrm>
            <a:off x="5366222" y="1097280"/>
            <a:ext cx="1474797" cy="603504"/>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56"/>
          <p:cNvSpPr/>
          <p:nvPr/>
        </p:nvSpPr>
        <p:spPr>
          <a:xfrm>
            <a:off x="5402798" y="1243584"/>
            <a:ext cx="1401645"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tool call</a:t>
            </a:r>
            <a:endParaRPr b="0" i="0" sz="920" u="none" cap="none" strike="noStrike">
              <a:solidFill>
                <a:schemeClr val="dk1"/>
              </a:solidFill>
              <a:latin typeface="Malgun Gothic"/>
              <a:ea typeface="Malgun Gothic"/>
              <a:cs typeface="Malgun Gothic"/>
              <a:sym typeface="Malgun Gothic"/>
            </a:endParaRPr>
          </a:p>
        </p:txBody>
      </p:sp>
      <p:sp>
        <p:nvSpPr>
          <p:cNvPr id="613" name="Google Shape;613;p56"/>
          <p:cNvSpPr/>
          <p:nvPr/>
        </p:nvSpPr>
        <p:spPr>
          <a:xfrm>
            <a:off x="6987322" y="1097280"/>
            <a:ext cx="1474797" cy="603504"/>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56"/>
          <p:cNvSpPr/>
          <p:nvPr/>
        </p:nvSpPr>
        <p:spPr>
          <a:xfrm>
            <a:off x="7023898" y="1243584"/>
            <a:ext cx="1401645"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log 저장</a:t>
            </a:r>
            <a:endParaRPr b="0" i="0" sz="920" u="none" cap="none" strike="noStrike">
              <a:solidFill>
                <a:schemeClr val="dk1"/>
              </a:solidFill>
              <a:latin typeface="Malgun Gothic"/>
              <a:ea typeface="Malgun Gothic"/>
              <a:cs typeface="Malgun Gothic"/>
              <a:sym typeface="Malgun Gothic"/>
            </a:endParaRPr>
          </a:p>
        </p:txBody>
      </p:sp>
      <p:sp>
        <p:nvSpPr>
          <p:cNvPr id="615" name="Google Shape;615;p56"/>
          <p:cNvSpPr/>
          <p:nvPr/>
        </p:nvSpPr>
        <p:spPr>
          <a:xfrm>
            <a:off x="8608423" y="1097280"/>
            <a:ext cx="1474797" cy="603504"/>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56"/>
          <p:cNvSpPr/>
          <p:nvPr/>
        </p:nvSpPr>
        <p:spPr>
          <a:xfrm>
            <a:off x="8644999" y="1243584"/>
            <a:ext cx="1401645"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final answer</a:t>
            </a:r>
            <a:endParaRPr b="0" i="0" sz="920" u="none" cap="none" strike="noStrike">
              <a:solidFill>
                <a:schemeClr val="dk1"/>
              </a:solidFill>
              <a:latin typeface="Malgun Gothic"/>
              <a:ea typeface="Malgun Gothic"/>
              <a:cs typeface="Malgun Gothic"/>
              <a:sym typeface="Malgun Gothic"/>
            </a:endParaRPr>
          </a:p>
        </p:txBody>
      </p:sp>
      <p:sp>
        <p:nvSpPr>
          <p:cNvPr id="617" name="Google Shape;617;p56"/>
          <p:cNvSpPr/>
          <p:nvPr/>
        </p:nvSpPr>
        <p:spPr>
          <a:xfrm>
            <a:off x="10229523" y="1097280"/>
            <a:ext cx="1474797" cy="603504"/>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56"/>
          <p:cNvSpPr/>
          <p:nvPr/>
        </p:nvSpPr>
        <p:spPr>
          <a:xfrm>
            <a:off x="10266099" y="1243584"/>
            <a:ext cx="1401645"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evaluation</a:t>
            </a:r>
            <a:endParaRPr b="0" i="0" sz="920" u="none" cap="none" strike="noStrike">
              <a:solidFill>
                <a:schemeClr val="dk1"/>
              </a:solidFill>
              <a:latin typeface="Malgun Gothic"/>
              <a:ea typeface="Malgun Gothic"/>
              <a:cs typeface="Malgun Gothic"/>
              <a:sym typeface="Malgun Gothic"/>
            </a:endParaRPr>
          </a:p>
        </p:txBody>
      </p:sp>
      <p:graphicFrame>
        <p:nvGraphicFramePr>
          <p:cNvPr id="619" name="Google Shape;619;p56"/>
          <p:cNvGraphicFramePr/>
          <p:nvPr/>
        </p:nvGraphicFramePr>
        <p:xfrm>
          <a:off x="914400" y="2194560"/>
          <a:ext cx="3000000" cy="3000000"/>
        </p:xfrm>
        <a:graphic>
          <a:graphicData uri="http://schemas.openxmlformats.org/drawingml/2006/table">
            <a:tbl>
              <a:tblPr>
                <a:noFill/>
                <a:tableStyleId>{50896835-E566-46DC-AF42-435CE09E4439}</a:tableStyleId>
              </a:tblPr>
              <a:tblGrid>
                <a:gridCol w="731525"/>
                <a:gridCol w="9601200"/>
              </a:tblGrid>
              <a:tr h="434350">
                <a:tc>
                  <a:txBody>
                    <a:bodyPr/>
                    <a:lstStyle/>
                    <a:p>
                      <a:pPr indent="0" lvl="0" marL="0" marR="0" rtl="0" algn="ctr">
                        <a:spcBef>
                          <a:spcPts val="0"/>
                        </a:spcBef>
                        <a:spcAft>
                          <a:spcPts val="0"/>
                        </a:spcAft>
                        <a:buClr>
                          <a:srgbClr val="FFFFFF"/>
                        </a:buClr>
                        <a:buSzPts val="1140"/>
                        <a:buFont typeface="Malgun Gothic"/>
                        <a:buNone/>
                      </a:pPr>
                      <a:r>
                        <a:rPr b="1" lang="en-US" sz="1140" u="none" cap="none" strike="noStrike">
                          <a:solidFill>
                            <a:srgbClr val="FFFFFF"/>
                          </a:solidFill>
                          <a:latin typeface="Malgun Gothic"/>
                          <a:ea typeface="Malgun Gothic"/>
                          <a:cs typeface="Malgun Gothic"/>
                          <a:sym typeface="Malgun Gothic"/>
                        </a:rPr>
                        <a:t>단계</a:t>
                      </a:r>
                      <a:endParaRPr sz="11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c>
                  <a:txBody>
                    <a:bodyPr/>
                    <a:lstStyle/>
                    <a:p>
                      <a:pPr indent="0" lvl="0" marL="0" marR="0" rtl="0" algn="ctr">
                        <a:spcBef>
                          <a:spcPts val="0"/>
                        </a:spcBef>
                        <a:spcAft>
                          <a:spcPts val="0"/>
                        </a:spcAft>
                        <a:buClr>
                          <a:srgbClr val="FFFFFF"/>
                        </a:buClr>
                        <a:buSzPts val="1140"/>
                        <a:buFont typeface="Malgun Gothic"/>
                        <a:buNone/>
                      </a:pPr>
                      <a:r>
                        <a:rPr b="1" lang="en-US" sz="1140" u="none" cap="none" strike="noStrike">
                          <a:solidFill>
                            <a:srgbClr val="FFFFFF"/>
                          </a:solidFill>
                          <a:latin typeface="Malgun Gothic"/>
                          <a:ea typeface="Malgun Gothic"/>
                          <a:cs typeface="Malgun Gothic"/>
                          <a:sym typeface="Malgun Gothic"/>
                        </a:rPr>
                        <a:t>구현 내용</a:t>
                      </a:r>
                      <a:endParaRPr sz="11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r>
              <a:tr h="43435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1</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agent 이름과 system prompt를 dict로 정의한다.</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3435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2</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사용자 query를 Orchestrator prompt에 넣어 subtask 목록을 생성한다.</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3435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3</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각 subtask를 어떤 agent에게 보낼지 routing한다.</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3435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4</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agent가 필요하면 tool을 호출한다.</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3435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5</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모든 agent 응답을 로그로 저장한다.</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43435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6</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Orchestrator 또는 Assistant가 최종 답변을 만든다.</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43435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7</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로그에서 실패 시점과 실패 agent를 평가한다.</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4" name="Shape 624"/>
        <p:cNvGrpSpPr/>
        <p:nvPr/>
      </p:nvGrpSpPr>
      <p:grpSpPr>
        <a:xfrm>
          <a:off x="0" y="0"/>
          <a:ext cx="0" cy="0"/>
          <a:chOff x="0" y="0"/>
          <a:chExt cx="0" cy="0"/>
        </a:xfrm>
      </p:grpSpPr>
      <p:sp>
        <p:nvSpPr>
          <p:cNvPr id="625" name="Google Shape;625;p57"/>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AutoGen/AG2 방식</a:t>
            </a:r>
            <a:endParaRPr b="0" i="0" sz="2200" u="none" cap="none" strike="noStrike">
              <a:solidFill>
                <a:schemeClr val="dk1"/>
              </a:solidFill>
              <a:latin typeface="Malgun Gothic"/>
              <a:ea typeface="Malgun Gothic"/>
              <a:cs typeface="Malgun Gothic"/>
              <a:sym typeface="Malgun Gothic"/>
            </a:endParaRPr>
          </a:p>
        </p:txBody>
      </p:sp>
      <p:sp>
        <p:nvSpPr>
          <p:cNvPr id="626" name="Google Shape;626;p57"/>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multi-agent conversation 중심 구현</a:t>
            </a:r>
            <a:endParaRPr b="0" i="0" sz="950" u="none" cap="none" strike="noStrike">
              <a:solidFill>
                <a:schemeClr val="dk1"/>
              </a:solidFill>
              <a:latin typeface="Malgun Gothic"/>
              <a:ea typeface="Malgun Gothic"/>
              <a:cs typeface="Malgun Gothic"/>
              <a:sym typeface="Malgun Gothic"/>
            </a:endParaRPr>
          </a:p>
        </p:txBody>
      </p:sp>
      <p:cxnSp>
        <p:nvCxnSpPr>
          <p:cNvPr id="627" name="Google Shape;627;p57"/>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628" name="Google Shape;628;p57"/>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57</a:t>
            </a:r>
            <a:endParaRPr b="0" i="0" sz="800" u="none" cap="none" strike="noStrike">
              <a:solidFill>
                <a:schemeClr val="dk1"/>
              </a:solidFill>
              <a:latin typeface="Malgun Gothic"/>
              <a:ea typeface="Malgun Gothic"/>
              <a:cs typeface="Malgun Gothic"/>
              <a:sym typeface="Malgun Gothic"/>
            </a:endParaRPr>
          </a:p>
        </p:txBody>
      </p:sp>
      <p:graphicFrame>
        <p:nvGraphicFramePr>
          <p:cNvPr id="629" name="Google Shape;629;p57"/>
          <p:cNvGraphicFramePr/>
          <p:nvPr/>
        </p:nvGraphicFramePr>
        <p:xfrm>
          <a:off x="658368" y="1115568"/>
          <a:ext cx="3000000" cy="3000000"/>
        </p:xfrm>
        <a:graphic>
          <a:graphicData uri="http://schemas.openxmlformats.org/drawingml/2006/table">
            <a:tbl>
              <a:tblPr>
                <a:noFill/>
                <a:tableStyleId>{50896835-E566-46DC-AF42-435CE09E4439}</a:tableStyleId>
              </a:tblPr>
              <a:tblGrid>
                <a:gridCol w="2057400"/>
                <a:gridCol w="4069075"/>
                <a:gridCol w="4754875"/>
              </a:tblGrid>
              <a:tr h="548650">
                <a:tc>
                  <a:txBody>
                    <a:bodyPr/>
                    <a:lstStyle/>
                    <a:p>
                      <a:pPr indent="0" lvl="0" marL="0" marR="0" rtl="0" algn="ctr">
                        <a:spcBef>
                          <a:spcPts val="0"/>
                        </a:spcBef>
                        <a:spcAft>
                          <a:spcPts val="0"/>
                        </a:spcAft>
                        <a:buClr>
                          <a:srgbClr val="FFFFFF"/>
                        </a:buClr>
                        <a:buSzPts val="1040"/>
                        <a:buFont typeface="Malgun Gothic"/>
                        <a:buNone/>
                      </a:pPr>
                      <a:r>
                        <a:rPr b="1" lang="en-US" sz="1040" u="none" cap="none" strike="noStrike">
                          <a:solidFill>
                            <a:srgbClr val="FFFFFF"/>
                          </a:solidFill>
                          <a:latin typeface="Malgun Gothic"/>
                          <a:ea typeface="Malgun Gothic"/>
                          <a:cs typeface="Malgun Gothic"/>
                          <a:sym typeface="Malgun Gothic"/>
                        </a:rPr>
                        <a:t>요소</a:t>
                      </a:r>
                      <a:endParaRPr sz="10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c>
                  <a:txBody>
                    <a:bodyPr/>
                    <a:lstStyle/>
                    <a:p>
                      <a:pPr indent="0" lvl="0" marL="0" marR="0" rtl="0" algn="ctr">
                        <a:spcBef>
                          <a:spcPts val="0"/>
                        </a:spcBef>
                        <a:spcAft>
                          <a:spcPts val="0"/>
                        </a:spcAft>
                        <a:buClr>
                          <a:srgbClr val="FFFFFF"/>
                        </a:buClr>
                        <a:buSzPts val="1040"/>
                        <a:buFont typeface="Malgun Gothic"/>
                        <a:buNone/>
                      </a:pPr>
                      <a:r>
                        <a:rPr b="1" lang="en-US" sz="1040" u="none" cap="none" strike="noStrike">
                          <a:solidFill>
                            <a:srgbClr val="FFFFFF"/>
                          </a:solidFill>
                          <a:latin typeface="Malgun Gothic"/>
                          <a:ea typeface="Malgun Gothic"/>
                          <a:cs typeface="Malgun Gothic"/>
                          <a:sym typeface="Malgun Gothic"/>
                        </a:rPr>
                        <a:t>의미</a:t>
                      </a:r>
                      <a:endParaRPr sz="10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c>
                  <a:txBody>
                    <a:bodyPr/>
                    <a:lstStyle/>
                    <a:p>
                      <a:pPr indent="0" lvl="0" marL="0" marR="0" rtl="0" algn="ctr">
                        <a:spcBef>
                          <a:spcPts val="0"/>
                        </a:spcBef>
                        <a:spcAft>
                          <a:spcPts val="0"/>
                        </a:spcAft>
                        <a:buClr>
                          <a:srgbClr val="FFFFFF"/>
                        </a:buClr>
                        <a:buSzPts val="1040"/>
                        <a:buFont typeface="Malgun Gothic"/>
                        <a:buNone/>
                      </a:pPr>
                      <a:r>
                        <a:rPr b="1" lang="en-US" sz="1040" u="none" cap="none" strike="noStrike">
                          <a:solidFill>
                            <a:srgbClr val="FFFFFF"/>
                          </a:solidFill>
                          <a:latin typeface="Malgun Gothic"/>
                          <a:ea typeface="Malgun Gothic"/>
                          <a:cs typeface="Malgun Gothic"/>
                          <a:sym typeface="Malgun Gothic"/>
                        </a:rPr>
                        <a:t>Who&amp;When과의 연결</a:t>
                      </a:r>
                      <a:endParaRPr sz="10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r>
              <a:tr h="548650">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ConversableAgent</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agent가 서로 메시지를 주고받음</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history log가 agent 간 대화로 남음</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48650">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system_message</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agent 역할 정의</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Algorithm Generated의 system_prompt와 유사</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48650">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tool/function map</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agent가 사용할 수 있는 함수 정의</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WebSurfer, FileSurfer, 계산 agent 구현 가능</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48650">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CaptainAgent</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task를 쪼개고 expert group을 구성</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Algorithm Generated의 자동 expert 구성과 연결</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48650">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nested chat</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expert agent들이 내부 대화로 문제 해결</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Who&amp;When의 multi-agent trajectory와 유사</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630" name="Google Shape;630;p57"/>
          <p:cNvSpPr/>
          <p:nvPr/>
        </p:nvSpPr>
        <p:spPr>
          <a:xfrm>
            <a:off x="658368" y="4800600"/>
            <a:ext cx="10881360" cy="822960"/>
          </a:xfrm>
          <a:prstGeom prst="roundRect">
            <a:avLst>
              <a:gd fmla="val 5556"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57"/>
          <p:cNvSpPr/>
          <p:nvPr/>
        </p:nvSpPr>
        <p:spPr>
          <a:xfrm>
            <a:off x="795528" y="4892040"/>
            <a:ext cx="10607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B069"/>
              </a:buClr>
              <a:buSzPts val="1100"/>
              <a:buFont typeface="Malgun Gothic"/>
              <a:buNone/>
            </a:pPr>
            <a:r>
              <a:rPr b="1" i="0" lang="en-US" sz="1100" u="none" cap="none" strike="noStrike">
                <a:solidFill>
                  <a:srgbClr val="7FB069"/>
                </a:solidFill>
                <a:latin typeface="Malgun Gothic"/>
                <a:ea typeface="Malgun Gothic"/>
                <a:cs typeface="Malgun Gothic"/>
                <a:sym typeface="Malgun Gothic"/>
              </a:rPr>
              <a:t>해석</a:t>
            </a:r>
            <a:endParaRPr b="0" i="0" sz="1100" u="none" cap="none" strike="noStrike">
              <a:solidFill>
                <a:schemeClr val="dk1"/>
              </a:solidFill>
              <a:latin typeface="Malgun Gothic"/>
              <a:ea typeface="Malgun Gothic"/>
              <a:cs typeface="Malgun Gothic"/>
              <a:sym typeface="Malgun Gothic"/>
            </a:endParaRPr>
          </a:p>
        </p:txBody>
      </p:sp>
      <p:sp>
        <p:nvSpPr>
          <p:cNvPr id="632" name="Google Shape;632;p57"/>
          <p:cNvSpPr/>
          <p:nvPr/>
        </p:nvSpPr>
        <p:spPr>
          <a:xfrm>
            <a:off x="795528" y="5184648"/>
            <a:ext cx="10607040"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AutoGen/AG2는 Algorithm Generated 구조를 이해하는 데 특히 적합하다. task를 보고 expert를 구성하고, 각 expert가 역할을 맡아 대화하기 때문이다.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7" name="Shape 637"/>
        <p:cNvGrpSpPr/>
        <p:nvPr/>
      </p:nvGrpSpPr>
      <p:grpSpPr>
        <a:xfrm>
          <a:off x="0" y="0"/>
          <a:ext cx="0" cy="0"/>
          <a:chOff x="0" y="0"/>
          <a:chExt cx="0" cy="0"/>
        </a:xfrm>
      </p:grpSpPr>
      <p:sp>
        <p:nvSpPr>
          <p:cNvPr id="638" name="Google Shape;638;p58"/>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LangGraph 방식</a:t>
            </a:r>
            <a:endParaRPr b="0" i="0" sz="2200" u="none" cap="none" strike="noStrike">
              <a:solidFill>
                <a:schemeClr val="dk1"/>
              </a:solidFill>
              <a:latin typeface="Malgun Gothic"/>
              <a:ea typeface="Malgun Gothic"/>
              <a:cs typeface="Malgun Gothic"/>
              <a:sym typeface="Malgun Gothic"/>
            </a:endParaRPr>
          </a:p>
        </p:txBody>
      </p:sp>
      <p:sp>
        <p:nvSpPr>
          <p:cNvPr id="639" name="Google Shape;639;p58"/>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agent workflow를 graph/state machine처럼 설계</a:t>
            </a:r>
            <a:endParaRPr b="0" i="0" sz="950" u="none" cap="none" strike="noStrike">
              <a:solidFill>
                <a:schemeClr val="dk1"/>
              </a:solidFill>
              <a:latin typeface="Malgun Gothic"/>
              <a:ea typeface="Malgun Gothic"/>
              <a:cs typeface="Malgun Gothic"/>
              <a:sym typeface="Malgun Gothic"/>
            </a:endParaRPr>
          </a:p>
        </p:txBody>
      </p:sp>
      <p:cxnSp>
        <p:nvCxnSpPr>
          <p:cNvPr id="640" name="Google Shape;640;p58"/>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641" name="Google Shape;641;p58"/>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58</a:t>
            </a:r>
            <a:endParaRPr b="0" i="0" sz="800" u="none" cap="none" strike="noStrike">
              <a:solidFill>
                <a:schemeClr val="dk1"/>
              </a:solidFill>
              <a:latin typeface="Malgun Gothic"/>
              <a:ea typeface="Malgun Gothic"/>
              <a:cs typeface="Malgun Gothic"/>
              <a:sym typeface="Malgun Gothic"/>
            </a:endParaRPr>
          </a:p>
        </p:txBody>
      </p:sp>
      <p:graphicFrame>
        <p:nvGraphicFramePr>
          <p:cNvPr id="642" name="Google Shape;642;p58"/>
          <p:cNvGraphicFramePr/>
          <p:nvPr/>
        </p:nvGraphicFramePr>
        <p:xfrm>
          <a:off x="658368" y="1115568"/>
          <a:ext cx="3000000" cy="3000000"/>
        </p:xfrm>
        <a:graphic>
          <a:graphicData uri="http://schemas.openxmlformats.org/drawingml/2006/table">
            <a:tbl>
              <a:tblPr>
                <a:noFill/>
                <a:tableStyleId>{50896835-E566-46DC-AF42-435CE09E4439}</a:tableStyleId>
              </a:tblPr>
              <a:tblGrid>
                <a:gridCol w="2057400"/>
                <a:gridCol w="4069075"/>
                <a:gridCol w="4754875"/>
              </a:tblGrid>
              <a:tr h="548650">
                <a:tc>
                  <a:txBody>
                    <a:bodyPr/>
                    <a:lstStyle/>
                    <a:p>
                      <a:pPr indent="0" lvl="0" marL="0" marR="0" rtl="0" algn="ctr">
                        <a:spcBef>
                          <a:spcPts val="0"/>
                        </a:spcBef>
                        <a:spcAft>
                          <a:spcPts val="0"/>
                        </a:spcAft>
                        <a:buClr>
                          <a:srgbClr val="FFFFFF"/>
                        </a:buClr>
                        <a:buSzPts val="1040"/>
                        <a:buFont typeface="Malgun Gothic"/>
                        <a:buNone/>
                      </a:pPr>
                      <a:r>
                        <a:rPr b="1" lang="en-US" sz="1040" u="none" cap="none" strike="noStrike">
                          <a:solidFill>
                            <a:srgbClr val="FFFFFF"/>
                          </a:solidFill>
                          <a:latin typeface="Malgun Gothic"/>
                          <a:ea typeface="Malgun Gothic"/>
                          <a:cs typeface="Malgun Gothic"/>
                          <a:sym typeface="Malgun Gothic"/>
                        </a:rPr>
                        <a:t>요소</a:t>
                      </a:r>
                      <a:endParaRPr sz="10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c>
                  <a:txBody>
                    <a:bodyPr/>
                    <a:lstStyle/>
                    <a:p>
                      <a:pPr indent="0" lvl="0" marL="0" marR="0" rtl="0" algn="ctr">
                        <a:spcBef>
                          <a:spcPts val="0"/>
                        </a:spcBef>
                        <a:spcAft>
                          <a:spcPts val="0"/>
                        </a:spcAft>
                        <a:buClr>
                          <a:srgbClr val="FFFFFF"/>
                        </a:buClr>
                        <a:buSzPts val="1040"/>
                        <a:buFont typeface="Malgun Gothic"/>
                        <a:buNone/>
                      </a:pPr>
                      <a:r>
                        <a:rPr b="1" lang="en-US" sz="1040" u="none" cap="none" strike="noStrike">
                          <a:solidFill>
                            <a:srgbClr val="FFFFFF"/>
                          </a:solidFill>
                          <a:latin typeface="Malgun Gothic"/>
                          <a:ea typeface="Malgun Gothic"/>
                          <a:cs typeface="Malgun Gothic"/>
                          <a:sym typeface="Malgun Gothic"/>
                        </a:rPr>
                        <a:t>의미</a:t>
                      </a:r>
                      <a:endParaRPr sz="10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c>
                  <a:txBody>
                    <a:bodyPr/>
                    <a:lstStyle/>
                    <a:p>
                      <a:pPr indent="0" lvl="0" marL="0" marR="0" rtl="0" algn="ctr">
                        <a:spcBef>
                          <a:spcPts val="0"/>
                        </a:spcBef>
                        <a:spcAft>
                          <a:spcPts val="0"/>
                        </a:spcAft>
                        <a:buClr>
                          <a:srgbClr val="FFFFFF"/>
                        </a:buClr>
                        <a:buSzPts val="1040"/>
                        <a:buFont typeface="Malgun Gothic"/>
                        <a:buNone/>
                      </a:pPr>
                      <a:r>
                        <a:rPr b="1" lang="en-US" sz="1040" u="none" cap="none" strike="noStrike">
                          <a:solidFill>
                            <a:srgbClr val="FFFFFF"/>
                          </a:solidFill>
                          <a:latin typeface="Malgun Gothic"/>
                          <a:ea typeface="Malgun Gothic"/>
                          <a:cs typeface="Malgun Gothic"/>
                          <a:sym typeface="Malgun Gothic"/>
                        </a:rPr>
                        <a:t>Who&amp;When과의 연결</a:t>
                      </a:r>
                      <a:endParaRPr sz="10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r>
              <a:tr h="548650">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Node</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개별 agent 또는 tool 실행 단위</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WebSurfer, FileSurfer, Verification agent에 대응</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48650">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Edge</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다음 agent로 넘어가는 연결</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query-task-agent 전달 경로에 대응</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48650">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State</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모든 node가 공유하거나 일부 공유하는 작업 상태</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조건 유지, 중간 결과 저장에 중요</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48650">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Supervisor/router</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다음 agent를 선택하는 제어부</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Orchestrator 역할과 대응</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48650">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Subgraph</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복잡한 agent 묶음을 하나의 노드처럼 관리</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00"/>
                        <a:buFont typeface="Malgun Gothic"/>
                        <a:buNone/>
                      </a:pPr>
                      <a:r>
                        <a:rPr lang="en-US" sz="1000" u="none" cap="none" strike="noStrike">
                          <a:solidFill>
                            <a:srgbClr val="111827"/>
                          </a:solidFill>
                          <a:latin typeface="Malgun Gothic"/>
                          <a:ea typeface="Malgun Gothic"/>
                          <a:cs typeface="Malgun Gothic"/>
                          <a:sym typeface="Malgun Gothic"/>
                        </a:rPr>
                        <a:t>긴 Hand Crafted 로그를 구조화하는 데 유용</a:t>
                      </a:r>
                      <a:endParaRPr sz="10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643" name="Google Shape;643;p58"/>
          <p:cNvSpPr/>
          <p:nvPr/>
        </p:nvSpPr>
        <p:spPr>
          <a:xfrm>
            <a:off x="658368" y="4800600"/>
            <a:ext cx="10881360" cy="822960"/>
          </a:xfrm>
          <a:prstGeom prst="roundRect">
            <a:avLst>
              <a:gd fmla="val 5556"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58"/>
          <p:cNvSpPr/>
          <p:nvPr/>
        </p:nvSpPr>
        <p:spPr>
          <a:xfrm>
            <a:off x="795528" y="4892040"/>
            <a:ext cx="10607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B069"/>
              </a:buClr>
              <a:buSzPts val="1100"/>
              <a:buFont typeface="Malgun Gothic"/>
              <a:buNone/>
            </a:pPr>
            <a:r>
              <a:rPr b="1" i="0" lang="en-US" sz="1100" u="none" cap="none" strike="noStrike">
                <a:solidFill>
                  <a:srgbClr val="7FB069"/>
                </a:solidFill>
                <a:latin typeface="Malgun Gothic"/>
                <a:ea typeface="Malgun Gothic"/>
                <a:cs typeface="Malgun Gothic"/>
                <a:sym typeface="Malgun Gothic"/>
              </a:rPr>
              <a:t>해석</a:t>
            </a:r>
            <a:endParaRPr b="0" i="0" sz="1100" u="none" cap="none" strike="noStrike">
              <a:solidFill>
                <a:schemeClr val="dk1"/>
              </a:solidFill>
              <a:latin typeface="Malgun Gothic"/>
              <a:ea typeface="Malgun Gothic"/>
              <a:cs typeface="Malgun Gothic"/>
              <a:sym typeface="Malgun Gothic"/>
            </a:endParaRPr>
          </a:p>
        </p:txBody>
      </p:sp>
      <p:sp>
        <p:nvSpPr>
          <p:cNvPr id="645" name="Google Shape;645;p58"/>
          <p:cNvSpPr/>
          <p:nvPr/>
        </p:nvSpPr>
        <p:spPr>
          <a:xfrm>
            <a:off x="795528" y="5184648"/>
            <a:ext cx="10607040"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LangGraph는 query understanding node, search node, verification node, final answer node처럼 처리 과정을 시각화하고, 어떤 node에서 실패했는지 평가하기 좋다.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0" name="Shape 650"/>
        <p:cNvGrpSpPr/>
        <p:nvPr/>
      </p:nvGrpSpPr>
      <p:grpSpPr>
        <a:xfrm>
          <a:off x="0" y="0"/>
          <a:ext cx="0" cy="0"/>
          <a:chOff x="0" y="0"/>
          <a:chExt cx="0" cy="0"/>
        </a:xfrm>
      </p:grpSpPr>
      <p:sp>
        <p:nvSpPr>
          <p:cNvPr id="651" name="Google Shape;651;p60"/>
          <p:cNvSpPr/>
          <p:nvPr/>
        </p:nvSpPr>
        <p:spPr>
          <a:xfrm>
            <a:off x="438900" y="228600"/>
            <a:ext cx="11292900" cy="59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구현 구조 그림</a:t>
            </a:r>
            <a:endParaRPr b="0" i="0" sz="2200" u="none" cap="none" strike="noStrike">
              <a:solidFill>
                <a:schemeClr val="dk1"/>
              </a:solidFill>
              <a:latin typeface="Malgun Gothic"/>
              <a:ea typeface="Malgun Gothic"/>
              <a:cs typeface="Malgun Gothic"/>
              <a:sym typeface="Malgun Gothic"/>
            </a:endParaRPr>
          </a:p>
        </p:txBody>
      </p:sp>
      <p:cxnSp>
        <p:nvCxnSpPr>
          <p:cNvPr id="652" name="Google Shape;652;p60"/>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653" name="Google Shape;653;p60"/>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60</a:t>
            </a:r>
            <a:endParaRPr b="0" i="0" sz="800" u="none" cap="none" strike="noStrike">
              <a:solidFill>
                <a:schemeClr val="dk1"/>
              </a:solidFill>
              <a:latin typeface="Malgun Gothic"/>
              <a:ea typeface="Malgun Gothic"/>
              <a:cs typeface="Malgun Gothic"/>
              <a:sym typeface="Malgun Gothic"/>
            </a:endParaRPr>
          </a:p>
        </p:txBody>
      </p:sp>
      <p:cxnSp>
        <p:nvCxnSpPr>
          <p:cNvPr id="654" name="Google Shape;654;p60"/>
          <p:cNvCxnSpPr/>
          <p:nvPr/>
        </p:nvCxnSpPr>
        <p:spPr>
          <a:xfrm>
            <a:off x="1912396" y="1669113"/>
            <a:ext cx="146400" cy="0"/>
          </a:xfrm>
          <a:prstGeom prst="straightConnector1">
            <a:avLst/>
          </a:prstGeom>
          <a:noFill/>
          <a:ln cap="flat" cmpd="sng" w="17775">
            <a:solidFill>
              <a:srgbClr val="98A2B3"/>
            </a:solidFill>
            <a:prstDash val="solid"/>
            <a:round/>
            <a:headEnd len="sm" w="sm" type="none"/>
            <a:tailEnd len="med" w="med" type="triangle"/>
          </a:ln>
        </p:spPr>
      </p:cxnSp>
      <p:cxnSp>
        <p:nvCxnSpPr>
          <p:cNvPr id="655" name="Google Shape;655;p60"/>
          <p:cNvCxnSpPr/>
          <p:nvPr/>
        </p:nvCxnSpPr>
        <p:spPr>
          <a:xfrm>
            <a:off x="3559623" y="1669113"/>
            <a:ext cx="146400" cy="0"/>
          </a:xfrm>
          <a:prstGeom prst="straightConnector1">
            <a:avLst/>
          </a:prstGeom>
          <a:noFill/>
          <a:ln cap="flat" cmpd="sng" w="17775">
            <a:solidFill>
              <a:srgbClr val="98A2B3"/>
            </a:solidFill>
            <a:prstDash val="solid"/>
            <a:round/>
            <a:headEnd len="sm" w="sm" type="none"/>
            <a:tailEnd len="med" w="med" type="triangle"/>
          </a:ln>
        </p:spPr>
      </p:cxnSp>
      <p:cxnSp>
        <p:nvCxnSpPr>
          <p:cNvPr id="656" name="Google Shape;656;p60"/>
          <p:cNvCxnSpPr/>
          <p:nvPr/>
        </p:nvCxnSpPr>
        <p:spPr>
          <a:xfrm>
            <a:off x="5206848" y="1669113"/>
            <a:ext cx="146400" cy="0"/>
          </a:xfrm>
          <a:prstGeom prst="straightConnector1">
            <a:avLst/>
          </a:prstGeom>
          <a:noFill/>
          <a:ln cap="flat" cmpd="sng" w="17775">
            <a:solidFill>
              <a:srgbClr val="98A2B3"/>
            </a:solidFill>
            <a:prstDash val="solid"/>
            <a:round/>
            <a:headEnd len="sm" w="sm" type="none"/>
            <a:tailEnd len="med" w="med" type="triangle"/>
          </a:ln>
        </p:spPr>
      </p:cxnSp>
      <p:cxnSp>
        <p:nvCxnSpPr>
          <p:cNvPr id="657" name="Google Shape;657;p60"/>
          <p:cNvCxnSpPr/>
          <p:nvPr/>
        </p:nvCxnSpPr>
        <p:spPr>
          <a:xfrm>
            <a:off x="6854073" y="1669113"/>
            <a:ext cx="146400" cy="0"/>
          </a:xfrm>
          <a:prstGeom prst="straightConnector1">
            <a:avLst/>
          </a:prstGeom>
          <a:noFill/>
          <a:ln cap="flat" cmpd="sng" w="17775">
            <a:solidFill>
              <a:srgbClr val="98A2B3"/>
            </a:solidFill>
            <a:prstDash val="solid"/>
            <a:round/>
            <a:headEnd len="sm" w="sm" type="none"/>
            <a:tailEnd len="med" w="med" type="triangle"/>
          </a:ln>
        </p:spPr>
      </p:cxnSp>
      <p:cxnSp>
        <p:nvCxnSpPr>
          <p:cNvPr id="658" name="Google Shape;658;p60"/>
          <p:cNvCxnSpPr/>
          <p:nvPr/>
        </p:nvCxnSpPr>
        <p:spPr>
          <a:xfrm>
            <a:off x="8501298" y="1669113"/>
            <a:ext cx="146400" cy="0"/>
          </a:xfrm>
          <a:prstGeom prst="straightConnector1">
            <a:avLst/>
          </a:prstGeom>
          <a:noFill/>
          <a:ln cap="flat" cmpd="sng" w="17775">
            <a:solidFill>
              <a:srgbClr val="98A2B3"/>
            </a:solidFill>
            <a:prstDash val="solid"/>
            <a:round/>
            <a:headEnd len="sm" w="sm" type="none"/>
            <a:tailEnd len="med" w="med" type="triangle"/>
          </a:ln>
        </p:spPr>
      </p:cxnSp>
      <p:cxnSp>
        <p:nvCxnSpPr>
          <p:cNvPr id="659" name="Google Shape;659;p60"/>
          <p:cNvCxnSpPr/>
          <p:nvPr/>
        </p:nvCxnSpPr>
        <p:spPr>
          <a:xfrm>
            <a:off x="10148525" y="1669113"/>
            <a:ext cx="146400" cy="0"/>
          </a:xfrm>
          <a:prstGeom prst="straightConnector1">
            <a:avLst/>
          </a:prstGeom>
          <a:noFill/>
          <a:ln cap="flat" cmpd="sng" w="17775">
            <a:solidFill>
              <a:srgbClr val="98A2B3"/>
            </a:solidFill>
            <a:prstDash val="solid"/>
            <a:round/>
            <a:headEnd len="sm" w="sm" type="none"/>
            <a:tailEnd len="med" w="med" type="triangle"/>
          </a:ln>
        </p:spPr>
      </p:cxnSp>
      <p:sp>
        <p:nvSpPr>
          <p:cNvPr id="660" name="Google Shape;660;p60"/>
          <p:cNvSpPr/>
          <p:nvPr/>
        </p:nvSpPr>
        <p:spPr>
          <a:xfrm>
            <a:off x="411475" y="1280147"/>
            <a:ext cx="1500900" cy="802200"/>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0"/>
          <p:cNvSpPr/>
          <p:nvPr/>
        </p:nvSpPr>
        <p:spPr>
          <a:xfrm>
            <a:off x="448051" y="1474630"/>
            <a:ext cx="1427700" cy="38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사용자 query</a:t>
            </a:r>
            <a:endParaRPr b="0" i="0" sz="920" u="none" cap="none" strike="noStrike">
              <a:solidFill>
                <a:schemeClr val="dk1"/>
              </a:solidFill>
              <a:latin typeface="Malgun Gothic"/>
              <a:ea typeface="Malgun Gothic"/>
              <a:cs typeface="Malgun Gothic"/>
              <a:sym typeface="Malgun Gothic"/>
            </a:endParaRPr>
          </a:p>
        </p:txBody>
      </p:sp>
      <p:sp>
        <p:nvSpPr>
          <p:cNvPr id="662" name="Google Shape;662;p60"/>
          <p:cNvSpPr/>
          <p:nvPr/>
        </p:nvSpPr>
        <p:spPr>
          <a:xfrm>
            <a:off x="2058700" y="1280147"/>
            <a:ext cx="1500900" cy="802200"/>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60"/>
          <p:cNvSpPr/>
          <p:nvPr/>
        </p:nvSpPr>
        <p:spPr>
          <a:xfrm>
            <a:off x="2095276" y="1474630"/>
            <a:ext cx="1427700" cy="38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Query Analyzer / Orchestrator</a:t>
            </a:r>
            <a:endParaRPr b="0" i="0" sz="920" u="none" cap="none" strike="noStrike">
              <a:solidFill>
                <a:schemeClr val="dk1"/>
              </a:solidFill>
              <a:latin typeface="Malgun Gothic"/>
              <a:ea typeface="Malgun Gothic"/>
              <a:cs typeface="Malgun Gothic"/>
              <a:sym typeface="Malgun Gothic"/>
            </a:endParaRPr>
          </a:p>
        </p:txBody>
      </p:sp>
      <p:sp>
        <p:nvSpPr>
          <p:cNvPr id="664" name="Google Shape;664;p60"/>
          <p:cNvSpPr/>
          <p:nvPr/>
        </p:nvSpPr>
        <p:spPr>
          <a:xfrm>
            <a:off x="3705927" y="1280147"/>
            <a:ext cx="1500900" cy="802200"/>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60"/>
          <p:cNvSpPr/>
          <p:nvPr/>
        </p:nvSpPr>
        <p:spPr>
          <a:xfrm>
            <a:off x="3742503" y="1474630"/>
            <a:ext cx="1427700" cy="38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subtask 목록</a:t>
            </a:r>
            <a:endParaRPr b="0" i="0" sz="920" u="none" cap="none" strike="noStrike">
              <a:solidFill>
                <a:schemeClr val="dk1"/>
              </a:solidFill>
              <a:latin typeface="Malgun Gothic"/>
              <a:ea typeface="Malgun Gothic"/>
              <a:cs typeface="Malgun Gothic"/>
              <a:sym typeface="Malgun Gothic"/>
            </a:endParaRPr>
          </a:p>
        </p:txBody>
      </p:sp>
      <p:sp>
        <p:nvSpPr>
          <p:cNvPr id="666" name="Google Shape;666;p60"/>
          <p:cNvSpPr/>
          <p:nvPr/>
        </p:nvSpPr>
        <p:spPr>
          <a:xfrm>
            <a:off x="5353152" y="1280147"/>
            <a:ext cx="1500900" cy="802200"/>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60"/>
          <p:cNvSpPr/>
          <p:nvPr/>
        </p:nvSpPr>
        <p:spPr>
          <a:xfrm>
            <a:off x="5389728" y="1474630"/>
            <a:ext cx="1427700" cy="38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agent routing</a:t>
            </a:r>
            <a:endParaRPr b="0" i="0" sz="920" u="none" cap="none" strike="noStrike">
              <a:solidFill>
                <a:schemeClr val="dk1"/>
              </a:solidFill>
              <a:latin typeface="Malgun Gothic"/>
              <a:ea typeface="Malgun Gothic"/>
              <a:cs typeface="Malgun Gothic"/>
              <a:sym typeface="Malgun Gothic"/>
            </a:endParaRPr>
          </a:p>
        </p:txBody>
      </p:sp>
      <p:sp>
        <p:nvSpPr>
          <p:cNvPr id="668" name="Google Shape;668;p60"/>
          <p:cNvSpPr/>
          <p:nvPr/>
        </p:nvSpPr>
        <p:spPr>
          <a:xfrm>
            <a:off x="7000377" y="1280147"/>
            <a:ext cx="1500900" cy="802200"/>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60"/>
          <p:cNvSpPr/>
          <p:nvPr/>
        </p:nvSpPr>
        <p:spPr>
          <a:xfrm>
            <a:off x="7036953" y="1474630"/>
            <a:ext cx="1427700" cy="38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agent 실행</a:t>
            </a:r>
            <a:endParaRPr b="0" i="0" sz="920" u="none" cap="none" strike="noStrike">
              <a:solidFill>
                <a:schemeClr val="dk1"/>
              </a:solidFill>
              <a:latin typeface="Malgun Gothic"/>
              <a:ea typeface="Malgun Gothic"/>
              <a:cs typeface="Malgun Gothic"/>
              <a:sym typeface="Malgun Gothic"/>
            </a:endParaRPr>
          </a:p>
        </p:txBody>
      </p:sp>
      <p:sp>
        <p:nvSpPr>
          <p:cNvPr id="670" name="Google Shape;670;p60"/>
          <p:cNvSpPr/>
          <p:nvPr/>
        </p:nvSpPr>
        <p:spPr>
          <a:xfrm>
            <a:off x="8647602" y="1280147"/>
            <a:ext cx="1500900" cy="802200"/>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60"/>
          <p:cNvSpPr/>
          <p:nvPr/>
        </p:nvSpPr>
        <p:spPr>
          <a:xfrm>
            <a:off x="8684178" y="1474630"/>
            <a:ext cx="1427700" cy="38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중간 결과 저장</a:t>
            </a:r>
            <a:endParaRPr b="0" i="0" sz="920" u="none" cap="none" strike="noStrike">
              <a:solidFill>
                <a:schemeClr val="dk1"/>
              </a:solidFill>
              <a:latin typeface="Malgun Gothic"/>
              <a:ea typeface="Malgun Gothic"/>
              <a:cs typeface="Malgun Gothic"/>
              <a:sym typeface="Malgun Gothic"/>
            </a:endParaRPr>
          </a:p>
        </p:txBody>
      </p:sp>
      <p:sp>
        <p:nvSpPr>
          <p:cNvPr id="672" name="Google Shape;672;p60"/>
          <p:cNvSpPr/>
          <p:nvPr/>
        </p:nvSpPr>
        <p:spPr>
          <a:xfrm>
            <a:off x="10294829" y="1280147"/>
            <a:ext cx="1500900" cy="802200"/>
          </a:xfrm>
          <a:prstGeom prst="roundRect">
            <a:avLst>
              <a:gd fmla="val 12121" name="adj"/>
            </a:avLst>
          </a:prstGeom>
          <a:solidFill>
            <a:srgbClr val="ECFDF3"/>
          </a:solidFill>
          <a:ln cap="flat" cmpd="sng" w="12700">
            <a:solidFill>
              <a:srgbClr val="7FB0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60"/>
          <p:cNvSpPr/>
          <p:nvPr/>
        </p:nvSpPr>
        <p:spPr>
          <a:xfrm>
            <a:off x="10331405" y="1474630"/>
            <a:ext cx="1427700" cy="38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최종 통합</a:t>
            </a:r>
            <a:endParaRPr b="0" i="0" sz="920" u="none" cap="none" strike="noStrike">
              <a:solidFill>
                <a:schemeClr val="dk1"/>
              </a:solidFill>
              <a:latin typeface="Malgun Gothic"/>
              <a:ea typeface="Malgun Gothic"/>
              <a:cs typeface="Malgun Gothic"/>
              <a:sym typeface="Malgun Gothic"/>
            </a:endParaRPr>
          </a:p>
        </p:txBody>
      </p:sp>
      <p:cxnSp>
        <p:nvCxnSpPr>
          <p:cNvPr id="674" name="Google Shape;674;p60"/>
          <p:cNvCxnSpPr/>
          <p:nvPr/>
        </p:nvCxnSpPr>
        <p:spPr>
          <a:xfrm>
            <a:off x="2796534" y="3674720"/>
            <a:ext cx="146400" cy="0"/>
          </a:xfrm>
          <a:prstGeom prst="straightConnector1">
            <a:avLst/>
          </a:prstGeom>
          <a:noFill/>
          <a:ln cap="flat" cmpd="sng" w="17775">
            <a:solidFill>
              <a:srgbClr val="98A2B3"/>
            </a:solidFill>
            <a:prstDash val="solid"/>
            <a:round/>
            <a:headEnd len="sm" w="sm" type="none"/>
            <a:tailEnd len="med" w="med" type="triangle"/>
          </a:ln>
        </p:spPr>
      </p:cxnSp>
      <p:cxnSp>
        <p:nvCxnSpPr>
          <p:cNvPr id="675" name="Google Shape;675;p60"/>
          <p:cNvCxnSpPr/>
          <p:nvPr/>
        </p:nvCxnSpPr>
        <p:spPr>
          <a:xfrm>
            <a:off x="4413497" y="3674720"/>
            <a:ext cx="146400" cy="0"/>
          </a:xfrm>
          <a:prstGeom prst="straightConnector1">
            <a:avLst/>
          </a:prstGeom>
          <a:noFill/>
          <a:ln cap="flat" cmpd="sng" w="17775">
            <a:solidFill>
              <a:srgbClr val="98A2B3"/>
            </a:solidFill>
            <a:prstDash val="solid"/>
            <a:round/>
            <a:headEnd len="sm" w="sm" type="none"/>
            <a:tailEnd len="med" w="med" type="triangle"/>
          </a:ln>
        </p:spPr>
      </p:cxnSp>
      <p:cxnSp>
        <p:nvCxnSpPr>
          <p:cNvPr id="676" name="Google Shape;676;p60"/>
          <p:cNvCxnSpPr/>
          <p:nvPr/>
        </p:nvCxnSpPr>
        <p:spPr>
          <a:xfrm>
            <a:off x="6030461" y="3674720"/>
            <a:ext cx="146400" cy="0"/>
          </a:xfrm>
          <a:prstGeom prst="straightConnector1">
            <a:avLst/>
          </a:prstGeom>
          <a:noFill/>
          <a:ln cap="flat" cmpd="sng" w="17775">
            <a:solidFill>
              <a:srgbClr val="98A2B3"/>
            </a:solidFill>
            <a:prstDash val="solid"/>
            <a:round/>
            <a:headEnd len="sm" w="sm" type="none"/>
            <a:tailEnd len="med" w="med" type="triangle"/>
          </a:ln>
        </p:spPr>
      </p:cxnSp>
      <p:cxnSp>
        <p:nvCxnSpPr>
          <p:cNvPr id="677" name="Google Shape;677;p60"/>
          <p:cNvCxnSpPr/>
          <p:nvPr/>
        </p:nvCxnSpPr>
        <p:spPr>
          <a:xfrm>
            <a:off x="7647424" y="3674720"/>
            <a:ext cx="146400" cy="0"/>
          </a:xfrm>
          <a:prstGeom prst="straightConnector1">
            <a:avLst/>
          </a:prstGeom>
          <a:noFill/>
          <a:ln cap="flat" cmpd="sng" w="17775">
            <a:solidFill>
              <a:srgbClr val="98A2B3"/>
            </a:solidFill>
            <a:prstDash val="solid"/>
            <a:round/>
            <a:headEnd len="sm" w="sm" type="none"/>
            <a:tailEnd len="med" w="med" type="triangle"/>
          </a:ln>
        </p:spPr>
      </p:cxnSp>
      <p:cxnSp>
        <p:nvCxnSpPr>
          <p:cNvPr id="678" name="Google Shape;678;p60"/>
          <p:cNvCxnSpPr/>
          <p:nvPr/>
        </p:nvCxnSpPr>
        <p:spPr>
          <a:xfrm>
            <a:off x="9264387" y="3674720"/>
            <a:ext cx="146400" cy="0"/>
          </a:xfrm>
          <a:prstGeom prst="straightConnector1">
            <a:avLst/>
          </a:prstGeom>
          <a:noFill/>
          <a:ln cap="flat" cmpd="sng" w="17775">
            <a:solidFill>
              <a:srgbClr val="98A2B3"/>
            </a:solidFill>
            <a:prstDash val="solid"/>
            <a:round/>
            <a:headEnd len="sm" w="sm" type="none"/>
            <a:tailEnd len="med" w="med" type="triangle"/>
          </a:ln>
        </p:spPr>
      </p:cxnSp>
      <p:sp>
        <p:nvSpPr>
          <p:cNvPr id="679" name="Google Shape;679;p60"/>
          <p:cNvSpPr/>
          <p:nvPr/>
        </p:nvSpPr>
        <p:spPr>
          <a:xfrm>
            <a:off x="1325875" y="3285754"/>
            <a:ext cx="1470600" cy="802200"/>
          </a:xfrm>
          <a:prstGeom prst="roundRect">
            <a:avLst>
              <a:gd fmla="val 12121" name="adj"/>
            </a:avLst>
          </a:prstGeom>
          <a:solidFill>
            <a:srgbClr val="ECFDF3"/>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60"/>
          <p:cNvSpPr/>
          <p:nvPr/>
        </p:nvSpPr>
        <p:spPr>
          <a:xfrm>
            <a:off x="1362451" y="3480237"/>
            <a:ext cx="1397400" cy="38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final answer</a:t>
            </a:r>
            <a:endParaRPr b="0" i="0" sz="920" u="none" cap="none" strike="noStrike">
              <a:solidFill>
                <a:schemeClr val="dk1"/>
              </a:solidFill>
              <a:latin typeface="Malgun Gothic"/>
              <a:ea typeface="Malgun Gothic"/>
              <a:cs typeface="Malgun Gothic"/>
              <a:sym typeface="Malgun Gothic"/>
            </a:endParaRPr>
          </a:p>
        </p:txBody>
      </p:sp>
      <p:sp>
        <p:nvSpPr>
          <p:cNvPr id="681" name="Google Shape;681;p60"/>
          <p:cNvSpPr/>
          <p:nvPr/>
        </p:nvSpPr>
        <p:spPr>
          <a:xfrm>
            <a:off x="2942838" y="3285754"/>
            <a:ext cx="1470600" cy="802200"/>
          </a:xfrm>
          <a:prstGeom prst="roundRect">
            <a:avLst>
              <a:gd fmla="val 12121" name="adj"/>
            </a:avLst>
          </a:prstGeom>
          <a:solidFill>
            <a:srgbClr val="ECFDF3"/>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60"/>
          <p:cNvSpPr/>
          <p:nvPr/>
        </p:nvSpPr>
        <p:spPr>
          <a:xfrm>
            <a:off x="2979414" y="3480237"/>
            <a:ext cx="1397400" cy="38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정답 비교</a:t>
            </a:r>
            <a:endParaRPr b="0" i="0" sz="920" u="none" cap="none" strike="noStrike">
              <a:solidFill>
                <a:schemeClr val="dk1"/>
              </a:solidFill>
              <a:latin typeface="Malgun Gothic"/>
              <a:ea typeface="Malgun Gothic"/>
              <a:cs typeface="Malgun Gothic"/>
              <a:sym typeface="Malgun Gothic"/>
            </a:endParaRPr>
          </a:p>
        </p:txBody>
      </p:sp>
      <p:sp>
        <p:nvSpPr>
          <p:cNvPr id="683" name="Google Shape;683;p60"/>
          <p:cNvSpPr/>
          <p:nvPr/>
        </p:nvSpPr>
        <p:spPr>
          <a:xfrm>
            <a:off x="4559801" y="3285754"/>
            <a:ext cx="1470600" cy="802200"/>
          </a:xfrm>
          <a:prstGeom prst="roundRect">
            <a:avLst>
              <a:gd fmla="val 12121" name="adj"/>
            </a:avLst>
          </a:prstGeom>
          <a:solidFill>
            <a:srgbClr val="ECFDF3"/>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60"/>
          <p:cNvSpPr/>
          <p:nvPr/>
        </p:nvSpPr>
        <p:spPr>
          <a:xfrm>
            <a:off x="4596377" y="3480237"/>
            <a:ext cx="1397400" cy="38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history 분석</a:t>
            </a:r>
            <a:endParaRPr b="0" i="0" sz="920" u="none" cap="none" strike="noStrike">
              <a:solidFill>
                <a:schemeClr val="dk1"/>
              </a:solidFill>
              <a:latin typeface="Malgun Gothic"/>
              <a:ea typeface="Malgun Gothic"/>
              <a:cs typeface="Malgun Gothic"/>
              <a:sym typeface="Malgun Gothic"/>
            </a:endParaRPr>
          </a:p>
        </p:txBody>
      </p:sp>
      <p:sp>
        <p:nvSpPr>
          <p:cNvPr id="685" name="Google Shape;685;p60"/>
          <p:cNvSpPr/>
          <p:nvPr/>
        </p:nvSpPr>
        <p:spPr>
          <a:xfrm>
            <a:off x="6176764" y="3285754"/>
            <a:ext cx="1470600" cy="802200"/>
          </a:xfrm>
          <a:prstGeom prst="roundRect">
            <a:avLst>
              <a:gd fmla="val 12121" name="adj"/>
            </a:avLst>
          </a:prstGeom>
          <a:solidFill>
            <a:srgbClr val="ECFDF3"/>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60"/>
          <p:cNvSpPr/>
          <p:nvPr/>
        </p:nvSpPr>
        <p:spPr>
          <a:xfrm>
            <a:off x="6213340" y="3480237"/>
            <a:ext cx="1397400" cy="38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mistake_agent</a:t>
            </a:r>
            <a:endParaRPr b="0" i="0" sz="920" u="none" cap="none" strike="noStrike">
              <a:solidFill>
                <a:schemeClr val="dk1"/>
              </a:solidFill>
              <a:latin typeface="Malgun Gothic"/>
              <a:ea typeface="Malgun Gothic"/>
              <a:cs typeface="Malgun Gothic"/>
              <a:sym typeface="Malgun Gothic"/>
            </a:endParaRPr>
          </a:p>
        </p:txBody>
      </p:sp>
      <p:sp>
        <p:nvSpPr>
          <p:cNvPr id="687" name="Google Shape;687;p60"/>
          <p:cNvSpPr/>
          <p:nvPr/>
        </p:nvSpPr>
        <p:spPr>
          <a:xfrm>
            <a:off x="7793728" y="3285754"/>
            <a:ext cx="1470600" cy="802200"/>
          </a:xfrm>
          <a:prstGeom prst="roundRect">
            <a:avLst>
              <a:gd fmla="val 12121" name="adj"/>
            </a:avLst>
          </a:prstGeom>
          <a:solidFill>
            <a:srgbClr val="ECFDF3"/>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60"/>
          <p:cNvSpPr/>
          <p:nvPr/>
        </p:nvSpPr>
        <p:spPr>
          <a:xfrm>
            <a:off x="7830304" y="3480237"/>
            <a:ext cx="1397400" cy="38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mistake_step</a:t>
            </a:r>
            <a:endParaRPr b="0" i="0" sz="920" u="none" cap="none" strike="noStrike">
              <a:solidFill>
                <a:schemeClr val="dk1"/>
              </a:solidFill>
              <a:latin typeface="Malgun Gothic"/>
              <a:ea typeface="Malgun Gothic"/>
              <a:cs typeface="Malgun Gothic"/>
              <a:sym typeface="Malgun Gothic"/>
            </a:endParaRPr>
          </a:p>
        </p:txBody>
      </p:sp>
      <p:sp>
        <p:nvSpPr>
          <p:cNvPr id="689" name="Google Shape;689;p60"/>
          <p:cNvSpPr/>
          <p:nvPr/>
        </p:nvSpPr>
        <p:spPr>
          <a:xfrm>
            <a:off x="9410691" y="3285754"/>
            <a:ext cx="1470600" cy="802200"/>
          </a:xfrm>
          <a:prstGeom prst="roundRect">
            <a:avLst>
              <a:gd fmla="val 12121" name="adj"/>
            </a:avLst>
          </a:prstGeom>
          <a:solidFill>
            <a:srgbClr val="ECFDF3"/>
          </a:solidFill>
          <a:ln cap="flat" cmpd="sng" w="12700">
            <a:solidFill>
              <a:srgbClr val="6C5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60"/>
          <p:cNvSpPr/>
          <p:nvPr/>
        </p:nvSpPr>
        <p:spPr>
          <a:xfrm>
            <a:off x="9447267" y="3480237"/>
            <a:ext cx="1397400" cy="38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mistake_reason</a:t>
            </a:r>
            <a:endParaRPr b="0" i="0" sz="920" u="none" cap="none" strike="noStrike">
              <a:solidFill>
                <a:schemeClr val="dk1"/>
              </a:solidFill>
              <a:latin typeface="Malgun Gothic"/>
              <a:ea typeface="Malgun Gothic"/>
              <a:cs typeface="Malgun Gothic"/>
              <a:sym typeface="Malgun Gothic"/>
            </a:endParaRPr>
          </a:p>
        </p:txBody>
      </p:sp>
      <p:sp>
        <p:nvSpPr>
          <p:cNvPr id="691" name="Google Shape;691;p60"/>
          <p:cNvSpPr/>
          <p:nvPr/>
        </p:nvSpPr>
        <p:spPr>
          <a:xfrm>
            <a:off x="923488" y="4907051"/>
            <a:ext cx="4983600" cy="969900"/>
          </a:xfrm>
          <a:prstGeom prst="roundRect">
            <a:avLst>
              <a:gd fmla="val 588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60"/>
          <p:cNvSpPr/>
          <p:nvPr/>
        </p:nvSpPr>
        <p:spPr>
          <a:xfrm>
            <a:off x="1060648" y="5021162"/>
            <a:ext cx="4709100" cy="25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5C7D"/>
              </a:buClr>
              <a:buSzPts val="1100"/>
              <a:buFont typeface="Malgun Gothic"/>
              <a:buNone/>
            </a:pPr>
            <a:r>
              <a:rPr b="1" i="0" lang="en-US" sz="1100" u="none" cap="none" strike="noStrike">
                <a:solidFill>
                  <a:srgbClr val="355C7D"/>
                </a:solidFill>
                <a:latin typeface="Malgun Gothic"/>
                <a:ea typeface="Malgun Gothic"/>
                <a:cs typeface="Malgun Gothic"/>
                <a:sym typeface="Malgun Gothic"/>
              </a:rPr>
              <a:t>평가 지점 1</a:t>
            </a:r>
            <a:endParaRPr b="0" i="0" sz="1100" u="none" cap="none" strike="noStrike">
              <a:solidFill>
                <a:schemeClr val="dk1"/>
              </a:solidFill>
              <a:latin typeface="Malgun Gothic"/>
              <a:ea typeface="Malgun Gothic"/>
              <a:cs typeface="Malgun Gothic"/>
              <a:sym typeface="Malgun Gothic"/>
            </a:endParaRPr>
          </a:p>
        </p:txBody>
      </p:sp>
      <p:sp>
        <p:nvSpPr>
          <p:cNvPr id="693" name="Google Shape;693;p60"/>
          <p:cNvSpPr/>
          <p:nvPr/>
        </p:nvSpPr>
        <p:spPr>
          <a:xfrm>
            <a:off x="1060648" y="5386318"/>
            <a:ext cx="4709100" cy="399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최종 답이 맞았는가? 일반 benchmark 평가와 연결된다.</a:t>
            </a:r>
            <a:endParaRPr b="0" i="0" sz="1050" u="none" cap="none" strike="noStrike">
              <a:solidFill>
                <a:schemeClr val="dk1"/>
              </a:solidFill>
              <a:latin typeface="Malgun Gothic"/>
              <a:ea typeface="Malgun Gothic"/>
              <a:cs typeface="Malgun Gothic"/>
              <a:sym typeface="Malgun Gothic"/>
            </a:endParaRPr>
          </a:p>
        </p:txBody>
      </p:sp>
      <p:sp>
        <p:nvSpPr>
          <p:cNvPr id="694" name="Google Shape;694;p60"/>
          <p:cNvSpPr/>
          <p:nvPr/>
        </p:nvSpPr>
        <p:spPr>
          <a:xfrm>
            <a:off x="6300165" y="4907051"/>
            <a:ext cx="4983600" cy="969900"/>
          </a:xfrm>
          <a:prstGeom prst="roundRect">
            <a:avLst>
              <a:gd fmla="val 5882"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60"/>
          <p:cNvSpPr/>
          <p:nvPr/>
        </p:nvSpPr>
        <p:spPr>
          <a:xfrm>
            <a:off x="6437325" y="5021162"/>
            <a:ext cx="4709100" cy="25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5CE7"/>
              </a:buClr>
              <a:buSzPts val="1100"/>
              <a:buFont typeface="Malgun Gothic"/>
              <a:buNone/>
            </a:pPr>
            <a:r>
              <a:rPr b="1" i="0" lang="en-US" sz="1100" u="none" cap="none" strike="noStrike">
                <a:solidFill>
                  <a:srgbClr val="6C5CE7"/>
                </a:solidFill>
                <a:latin typeface="Malgun Gothic"/>
                <a:ea typeface="Malgun Gothic"/>
                <a:cs typeface="Malgun Gothic"/>
                <a:sym typeface="Malgun Gothic"/>
              </a:rPr>
              <a:t>평가 지점 2</a:t>
            </a:r>
            <a:endParaRPr b="0" i="0" sz="1100" u="none" cap="none" strike="noStrike">
              <a:solidFill>
                <a:schemeClr val="dk1"/>
              </a:solidFill>
              <a:latin typeface="Malgun Gothic"/>
              <a:ea typeface="Malgun Gothic"/>
              <a:cs typeface="Malgun Gothic"/>
              <a:sym typeface="Malgun Gothic"/>
            </a:endParaRPr>
          </a:p>
        </p:txBody>
      </p:sp>
      <p:sp>
        <p:nvSpPr>
          <p:cNvPr id="696" name="Google Shape;696;p60"/>
          <p:cNvSpPr/>
          <p:nvPr/>
        </p:nvSpPr>
        <p:spPr>
          <a:xfrm>
            <a:off x="6437325" y="5386318"/>
            <a:ext cx="4709100" cy="399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중간 과정에서 어느 agent와 step이 실패했는가? Who&amp;When의 핵심이다.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1" name="Shape 701"/>
        <p:cNvGrpSpPr/>
        <p:nvPr/>
      </p:nvGrpSpPr>
      <p:grpSpPr>
        <a:xfrm>
          <a:off x="0" y="0"/>
          <a:ext cx="0" cy="0"/>
          <a:chOff x="0" y="0"/>
          <a:chExt cx="0" cy="0"/>
        </a:xfrm>
      </p:grpSpPr>
      <p:sp>
        <p:nvSpPr>
          <p:cNvPr id="702" name="Google Shape;702;p61"/>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Who&amp;When 저장소 코드와 연결</a:t>
            </a:r>
            <a:endParaRPr b="0" i="0" sz="2200" u="none" cap="none" strike="noStrike">
              <a:solidFill>
                <a:schemeClr val="dk1"/>
              </a:solidFill>
              <a:latin typeface="Malgun Gothic"/>
              <a:ea typeface="Malgun Gothic"/>
              <a:cs typeface="Malgun Gothic"/>
              <a:sym typeface="Malgun Gothic"/>
            </a:endParaRPr>
          </a:p>
        </p:txBody>
      </p:sp>
      <p:sp>
        <p:nvSpPr>
          <p:cNvPr id="703" name="Google Shape;703;p61"/>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inference.py, utils.py, evaluate.py 관점</a:t>
            </a:r>
            <a:endParaRPr b="0" i="0" sz="950" u="none" cap="none" strike="noStrike">
              <a:solidFill>
                <a:schemeClr val="dk1"/>
              </a:solidFill>
              <a:latin typeface="Malgun Gothic"/>
              <a:ea typeface="Malgun Gothic"/>
              <a:cs typeface="Malgun Gothic"/>
              <a:sym typeface="Malgun Gothic"/>
            </a:endParaRPr>
          </a:p>
        </p:txBody>
      </p:sp>
      <p:cxnSp>
        <p:nvCxnSpPr>
          <p:cNvPr id="704" name="Google Shape;704;p61"/>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705" name="Google Shape;705;p61"/>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61</a:t>
            </a:r>
            <a:endParaRPr b="0" i="0" sz="800" u="none" cap="none" strike="noStrike">
              <a:solidFill>
                <a:schemeClr val="dk1"/>
              </a:solidFill>
              <a:latin typeface="Malgun Gothic"/>
              <a:ea typeface="Malgun Gothic"/>
              <a:cs typeface="Malgun Gothic"/>
              <a:sym typeface="Malgun Gothic"/>
            </a:endParaRPr>
          </a:p>
        </p:txBody>
      </p:sp>
      <p:graphicFrame>
        <p:nvGraphicFramePr>
          <p:cNvPr id="706" name="Google Shape;706;p61"/>
          <p:cNvGraphicFramePr/>
          <p:nvPr/>
        </p:nvGraphicFramePr>
        <p:xfrm>
          <a:off x="685800" y="1143000"/>
          <a:ext cx="3000000" cy="3000000"/>
        </p:xfrm>
        <a:graphic>
          <a:graphicData uri="http://schemas.openxmlformats.org/drawingml/2006/table">
            <a:tbl>
              <a:tblPr>
                <a:noFill/>
                <a:tableStyleId>{50896835-E566-46DC-AF42-435CE09E4439}</a:tableStyleId>
              </a:tblPr>
              <a:tblGrid>
                <a:gridCol w="2011675"/>
                <a:gridCol w="4572000"/>
                <a:gridCol w="4251950"/>
              </a:tblGrid>
              <a:tr h="556250">
                <a:tc>
                  <a:txBody>
                    <a:bodyPr/>
                    <a:lstStyle/>
                    <a:p>
                      <a:pPr indent="0" lvl="0" marL="0" marR="0" rtl="0" algn="ctr">
                        <a:spcBef>
                          <a:spcPts val="0"/>
                        </a:spcBef>
                        <a:spcAft>
                          <a:spcPts val="0"/>
                        </a:spcAft>
                        <a:buClr>
                          <a:srgbClr val="FFFFFF"/>
                        </a:buClr>
                        <a:buSzPts val="1090"/>
                        <a:buFont typeface="Malgun Gothic"/>
                        <a:buNone/>
                      </a:pPr>
                      <a:r>
                        <a:rPr b="1" lang="en-US" sz="1090" u="none" cap="none" strike="noStrike">
                          <a:solidFill>
                            <a:srgbClr val="FFFFFF"/>
                          </a:solidFill>
                          <a:latin typeface="Malgun Gothic"/>
                          <a:ea typeface="Malgun Gothic"/>
                          <a:cs typeface="Malgun Gothic"/>
                          <a:sym typeface="Malgun Gothic"/>
                        </a:rPr>
                        <a:t>파일/구성</a:t>
                      </a:r>
                      <a:endParaRPr sz="109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c>
                  <a:txBody>
                    <a:bodyPr/>
                    <a:lstStyle/>
                    <a:p>
                      <a:pPr indent="0" lvl="0" marL="0" marR="0" rtl="0" algn="ctr">
                        <a:spcBef>
                          <a:spcPts val="0"/>
                        </a:spcBef>
                        <a:spcAft>
                          <a:spcPts val="0"/>
                        </a:spcAft>
                        <a:buClr>
                          <a:srgbClr val="FFFFFF"/>
                        </a:buClr>
                        <a:buSzPts val="1090"/>
                        <a:buFont typeface="Malgun Gothic"/>
                        <a:buNone/>
                      </a:pPr>
                      <a:r>
                        <a:rPr b="1" lang="en-US" sz="1090" u="none" cap="none" strike="noStrike">
                          <a:solidFill>
                            <a:srgbClr val="FFFFFF"/>
                          </a:solidFill>
                          <a:latin typeface="Malgun Gothic"/>
                          <a:ea typeface="Malgun Gothic"/>
                          <a:cs typeface="Malgun Gothic"/>
                          <a:sym typeface="Malgun Gothic"/>
                        </a:rPr>
                        <a:t>역할</a:t>
                      </a:r>
                      <a:endParaRPr sz="109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c>
                  <a:txBody>
                    <a:bodyPr/>
                    <a:lstStyle/>
                    <a:p>
                      <a:pPr indent="0" lvl="0" marL="0" marR="0" rtl="0" algn="ctr">
                        <a:spcBef>
                          <a:spcPts val="0"/>
                        </a:spcBef>
                        <a:spcAft>
                          <a:spcPts val="0"/>
                        </a:spcAft>
                        <a:buClr>
                          <a:srgbClr val="FFFFFF"/>
                        </a:buClr>
                        <a:buSzPts val="1090"/>
                        <a:buFont typeface="Malgun Gothic"/>
                        <a:buNone/>
                      </a:pPr>
                      <a:r>
                        <a:rPr b="1" lang="en-US" sz="1090" u="none" cap="none" strike="noStrike">
                          <a:solidFill>
                            <a:srgbClr val="FFFFFF"/>
                          </a:solidFill>
                          <a:latin typeface="Malgun Gothic"/>
                          <a:ea typeface="Malgun Gothic"/>
                          <a:cs typeface="Malgun Gothic"/>
                          <a:sym typeface="Malgun Gothic"/>
                        </a:rPr>
                        <a:t>이번 연구와 연결</a:t>
                      </a:r>
                      <a:endParaRPr sz="109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7FB069"/>
                    </a:solidFill>
                  </a:tcPr>
                </a:tc>
              </a:tr>
              <a:tr h="556250">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inference.py</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전체 실행 관리: method, model, dataset path 선택</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AG/HC 데이터를 넣고 baseline 실행</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56250">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utils.py</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all at once, step by step, binary search 등 GPT baseline 구현</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실제 failure attribution 방법이 들어감</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56250">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local_model.py</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local model 기반 baseline 실행</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GPT 외 모델 비교 가능</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56250">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evaluate.py</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예측 결과와 정답 비교</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mistake_agent, mistake_step accuracy 계산</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56250">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outputs/</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추론 결과 저장</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실패 예측 log를 재분석할 수 있음</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707" name="Google Shape;707;p61"/>
          <p:cNvSpPr/>
          <p:nvPr/>
        </p:nvSpPr>
        <p:spPr>
          <a:xfrm>
            <a:off x="685800" y="4892040"/>
            <a:ext cx="10835640" cy="914400"/>
          </a:xfrm>
          <a:prstGeom prst="roundRect">
            <a:avLst>
              <a:gd fmla="val 5000"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61"/>
          <p:cNvSpPr/>
          <p:nvPr/>
        </p:nvSpPr>
        <p:spPr>
          <a:xfrm>
            <a:off x="822960" y="4983480"/>
            <a:ext cx="10561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B069"/>
              </a:buClr>
              <a:buSzPts val="1100"/>
              <a:buFont typeface="Malgun Gothic"/>
              <a:buNone/>
            </a:pPr>
            <a:r>
              <a:rPr b="1" i="0" lang="en-US" sz="1100" u="none" cap="none" strike="noStrike">
                <a:solidFill>
                  <a:srgbClr val="7FB069"/>
                </a:solidFill>
                <a:latin typeface="Malgun Gothic"/>
                <a:ea typeface="Malgun Gothic"/>
                <a:cs typeface="Malgun Gothic"/>
                <a:sym typeface="Malgun Gothic"/>
              </a:rPr>
              <a:t>확장 아이디어</a:t>
            </a:r>
            <a:endParaRPr b="0" i="0" sz="1100" u="none" cap="none" strike="noStrike">
              <a:solidFill>
                <a:schemeClr val="dk1"/>
              </a:solidFill>
              <a:latin typeface="Malgun Gothic"/>
              <a:ea typeface="Malgun Gothic"/>
              <a:cs typeface="Malgun Gothic"/>
              <a:sym typeface="Malgun Gothic"/>
            </a:endParaRPr>
          </a:p>
        </p:txBody>
      </p:sp>
      <p:sp>
        <p:nvSpPr>
          <p:cNvPr id="709" name="Google Shape;709;p61"/>
          <p:cNvSpPr/>
          <p:nvPr/>
        </p:nvSpPr>
        <p:spPr>
          <a:xfrm>
            <a:off x="822960" y="5276088"/>
            <a:ext cx="10561320" cy="457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다른 도메인으로 바꾸려면, Who&amp;When JSON 대신 domain query와 gold routing label을 넣고 evaluate.py를 routing accuracy 평가용으로 바꿀 수 있다.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4" name="Shape 714"/>
        <p:cNvGrpSpPr/>
        <p:nvPr/>
      </p:nvGrpSpPr>
      <p:grpSpPr>
        <a:xfrm>
          <a:off x="0" y="0"/>
          <a:ext cx="0" cy="0"/>
          <a:chOff x="0" y="0"/>
          <a:chExt cx="0" cy="0"/>
        </a:xfrm>
      </p:grpSpPr>
      <p:sp>
        <p:nvSpPr>
          <p:cNvPr id="715" name="Google Shape;715;p62"/>
          <p:cNvSpPr/>
          <p:nvPr/>
        </p:nvSpPr>
        <p:spPr>
          <a:xfrm>
            <a:off x="685800" y="777314"/>
            <a:ext cx="10515600" cy="404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900"/>
              <a:buFont typeface="Malgun Gothic"/>
              <a:buNone/>
            </a:pPr>
            <a:r>
              <a:rPr b="1" i="0" lang="en-US" sz="2900" u="none" cap="none" strike="noStrike">
                <a:solidFill>
                  <a:srgbClr val="1F2A44"/>
                </a:solidFill>
                <a:latin typeface="Malgun Gothic"/>
                <a:ea typeface="Malgun Gothic"/>
                <a:cs typeface="Malgun Gothic"/>
                <a:sym typeface="Malgun Gothic"/>
              </a:rPr>
              <a:t>7. 조건 손실 / 약한 성공 판단</a:t>
            </a:r>
            <a:endParaRPr b="0" i="0" sz="2900" u="none" cap="none" strike="noStrike">
              <a:solidFill>
                <a:schemeClr val="dk1"/>
              </a:solidFill>
              <a:latin typeface="Malgun Gothic"/>
              <a:ea typeface="Malgun Gothic"/>
              <a:cs typeface="Malgun Gothic"/>
              <a:sym typeface="Malgun Gothic"/>
            </a:endParaRPr>
          </a:p>
        </p:txBody>
      </p:sp>
      <p:cxnSp>
        <p:nvCxnSpPr>
          <p:cNvPr id="716" name="Google Shape;716;p62"/>
          <p:cNvCxnSpPr/>
          <p:nvPr/>
        </p:nvCxnSpPr>
        <p:spPr>
          <a:xfrm>
            <a:off x="713232" y="6174339"/>
            <a:ext cx="1828800" cy="0"/>
          </a:xfrm>
          <a:prstGeom prst="straightConnector1">
            <a:avLst/>
          </a:prstGeom>
          <a:noFill/>
          <a:ln cap="flat" cmpd="sng" w="50800">
            <a:solidFill>
              <a:srgbClr val="F2C14E"/>
            </a:solidFill>
            <a:prstDash val="solid"/>
            <a:round/>
            <a:headEnd len="sm" w="sm" type="none"/>
            <a:tailEnd len="sm" w="sm" type="none"/>
          </a:ln>
        </p:spPr>
      </p:cxnSp>
      <p:sp>
        <p:nvSpPr>
          <p:cNvPr id="717" name="Google Shape;717;p62"/>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62</a:t>
            </a:r>
            <a:endParaRPr b="0" i="0" sz="8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2" name="Shape 722"/>
        <p:cNvGrpSpPr/>
        <p:nvPr/>
      </p:nvGrpSpPr>
      <p:grpSpPr>
        <a:xfrm>
          <a:off x="0" y="0"/>
          <a:ext cx="0" cy="0"/>
          <a:chOff x="0" y="0"/>
          <a:chExt cx="0" cy="0"/>
        </a:xfrm>
      </p:grpSpPr>
      <p:sp>
        <p:nvSpPr>
          <p:cNvPr id="723" name="Google Shape;723;p63"/>
          <p:cNvSpPr/>
          <p:nvPr/>
        </p:nvSpPr>
        <p:spPr>
          <a:xfrm>
            <a:off x="438900" y="228600"/>
            <a:ext cx="11292900" cy="64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조건 손실은 지금 데이터로 볼 수 있는가</a:t>
            </a:r>
            <a:endParaRPr b="0" i="0" sz="2200" u="none" cap="none" strike="noStrike">
              <a:solidFill>
                <a:schemeClr val="dk1"/>
              </a:solidFill>
              <a:latin typeface="Malgun Gothic"/>
              <a:ea typeface="Malgun Gothic"/>
              <a:cs typeface="Malgun Gothic"/>
              <a:sym typeface="Malgun Gothic"/>
            </a:endParaRPr>
          </a:p>
        </p:txBody>
      </p:sp>
      <p:cxnSp>
        <p:nvCxnSpPr>
          <p:cNvPr id="724" name="Google Shape;724;p63"/>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725" name="Google Shape;725;p63"/>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63</a:t>
            </a:r>
            <a:endParaRPr b="0" i="0" sz="800" u="none" cap="none" strike="noStrike">
              <a:solidFill>
                <a:schemeClr val="dk1"/>
              </a:solidFill>
              <a:latin typeface="Malgun Gothic"/>
              <a:ea typeface="Malgun Gothic"/>
              <a:cs typeface="Malgun Gothic"/>
              <a:sym typeface="Malgun Gothic"/>
            </a:endParaRPr>
          </a:p>
        </p:txBody>
      </p:sp>
      <p:graphicFrame>
        <p:nvGraphicFramePr>
          <p:cNvPr id="726" name="Google Shape;726;p63"/>
          <p:cNvGraphicFramePr/>
          <p:nvPr/>
        </p:nvGraphicFramePr>
        <p:xfrm>
          <a:off x="411480" y="1005840"/>
          <a:ext cx="3000000" cy="3000000"/>
        </p:xfrm>
        <a:graphic>
          <a:graphicData uri="http://schemas.openxmlformats.org/drawingml/2006/table">
            <a:tbl>
              <a:tblPr>
                <a:noFill/>
                <a:tableStyleId>{50896835-E566-46DC-AF42-435CE09E4439}</a:tableStyleId>
              </a:tblPr>
              <a:tblGrid>
                <a:gridCol w="1463050"/>
                <a:gridCol w="1920250"/>
                <a:gridCol w="5669275"/>
                <a:gridCol w="2331725"/>
              </a:tblGrid>
              <a:tr h="744575">
                <a:tc>
                  <a:txBody>
                    <a:bodyPr/>
                    <a:lstStyle/>
                    <a:p>
                      <a:pPr indent="0" lvl="0" marL="0" marR="0" rtl="0" algn="ctr">
                        <a:spcBef>
                          <a:spcPts val="0"/>
                        </a:spcBef>
                        <a:spcAft>
                          <a:spcPts val="0"/>
                        </a:spcAft>
                        <a:buNone/>
                      </a:pPr>
                      <a:r>
                        <a:rPr b="1" lang="en-US" sz="980" u="none" cap="none" strike="noStrike">
                          <a:solidFill>
                            <a:srgbClr val="FFFFFF"/>
                          </a:solidFill>
                          <a:latin typeface="Malgun Gothic"/>
                          <a:ea typeface="Malgun Gothic"/>
                          <a:cs typeface="Malgun Gothic"/>
                          <a:sym typeface="Malgun Gothic"/>
                        </a:rPr>
                        <a:t>조건 유형</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None/>
                      </a:pPr>
                      <a:r>
                        <a:rPr b="1" lang="en-US" sz="980" u="none" cap="none" strike="noStrike">
                          <a:solidFill>
                            <a:srgbClr val="FFFFFF"/>
                          </a:solidFill>
                          <a:latin typeface="Malgun Gothic"/>
                          <a:ea typeface="Malgun Gothic"/>
                          <a:cs typeface="Malgun Gothic"/>
                          <a:sym typeface="Malgun Gothic"/>
                        </a:rPr>
                        <a:t>지금 데이터에서 볼 수 있는가</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None/>
                      </a:pPr>
                      <a:r>
                        <a:rPr b="1" lang="en-US" sz="980" u="none" cap="none" strike="noStrike">
                          <a:solidFill>
                            <a:srgbClr val="FFFFFF"/>
                          </a:solidFill>
                          <a:latin typeface="Malgun Gothic"/>
                          <a:ea typeface="Malgun Gothic"/>
                          <a:cs typeface="Malgun Gothic"/>
                          <a:sym typeface="Malgun Gothic"/>
                        </a:rPr>
                        <a:t>관련 사례</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None/>
                      </a:pPr>
                      <a:r>
                        <a:rPr b="1" lang="en-US" sz="980" u="none" cap="none" strike="noStrike">
                          <a:solidFill>
                            <a:srgbClr val="FFFFFF"/>
                          </a:solidFill>
                          <a:latin typeface="Malgun Gothic"/>
                          <a:ea typeface="Malgun Gothic"/>
                          <a:cs typeface="Malgun Gothic"/>
                          <a:sym typeface="Malgun Gothic"/>
                        </a:rPr>
                        <a:t>판단</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r>
              <a:tr h="744575">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시간 조건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볼 수 있음</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AG-115의 2024, HC-48의 2020–2023, HC-39의 20/10/2020</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조건 유지 여부 확인 가능</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44575">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위치 조건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볼 수 있음</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AG-105의 200m, AG-</a:t>
                      </a:r>
                      <a:r>
                        <a:rPr lang="en-US" sz="940">
                          <a:solidFill>
                            <a:srgbClr val="111827"/>
                          </a:solidFill>
                          <a:latin typeface="Malgun Gothic"/>
                          <a:ea typeface="Malgun Gothic"/>
                          <a:cs typeface="Malgun Gothic"/>
                          <a:sym typeface="Malgun Gothic"/>
                        </a:rPr>
                        <a:t>19</a:t>
                      </a:r>
                      <a:r>
                        <a:rPr lang="en-US" sz="940" u="none" cap="none" strike="noStrike">
                          <a:solidFill>
                            <a:srgbClr val="111827"/>
                          </a:solidFill>
                          <a:latin typeface="Malgun Gothic"/>
                          <a:ea typeface="Malgun Gothic"/>
                          <a:cs typeface="Malgun Gothic"/>
                          <a:sym typeface="Malgun Gothic"/>
                        </a:rPr>
                        <a:t>의 closest, HC-29의 west of Texas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위치/거리 조건 유지 확인 가능</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744575">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출처 조건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볼 수 있음</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HC-29의 USGS, HC-33의 BASE, HC-26의 DOI book</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지정 출처 준수 여부 확인 가능</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44575">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형식 조건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볼 수 있음</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AG-2의 IOC code only, HC-26의 day only, HC-48의 percentage</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최종 응답 형식 확인 가능</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744575">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비교 조건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볼 수 있음</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AG-2의 least/tie, HC-2의 worst rated, AG-14의 multi-hop lookup</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비교 기준 유지 여부 확인 가능</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744575">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단위/수치 조건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볼 수 있음</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AG-115의 save amount, HC-48의 0.5mm threshold</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lang="en-US" sz="940" u="none" cap="none" strike="noStrike">
                          <a:solidFill>
                            <a:srgbClr val="111827"/>
                          </a:solidFill>
                          <a:latin typeface="Malgun Gothic"/>
                          <a:ea typeface="Malgun Gothic"/>
                          <a:cs typeface="Malgun Gothic"/>
                          <a:sym typeface="Malgun Gothic"/>
                        </a:rPr>
                        <a:t>계산/단위 조건 확인 가능</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1" name="Shape 731"/>
        <p:cNvGrpSpPr/>
        <p:nvPr/>
      </p:nvGrpSpPr>
      <p:grpSpPr>
        <a:xfrm>
          <a:off x="0" y="0"/>
          <a:ext cx="0" cy="0"/>
          <a:chOff x="0" y="0"/>
          <a:chExt cx="0" cy="0"/>
        </a:xfrm>
      </p:grpSpPr>
      <p:sp>
        <p:nvSpPr>
          <p:cNvPr id="732" name="Google Shape;732;p64"/>
          <p:cNvSpPr/>
          <p:nvPr/>
        </p:nvSpPr>
        <p:spPr>
          <a:xfrm>
            <a:off x="438900" y="228600"/>
            <a:ext cx="11292900" cy="60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조건 손실 후보 사례</a:t>
            </a:r>
            <a:endParaRPr b="0" i="0" sz="2200" u="none" cap="none" strike="noStrike">
              <a:solidFill>
                <a:schemeClr val="dk1"/>
              </a:solidFill>
              <a:latin typeface="Malgun Gothic"/>
              <a:ea typeface="Malgun Gothic"/>
              <a:cs typeface="Malgun Gothic"/>
              <a:sym typeface="Malgun Gothic"/>
            </a:endParaRPr>
          </a:p>
        </p:txBody>
      </p:sp>
      <p:cxnSp>
        <p:nvCxnSpPr>
          <p:cNvPr id="733" name="Google Shape;733;p64"/>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734" name="Google Shape;734;p64"/>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64</a:t>
            </a:r>
            <a:endParaRPr b="0" i="0" sz="800" u="none" cap="none" strike="noStrike">
              <a:solidFill>
                <a:schemeClr val="dk1"/>
              </a:solidFill>
              <a:latin typeface="Malgun Gothic"/>
              <a:ea typeface="Malgun Gothic"/>
              <a:cs typeface="Malgun Gothic"/>
              <a:sym typeface="Malgun Gothic"/>
            </a:endParaRPr>
          </a:p>
        </p:txBody>
      </p:sp>
      <p:graphicFrame>
        <p:nvGraphicFramePr>
          <p:cNvPr id="735" name="Google Shape;735;p64"/>
          <p:cNvGraphicFramePr/>
          <p:nvPr/>
        </p:nvGraphicFramePr>
        <p:xfrm>
          <a:off x="411480" y="987552"/>
          <a:ext cx="3000000" cy="3000000"/>
        </p:xfrm>
        <a:graphic>
          <a:graphicData uri="http://schemas.openxmlformats.org/drawingml/2006/table">
            <a:tbl>
              <a:tblPr>
                <a:noFill/>
                <a:tableStyleId>{50896835-E566-46DC-AF42-435CE09E4439}</a:tableStyleId>
              </a:tblPr>
              <a:tblGrid>
                <a:gridCol w="1051550"/>
                <a:gridCol w="2880350"/>
                <a:gridCol w="4434850"/>
                <a:gridCol w="3017525"/>
              </a:tblGrid>
              <a:tr h="651500">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사례</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query 조건</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history에서 볼 포인트</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Clr>
                          <a:srgbClr val="FFFFFF"/>
                        </a:buClr>
                        <a:buSzPts val="980"/>
                        <a:buFont typeface="Malgun Gothic"/>
                        <a:buNone/>
                      </a:pPr>
                      <a:r>
                        <a:rPr b="1" lang="en-US" sz="980" u="none" cap="none" strike="noStrike">
                          <a:solidFill>
                            <a:srgbClr val="FFFFFF"/>
                          </a:solidFill>
                          <a:latin typeface="Malgun Gothic"/>
                          <a:ea typeface="Malgun Gothic"/>
                          <a:cs typeface="Malgun Gothic"/>
                          <a:sym typeface="Malgun Gothic"/>
                        </a:rPr>
                        <a:t>현재 판단</a:t>
                      </a:r>
                      <a:endParaRPr sz="98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r>
              <a:tr h="6515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AG-115</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2024년 가격, 4회 방문</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2024 daily ticket과 season pass 가격을 수집했는가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조건 손실 후보라기보다 retrieval 실패</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515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AG-2</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1928 Olympics 데이터, tie-breaking</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자료 대신 simulated dataset을 사용했는가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데이터 조건 위반 후보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515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AG-13</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Met 전시 이미지에서 hand visible 여부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이미지/웹사이트를 확인했는가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근거 조건 위반 후보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515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AG-16</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March 2018 YouTube video, Gollum voice actor, dinosaur 직후</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실제 video ID를 찾았는가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대상 식별 조건 손실 후보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515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HC-29</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USGS, west of Texas excluding Texas</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공식 출처와 제외 조건을 유지했는가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출처/위치 조건 손실 후보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515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HC-48</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2020–2023, first week of September, 0.5mm</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충분한 기상 데이터를 모았는가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데이터 범위 조건 손실 후보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51500">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HC-39</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2020-10-20 기준 latest GFF3</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기준 날짜에 맞는 release를 선택했는가</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939"/>
                        <a:buFont typeface="Malgun Gothic"/>
                        <a:buNone/>
                      </a:pPr>
                      <a:r>
                        <a:rPr lang="en-US" sz="940" u="none" cap="none" strike="noStrike">
                          <a:solidFill>
                            <a:srgbClr val="111827"/>
                          </a:solidFill>
                          <a:latin typeface="Malgun Gothic"/>
                          <a:ea typeface="Malgun Gothic"/>
                          <a:cs typeface="Malgun Gothic"/>
                          <a:sym typeface="Malgun Gothic"/>
                        </a:rPr>
                        <a:t>시간 기준 조건 손실 후보</a:t>
                      </a:r>
                      <a:endParaRPr sz="9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0" name="Shape 740"/>
        <p:cNvGrpSpPr/>
        <p:nvPr/>
      </p:nvGrpSpPr>
      <p:grpSpPr>
        <a:xfrm>
          <a:off x="0" y="0"/>
          <a:ext cx="0" cy="0"/>
          <a:chOff x="0" y="0"/>
          <a:chExt cx="0" cy="0"/>
        </a:xfrm>
      </p:grpSpPr>
      <p:sp>
        <p:nvSpPr>
          <p:cNvPr id="741" name="Google Shape;741;p65"/>
          <p:cNvSpPr/>
          <p:nvPr/>
        </p:nvSpPr>
        <p:spPr>
          <a:xfrm>
            <a:off x="438900" y="228600"/>
            <a:ext cx="11292900" cy="66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GAIA와 AssistantBench 원본 데이터를 써도 되는가</a:t>
            </a:r>
            <a:endParaRPr b="0" i="0" sz="2200" u="none" cap="none" strike="noStrike">
              <a:solidFill>
                <a:schemeClr val="dk1"/>
              </a:solidFill>
              <a:latin typeface="Malgun Gothic"/>
              <a:ea typeface="Malgun Gothic"/>
              <a:cs typeface="Malgun Gothic"/>
              <a:sym typeface="Malgun Gothic"/>
            </a:endParaRPr>
          </a:p>
        </p:txBody>
      </p:sp>
      <p:cxnSp>
        <p:nvCxnSpPr>
          <p:cNvPr id="742" name="Google Shape;742;p65"/>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743" name="Google Shape;743;p65"/>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65</a:t>
            </a:r>
            <a:endParaRPr b="0" i="0" sz="800" u="none" cap="none" strike="noStrike">
              <a:solidFill>
                <a:schemeClr val="dk1"/>
              </a:solidFill>
              <a:latin typeface="Malgun Gothic"/>
              <a:ea typeface="Malgun Gothic"/>
              <a:cs typeface="Malgun Gothic"/>
              <a:sym typeface="Malgun Gothic"/>
            </a:endParaRPr>
          </a:p>
        </p:txBody>
      </p:sp>
      <p:graphicFrame>
        <p:nvGraphicFramePr>
          <p:cNvPr id="744" name="Google Shape;744;p65"/>
          <p:cNvGraphicFramePr/>
          <p:nvPr/>
        </p:nvGraphicFramePr>
        <p:xfrm>
          <a:off x="640080" y="1234440"/>
          <a:ext cx="3000000" cy="3000000"/>
        </p:xfrm>
        <a:graphic>
          <a:graphicData uri="http://schemas.openxmlformats.org/drawingml/2006/table">
            <a:tbl>
              <a:tblPr>
                <a:noFill/>
                <a:tableStyleId>{50896835-E566-46DC-AF42-435CE09E4439}</a:tableStyleId>
              </a:tblPr>
              <a:tblGrid>
                <a:gridCol w="2286000"/>
                <a:gridCol w="3749050"/>
                <a:gridCol w="4846325"/>
              </a:tblGrid>
              <a:tr h="612650">
                <a:tc>
                  <a:txBody>
                    <a:bodyPr/>
                    <a:lstStyle/>
                    <a:p>
                      <a:pPr indent="0" lvl="0" marL="0" marR="0" rtl="0" algn="ctr">
                        <a:spcBef>
                          <a:spcPts val="0"/>
                        </a:spcBef>
                        <a:spcAft>
                          <a:spcPts val="0"/>
                        </a:spcAft>
                        <a:buClr>
                          <a:srgbClr val="FFFFFF"/>
                        </a:buClr>
                        <a:buSzPts val="1060"/>
                        <a:buFont typeface="Malgun Gothic"/>
                        <a:buNone/>
                      </a:pPr>
                      <a:r>
                        <a:rPr b="1" lang="en-US" sz="1060" u="none" cap="none" strike="noStrike">
                          <a:solidFill>
                            <a:srgbClr val="FFFFFF"/>
                          </a:solidFill>
                          <a:latin typeface="Malgun Gothic"/>
                          <a:ea typeface="Malgun Gothic"/>
                          <a:cs typeface="Malgun Gothic"/>
                          <a:sym typeface="Malgun Gothic"/>
                        </a:rPr>
                        <a:t>용도</a:t>
                      </a:r>
                      <a:endParaRPr sz="106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Clr>
                          <a:srgbClr val="FFFFFF"/>
                        </a:buClr>
                        <a:buSzPts val="1060"/>
                        <a:buFont typeface="Malgun Gothic"/>
                        <a:buNone/>
                      </a:pPr>
                      <a:r>
                        <a:rPr b="1" lang="en-US" sz="1060" u="none" cap="none" strike="noStrike">
                          <a:solidFill>
                            <a:srgbClr val="FFFFFF"/>
                          </a:solidFill>
                          <a:latin typeface="Malgun Gothic"/>
                          <a:ea typeface="Malgun Gothic"/>
                          <a:cs typeface="Malgun Gothic"/>
                          <a:sym typeface="Malgun Gothic"/>
                        </a:rPr>
                        <a:t>GAIA/</a:t>
                      </a:r>
                      <a:r>
                        <a:rPr b="1" lang="en-US" sz="1060" u="none" cap="none" strike="noStrike">
                          <a:solidFill>
                            <a:srgbClr val="FFFFFF"/>
                          </a:solidFill>
                          <a:latin typeface="Malgun Gothic"/>
                          <a:ea typeface="Malgun Gothic"/>
                          <a:cs typeface="Malgun Gothic"/>
                          <a:sym typeface="Malgun Gothic"/>
                        </a:rPr>
                        <a:t>AssistantBench</a:t>
                      </a:r>
                      <a:r>
                        <a:rPr b="1" lang="en-US" sz="1060" u="none" cap="none" strike="noStrike">
                          <a:solidFill>
                            <a:srgbClr val="FFFFFF"/>
                          </a:solidFill>
                          <a:latin typeface="Malgun Gothic"/>
                          <a:ea typeface="Malgun Gothic"/>
                          <a:cs typeface="Malgun Gothic"/>
                          <a:sym typeface="Malgun Gothic"/>
                        </a:rPr>
                        <a:t> 원본 사용 가능 여부</a:t>
                      </a:r>
                      <a:endParaRPr sz="106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Clr>
                          <a:srgbClr val="FFFFFF"/>
                        </a:buClr>
                        <a:buSzPts val="1060"/>
                        <a:buFont typeface="Malgun Gothic"/>
                        <a:buNone/>
                      </a:pPr>
                      <a:r>
                        <a:rPr b="1" lang="en-US" sz="1060" u="none" cap="none" strike="noStrike">
                          <a:solidFill>
                            <a:srgbClr val="FFFFFF"/>
                          </a:solidFill>
                          <a:latin typeface="Malgun Gothic"/>
                          <a:ea typeface="Malgun Gothic"/>
                          <a:cs typeface="Malgun Gothic"/>
                          <a:sym typeface="Malgun Gothic"/>
                        </a:rPr>
                        <a:t>사용 방식</a:t>
                      </a:r>
                      <a:endParaRPr sz="106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r>
              <a:tr h="612650">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조건 손실 설명</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가능</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Who&amp;When에 들어온 원 query를 기준으로 query 조건과 history를 비교</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12650">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조건 손실 추가 검증</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가능</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원문 question을 agent에 넣어 새 trajectory를 만들고 조건 유지 여부를 라벨링</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612650">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약한 성공 설명</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제한적으로 가능</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원 question과 answer는 쓸 수 있지만 성공 trajectory는 직접 실행해서 만들어야 함</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612650">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약한 성공 검증</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원본만으로는 부족</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20"/>
                        <a:buFont typeface="Malgun Gothic"/>
                        <a:buNone/>
                      </a:pPr>
                      <a:r>
                        <a:rPr lang="en-US" sz="1020" u="none" cap="none" strike="noStrike">
                          <a:solidFill>
                            <a:srgbClr val="111827"/>
                          </a:solidFill>
                          <a:latin typeface="Malgun Gothic"/>
                          <a:ea typeface="Malgun Gothic"/>
                          <a:cs typeface="Malgun Gothic"/>
                          <a:sym typeface="Malgun Gothic"/>
                        </a:rPr>
                        <a:t>성공 로그, judge 점수, perturbation 후 재실행 결과가 필요</a:t>
                      </a:r>
                      <a:endParaRPr sz="10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
        <p:nvSpPr>
          <p:cNvPr id="745" name="Google Shape;745;p65"/>
          <p:cNvSpPr/>
          <p:nvPr/>
        </p:nvSpPr>
        <p:spPr>
          <a:xfrm>
            <a:off x="640080" y="4892040"/>
            <a:ext cx="10881360" cy="868680"/>
          </a:xfrm>
          <a:prstGeom prst="roundRect">
            <a:avLst>
              <a:gd fmla="val 5263"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65"/>
          <p:cNvSpPr/>
          <p:nvPr/>
        </p:nvSpPr>
        <p:spPr>
          <a:xfrm>
            <a:off x="777240" y="4983480"/>
            <a:ext cx="106070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100"/>
              <a:buFont typeface="Malgun Gothic"/>
              <a:buNone/>
            </a:pPr>
            <a:r>
              <a:rPr b="1" i="0" lang="en-US" sz="1100" u="none" cap="none" strike="noStrike">
                <a:solidFill>
                  <a:srgbClr val="F2C14E"/>
                </a:solidFill>
                <a:latin typeface="Malgun Gothic"/>
                <a:ea typeface="Malgun Gothic"/>
                <a:cs typeface="Malgun Gothic"/>
                <a:sym typeface="Malgun Gothic"/>
              </a:rPr>
              <a:t>핵심</a:t>
            </a:r>
            <a:endParaRPr b="0" i="0" sz="1100" u="none" cap="none" strike="noStrike">
              <a:solidFill>
                <a:schemeClr val="dk1"/>
              </a:solidFill>
              <a:latin typeface="Malgun Gothic"/>
              <a:ea typeface="Malgun Gothic"/>
              <a:cs typeface="Malgun Gothic"/>
              <a:sym typeface="Malgun Gothic"/>
            </a:endParaRPr>
          </a:p>
        </p:txBody>
      </p:sp>
      <p:sp>
        <p:nvSpPr>
          <p:cNvPr id="747" name="Google Shape;747;p65"/>
          <p:cNvSpPr/>
          <p:nvPr/>
        </p:nvSpPr>
        <p:spPr>
          <a:xfrm>
            <a:off x="777240" y="5276088"/>
            <a:ext cx="1060704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Who&amp;When 자체가 GAIA/AssistantBench query를 기반으로 만든 실패 trajectory이므로 </a:t>
            </a:r>
            <a:endParaRPr b="0" i="0" sz="1050" u="none" cap="none" strike="noStrike">
              <a:solidFill>
                <a:srgbClr val="111827"/>
              </a:solidFill>
              <a:latin typeface="Malgun Gothic"/>
              <a:ea typeface="Malgun Gothic"/>
              <a:cs typeface="Malgun Gothic"/>
              <a:sym typeface="Malgun Gothic"/>
            </a:endParaRPr>
          </a:p>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조건 손실 설명에는 이미 들어온 query를 쓰면 된다. 약한 성공은 성공 trajectory를 새로 만들어야 한다.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2" name="Shape 752"/>
        <p:cNvGrpSpPr/>
        <p:nvPr/>
      </p:nvGrpSpPr>
      <p:grpSpPr>
        <a:xfrm>
          <a:off x="0" y="0"/>
          <a:ext cx="0" cy="0"/>
          <a:chOff x="0" y="0"/>
          <a:chExt cx="0" cy="0"/>
        </a:xfrm>
      </p:grpSpPr>
      <p:sp>
        <p:nvSpPr>
          <p:cNvPr id="753" name="Google Shape;753;p66"/>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AssistantBench 예시: Tompkins Square Park gym</a:t>
            </a:r>
            <a:endParaRPr b="0" i="0" sz="2200" u="none" cap="none" strike="noStrike">
              <a:solidFill>
                <a:schemeClr val="dk1"/>
              </a:solidFill>
              <a:latin typeface="Malgun Gothic"/>
              <a:ea typeface="Malgun Gothic"/>
              <a:cs typeface="Malgun Gothic"/>
              <a:sym typeface="Malgun Gothic"/>
            </a:endParaRPr>
          </a:p>
        </p:txBody>
      </p:sp>
      <p:sp>
        <p:nvSpPr>
          <p:cNvPr id="754" name="Google Shape;754;p66"/>
          <p:cNvSpPr/>
          <p:nvPr/>
        </p:nvSpPr>
        <p:spPr>
          <a:xfrm>
            <a:off x="457200" y="658368"/>
            <a:ext cx="110643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조건 손실 설명에 쓰기 좋은 query</a:t>
            </a:r>
            <a:endParaRPr b="0" i="0" sz="950" u="none" cap="none" strike="noStrike">
              <a:solidFill>
                <a:schemeClr val="dk1"/>
              </a:solidFill>
              <a:latin typeface="Malgun Gothic"/>
              <a:ea typeface="Malgun Gothic"/>
              <a:cs typeface="Malgun Gothic"/>
              <a:sym typeface="Malgun Gothic"/>
            </a:endParaRPr>
          </a:p>
        </p:txBody>
      </p:sp>
      <p:cxnSp>
        <p:nvCxnSpPr>
          <p:cNvPr id="755" name="Google Shape;755;p66"/>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756" name="Google Shape;756;p66"/>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66</a:t>
            </a:r>
            <a:endParaRPr b="0" i="0" sz="800" u="none" cap="none" strike="noStrike">
              <a:solidFill>
                <a:schemeClr val="dk1"/>
              </a:solidFill>
              <a:latin typeface="Malgun Gothic"/>
              <a:ea typeface="Malgun Gothic"/>
              <a:cs typeface="Malgun Gothic"/>
              <a:sym typeface="Malgun Gothic"/>
            </a:endParaRPr>
          </a:p>
        </p:txBody>
      </p:sp>
      <p:graphicFrame>
        <p:nvGraphicFramePr>
          <p:cNvPr id="757" name="Google Shape;757;p66"/>
          <p:cNvGraphicFramePr/>
          <p:nvPr/>
        </p:nvGraphicFramePr>
        <p:xfrm>
          <a:off x="685800" y="1188720"/>
          <a:ext cx="3000000" cy="3000000"/>
        </p:xfrm>
        <a:graphic>
          <a:graphicData uri="http://schemas.openxmlformats.org/drawingml/2006/table">
            <a:tbl>
              <a:tblPr>
                <a:noFill/>
                <a:tableStyleId>{50896835-E566-46DC-AF42-435CE09E4439}</a:tableStyleId>
              </a:tblPr>
              <a:tblGrid>
                <a:gridCol w="2743200"/>
                <a:gridCol w="3429000"/>
                <a:gridCol w="4663450"/>
              </a:tblGrid>
              <a:tr h="541025">
                <a:tc>
                  <a:txBody>
                    <a:bodyPr/>
                    <a:lstStyle/>
                    <a:p>
                      <a:pPr indent="0" lvl="0" marL="0" marR="0" rtl="0" algn="ctr">
                        <a:spcBef>
                          <a:spcPts val="0"/>
                        </a:spcBef>
                        <a:spcAft>
                          <a:spcPts val="0"/>
                        </a:spcAft>
                        <a:buClr>
                          <a:srgbClr val="FFFFFF"/>
                        </a:buClr>
                        <a:buSzPts val="1070"/>
                        <a:buFont typeface="Malgun Gothic"/>
                        <a:buNone/>
                      </a:pPr>
                      <a:r>
                        <a:rPr b="1" lang="en-US" sz="1070" u="none" cap="none" strike="noStrike">
                          <a:solidFill>
                            <a:srgbClr val="FFFFFF"/>
                          </a:solidFill>
                          <a:latin typeface="Malgun Gothic"/>
                          <a:ea typeface="Malgun Gothic"/>
                          <a:cs typeface="Malgun Gothic"/>
                          <a:sym typeface="Malgun Gothic"/>
                        </a:rPr>
                        <a:t>query 조건</a:t>
                      </a:r>
                      <a:endParaRPr sz="107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Clr>
                          <a:srgbClr val="FFFFFF"/>
                        </a:buClr>
                        <a:buSzPts val="1070"/>
                        <a:buFont typeface="Malgun Gothic"/>
                        <a:buNone/>
                      </a:pPr>
                      <a:r>
                        <a:rPr b="1" lang="en-US" sz="1070" u="none" cap="none" strike="noStrike">
                          <a:solidFill>
                            <a:srgbClr val="FFFFFF"/>
                          </a:solidFill>
                          <a:latin typeface="Malgun Gothic"/>
                          <a:ea typeface="Malgun Gothic"/>
                          <a:cs typeface="Malgun Gothic"/>
                          <a:sym typeface="Malgun Gothic"/>
                        </a:rPr>
                        <a:t>의미</a:t>
                      </a:r>
                      <a:endParaRPr sz="107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Clr>
                          <a:srgbClr val="FFFFFF"/>
                        </a:buClr>
                        <a:buSzPts val="1070"/>
                        <a:buFont typeface="Malgun Gothic"/>
                        <a:buNone/>
                      </a:pPr>
                      <a:r>
                        <a:rPr b="1" lang="en-US" sz="1070" u="none" cap="none" strike="noStrike">
                          <a:solidFill>
                            <a:srgbClr val="FFFFFF"/>
                          </a:solidFill>
                          <a:latin typeface="Malgun Gothic"/>
                          <a:ea typeface="Malgun Gothic"/>
                          <a:cs typeface="Malgun Gothic"/>
                          <a:sym typeface="Malgun Gothic"/>
                        </a:rPr>
                        <a:t>확인해야 하는 agent 작업</a:t>
                      </a:r>
                      <a:endParaRPr sz="107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r>
              <a:tr h="541025">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near Tompkins Square Park</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기준 위치</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Tompkins Square Park 좌표 또는 기준 위치 확인</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41025">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&lt;200m</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거리 조건</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후보 gym이 200m 이내인지 계산 또는 확인</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41025">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gyms</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장소 유형 조건</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음식점, 일반 시설이 아니라 gym/fitness 시설이어야 함</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41025">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fitness classes</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단순 영업이 아니라 수업 제공 여부</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class schedule 확인</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41025">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before 7am</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시간 조건</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30"/>
                        <a:buFont typeface="Malgun Gothic"/>
                        <a:buNone/>
                      </a:pPr>
                      <a:r>
                        <a:rPr lang="en-US" sz="1030" u="none" cap="none" strike="noStrike">
                          <a:solidFill>
                            <a:srgbClr val="111827"/>
                          </a:solidFill>
                          <a:latin typeface="Malgun Gothic"/>
                          <a:ea typeface="Malgun Gothic"/>
                          <a:cs typeface="Malgun Gothic"/>
                          <a:sym typeface="Malgun Gothic"/>
                        </a:rPr>
                        <a:t>오전 7시 이전 수업인지 확인</a:t>
                      </a:r>
                      <a:endParaRPr sz="103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758" name="Google Shape;758;p66"/>
          <p:cNvSpPr/>
          <p:nvPr/>
        </p:nvSpPr>
        <p:spPr>
          <a:xfrm>
            <a:off x="685800" y="4846320"/>
            <a:ext cx="10835640" cy="822960"/>
          </a:xfrm>
          <a:prstGeom prst="roundRect">
            <a:avLst>
              <a:gd fmla="val 5556"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66"/>
          <p:cNvSpPr/>
          <p:nvPr/>
        </p:nvSpPr>
        <p:spPr>
          <a:xfrm>
            <a:off x="822960" y="4937760"/>
            <a:ext cx="10561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100"/>
              <a:buFont typeface="Malgun Gothic"/>
              <a:buNone/>
            </a:pPr>
            <a:r>
              <a:rPr b="1" i="0" lang="en-US" sz="1100" u="none" cap="none" strike="noStrike">
                <a:solidFill>
                  <a:srgbClr val="F2C14E"/>
                </a:solidFill>
                <a:latin typeface="Malgun Gothic"/>
                <a:ea typeface="Malgun Gothic"/>
                <a:cs typeface="Malgun Gothic"/>
                <a:sym typeface="Malgun Gothic"/>
              </a:rPr>
              <a:t>설명 방식</a:t>
            </a:r>
            <a:endParaRPr b="0" i="0" sz="1100" u="none" cap="none" strike="noStrike">
              <a:solidFill>
                <a:schemeClr val="dk1"/>
              </a:solidFill>
              <a:latin typeface="Malgun Gothic"/>
              <a:ea typeface="Malgun Gothic"/>
              <a:cs typeface="Malgun Gothic"/>
              <a:sym typeface="Malgun Gothic"/>
            </a:endParaRPr>
          </a:p>
        </p:txBody>
      </p:sp>
      <p:sp>
        <p:nvSpPr>
          <p:cNvPr id="760" name="Google Shape;760;p66"/>
          <p:cNvSpPr/>
          <p:nvPr/>
        </p:nvSpPr>
        <p:spPr>
          <a:xfrm>
            <a:off x="822960" y="5230368"/>
            <a:ext cx="10561320"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gym 목록은 찾았지만 200m 조건을 검증하지 않거나, 영업시간은 확인했지만 class schedule을 확인하지 않았다면 조건 유지 실패 후보로 볼 수 있다.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5" name="Shape 765"/>
        <p:cNvGrpSpPr/>
        <p:nvPr/>
      </p:nvGrpSpPr>
      <p:grpSpPr>
        <a:xfrm>
          <a:off x="0" y="0"/>
          <a:ext cx="0" cy="0"/>
          <a:chOff x="0" y="0"/>
          <a:chExt cx="0" cy="0"/>
        </a:xfrm>
      </p:grpSpPr>
      <p:sp>
        <p:nvSpPr>
          <p:cNvPr id="766" name="Google Shape;766;p67"/>
          <p:cNvSpPr/>
          <p:nvPr/>
        </p:nvSpPr>
        <p:spPr>
          <a:xfrm>
            <a:off x="438900" y="228600"/>
            <a:ext cx="11292900" cy="63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GAIA query는 어떻게 활용할까</a:t>
            </a:r>
            <a:endParaRPr b="0" i="0" sz="2200" u="none" cap="none" strike="noStrike">
              <a:solidFill>
                <a:schemeClr val="dk1"/>
              </a:solidFill>
              <a:latin typeface="Malgun Gothic"/>
              <a:ea typeface="Malgun Gothic"/>
              <a:cs typeface="Malgun Gothic"/>
              <a:sym typeface="Malgun Gothic"/>
            </a:endParaRPr>
          </a:p>
        </p:txBody>
      </p:sp>
      <p:cxnSp>
        <p:nvCxnSpPr>
          <p:cNvPr id="767" name="Google Shape;767;p67"/>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768" name="Google Shape;768;p67"/>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67</a:t>
            </a:r>
            <a:endParaRPr b="0" i="0" sz="800" u="none" cap="none" strike="noStrike">
              <a:solidFill>
                <a:schemeClr val="dk1"/>
              </a:solidFill>
              <a:latin typeface="Malgun Gothic"/>
              <a:ea typeface="Malgun Gothic"/>
              <a:cs typeface="Malgun Gothic"/>
              <a:sym typeface="Malgun Gothic"/>
            </a:endParaRPr>
          </a:p>
        </p:txBody>
      </p:sp>
      <p:graphicFrame>
        <p:nvGraphicFramePr>
          <p:cNvPr id="769" name="Google Shape;769;p67"/>
          <p:cNvGraphicFramePr/>
          <p:nvPr/>
        </p:nvGraphicFramePr>
        <p:xfrm>
          <a:off x="777240" y="1234440"/>
          <a:ext cx="3000000" cy="3000000"/>
        </p:xfrm>
        <a:graphic>
          <a:graphicData uri="http://schemas.openxmlformats.org/drawingml/2006/table">
            <a:tbl>
              <a:tblPr>
                <a:noFill/>
                <a:tableStyleId>{50896835-E566-46DC-AF42-435CE09E4439}</a:tableStyleId>
              </a:tblPr>
              <a:tblGrid>
                <a:gridCol w="4114800"/>
                <a:gridCol w="6537950"/>
              </a:tblGrid>
              <a:tr h="586750">
                <a:tc>
                  <a:txBody>
                    <a:bodyPr/>
                    <a:lstStyle/>
                    <a:p>
                      <a:pPr indent="0" lvl="0" marL="0" marR="0" rtl="0" algn="ctr">
                        <a:spcBef>
                          <a:spcPts val="0"/>
                        </a:spcBef>
                        <a:spcAft>
                          <a:spcPts val="0"/>
                        </a:spcAft>
                        <a:buClr>
                          <a:srgbClr val="FFFFFF"/>
                        </a:buClr>
                        <a:buSzPts val="1160"/>
                        <a:buFont typeface="Malgun Gothic"/>
                        <a:buNone/>
                      </a:pPr>
                      <a:r>
                        <a:rPr b="1" lang="en-US" sz="1160" u="none" cap="none" strike="noStrike">
                          <a:solidFill>
                            <a:srgbClr val="FFFFFF"/>
                          </a:solidFill>
                          <a:latin typeface="Malgun Gothic"/>
                          <a:ea typeface="Malgun Gothic"/>
                          <a:cs typeface="Malgun Gothic"/>
                          <a:sym typeface="Malgun Gothic"/>
                        </a:rPr>
                        <a:t>GAIA query 유형</a:t>
                      </a:r>
                      <a:endParaRPr sz="116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Clr>
                          <a:srgbClr val="FFFFFF"/>
                        </a:buClr>
                        <a:buSzPts val="1160"/>
                        <a:buFont typeface="Malgun Gothic"/>
                        <a:buNone/>
                      </a:pPr>
                      <a:r>
                        <a:rPr b="1" lang="en-US" sz="1160" u="none" cap="none" strike="noStrike">
                          <a:solidFill>
                            <a:srgbClr val="FFFFFF"/>
                          </a:solidFill>
                          <a:latin typeface="Malgun Gothic"/>
                          <a:ea typeface="Malgun Gothic"/>
                          <a:cs typeface="Malgun Gothic"/>
                          <a:sym typeface="Malgun Gothic"/>
                        </a:rPr>
                        <a:t>조건 손실을 볼 수 있는 지점</a:t>
                      </a:r>
                      <a:endParaRPr sz="116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r>
              <a:tr h="586750">
                <a:tc>
                  <a:txBody>
                    <a:bodyPr/>
                    <a:lstStyle/>
                    <a:p>
                      <a:pPr indent="0" lvl="0" marL="0" marR="0" rtl="0" algn="ctr">
                        <a:spcBef>
                          <a:spcPts val="0"/>
                        </a:spcBef>
                        <a:spcAft>
                          <a:spcPts val="0"/>
                        </a:spcAft>
                        <a:buClr>
                          <a:srgbClr val="111827"/>
                        </a:buClr>
                        <a:buSzPts val="1120"/>
                        <a:buFont typeface="Malgun Gothic"/>
                        <a:buNone/>
                      </a:pPr>
                      <a:r>
                        <a:rPr lang="en-US" sz="1120" u="none" cap="none" strike="noStrike">
                          <a:solidFill>
                            <a:srgbClr val="111827"/>
                          </a:solidFill>
                          <a:latin typeface="Malgun Gothic"/>
                          <a:ea typeface="Malgun Gothic"/>
                          <a:cs typeface="Malgun Gothic"/>
                          <a:sym typeface="Malgun Gothic"/>
                        </a:rPr>
                        <a:t>특정 날짜 또는 기간을 묻는 질문</a:t>
                      </a:r>
                      <a:endParaRPr sz="11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20"/>
                        <a:buFont typeface="Malgun Gothic"/>
                        <a:buNone/>
                      </a:pPr>
                      <a:r>
                        <a:rPr lang="en-US" sz="1120" u="none" cap="none" strike="noStrike">
                          <a:solidFill>
                            <a:srgbClr val="111827"/>
                          </a:solidFill>
                          <a:latin typeface="Malgun Gothic"/>
                          <a:ea typeface="Malgun Gothic"/>
                          <a:cs typeface="Malgun Gothic"/>
                          <a:sym typeface="Malgun Gothic"/>
                        </a:rPr>
                        <a:t>시간 조건이 검색 중 유지되는지 확인</a:t>
                      </a:r>
                      <a:endParaRPr sz="11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86750">
                <a:tc>
                  <a:txBody>
                    <a:bodyPr/>
                    <a:lstStyle/>
                    <a:p>
                      <a:pPr indent="0" lvl="0" marL="0" marR="0" rtl="0" algn="ctr">
                        <a:spcBef>
                          <a:spcPts val="0"/>
                        </a:spcBef>
                        <a:spcAft>
                          <a:spcPts val="0"/>
                        </a:spcAft>
                        <a:buClr>
                          <a:srgbClr val="111827"/>
                        </a:buClr>
                        <a:buSzPts val="1120"/>
                        <a:buFont typeface="Malgun Gothic"/>
                        <a:buNone/>
                      </a:pPr>
                      <a:r>
                        <a:rPr lang="en-US" sz="1120" u="none" cap="none" strike="noStrike">
                          <a:solidFill>
                            <a:srgbClr val="111827"/>
                          </a:solidFill>
                          <a:latin typeface="Malgun Gothic"/>
                          <a:ea typeface="Malgun Gothic"/>
                          <a:cs typeface="Malgun Gothic"/>
                          <a:sym typeface="Malgun Gothic"/>
                        </a:rPr>
                        <a:t>파일 또는 이미지가 붙은 질문</a:t>
                      </a:r>
                      <a:endParaRPr sz="11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120"/>
                        <a:buFont typeface="Malgun Gothic"/>
                        <a:buNone/>
                      </a:pPr>
                      <a:r>
                        <a:rPr lang="en-US" sz="1120" u="none" cap="none" strike="noStrike">
                          <a:solidFill>
                            <a:srgbClr val="111827"/>
                          </a:solidFill>
                          <a:latin typeface="Malgun Gothic"/>
                          <a:ea typeface="Malgun Gothic"/>
                          <a:cs typeface="Malgun Gothic"/>
                          <a:sym typeface="Malgun Gothic"/>
                        </a:rPr>
                        <a:t>agent가 첨부 파일을 실제로 열었는지 확인</a:t>
                      </a:r>
                      <a:endParaRPr sz="11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86750">
                <a:tc>
                  <a:txBody>
                    <a:bodyPr/>
                    <a:lstStyle/>
                    <a:p>
                      <a:pPr indent="0" lvl="0" marL="0" marR="0" rtl="0" algn="ctr">
                        <a:spcBef>
                          <a:spcPts val="0"/>
                        </a:spcBef>
                        <a:spcAft>
                          <a:spcPts val="0"/>
                        </a:spcAft>
                        <a:buClr>
                          <a:srgbClr val="111827"/>
                        </a:buClr>
                        <a:buSzPts val="1120"/>
                        <a:buFont typeface="Malgun Gothic"/>
                        <a:buNone/>
                      </a:pPr>
                      <a:r>
                        <a:rPr lang="en-US" sz="1120" u="none" cap="none" strike="noStrike">
                          <a:solidFill>
                            <a:srgbClr val="111827"/>
                          </a:solidFill>
                          <a:latin typeface="Malgun Gothic"/>
                          <a:ea typeface="Malgun Gothic"/>
                          <a:cs typeface="Malgun Gothic"/>
                          <a:sym typeface="Malgun Gothic"/>
                        </a:rPr>
                        <a:t>단위 변환이 필요한 질문</a:t>
                      </a:r>
                      <a:endParaRPr sz="11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20"/>
                        <a:buFont typeface="Malgun Gothic"/>
                        <a:buNone/>
                      </a:pPr>
                      <a:r>
                        <a:rPr lang="en-US" sz="1120" u="none" cap="none" strike="noStrike">
                          <a:solidFill>
                            <a:srgbClr val="111827"/>
                          </a:solidFill>
                          <a:latin typeface="Malgun Gothic"/>
                          <a:ea typeface="Malgun Gothic"/>
                          <a:cs typeface="Malgun Gothic"/>
                          <a:sym typeface="Malgun Gothic"/>
                        </a:rPr>
                        <a:t>단위 조건이 최종 계산까지 유지되는지 확인</a:t>
                      </a:r>
                      <a:endParaRPr sz="11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586750">
                <a:tc>
                  <a:txBody>
                    <a:bodyPr/>
                    <a:lstStyle/>
                    <a:p>
                      <a:pPr indent="0" lvl="0" marL="0" marR="0" rtl="0" algn="ctr">
                        <a:spcBef>
                          <a:spcPts val="0"/>
                        </a:spcBef>
                        <a:spcAft>
                          <a:spcPts val="0"/>
                        </a:spcAft>
                        <a:buClr>
                          <a:srgbClr val="111827"/>
                        </a:buClr>
                        <a:buSzPts val="1120"/>
                        <a:buFont typeface="Malgun Gothic"/>
                        <a:buNone/>
                      </a:pPr>
                      <a:r>
                        <a:rPr lang="en-US" sz="1120" u="none" cap="none" strike="noStrike">
                          <a:solidFill>
                            <a:srgbClr val="111827"/>
                          </a:solidFill>
                          <a:latin typeface="Malgun Gothic"/>
                          <a:ea typeface="Malgun Gothic"/>
                          <a:cs typeface="Malgun Gothic"/>
                          <a:sym typeface="Malgun Gothic"/>
                        </a:rPr>
                        <a:t>특정 형식으로 답하라는 질문</a:t>
                      </a:r>
                      <a:endParaRPr sz="11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120"/>
                        <a:buFont typeface="Malgun Gothic"/>
                        <a:buNone/>
                      </a:pPr>
                      <a:r>
                        <a:rPr lang="en-US" sz="1120" u="none" cap="none" strike="noStrike">
                          <a:solidFill>
                            <a:srgbClr val="111827"/>
                          </a:solidFill>
                          <a:latin typeface="Malgun Gothic"/>
                          <a:ea typeface="Malgun Gothic"/>
                          <a:cs typeface="Malgun Gothic"/>
                          <a:sym typeface="Malgun Gothic"/>
                        </a:rPr>
                        <a:t>최종 answer format이 지켜졌는지 확인</a:t>
                      </a:r>
                      <a:endParaRPr sz="11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586750">
                <a:tc>
                  <a:txBody>
                    <a:bodyPr/>
                    <a:lstStyle/>
                    <a:p>
                      <a:pPr indent="0" lvl="0" marL="0" marR="0" rtl="0" algn="ctr">
                        <a:spcBef>
                          <a:spcPts val="0"/>
                        </a:spcBef>
                        <a:spcAft>
                          <a:spcPts val="0"/>
                        </a:spcAft>
                        <a:buClr>
                          <a:srgbClr val="111827"/>
                        </a:buClr>
                        <a:buSzPts val="1120"/>
                        <a:buFont typeface="Malgun Gothic"/>
                        <a:buNone/>
                      </a:pPr>
                      <a:r>
                        <a:rPr lang="en-US" sz="1120" u="none" cap="none" strike="noStrike">
                          <a:solidFill>
                            <a:srgbClr val="111827"/>
                          </a:solidFill>
                          <a:latin typeface="Malgun Gothic"/>
                          <a:ea typeface="Malgun Gothic"/>
                          <a:cs typeface="Malgun Gothic"/>
                          <a:sym typeface="Malgun Gothic"/>
                        </a:rPr>
                        <a:t>여러 출처를 연결해야 하는 질문</a:t>
                      </a:r>
                      <a:endParaRPr sz="11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20"/>
                        <a:buFont typeface="Malgun Gothic"/>
                        <a:buNone/>
                      </a:pPr>
                      <a:r>
                        <a:rPr lang="en-US" sz="1120" u="none" cap="none" strike="noStrike">
                          <a:solidFill>
                            <a:srgbClr val="111827"/>
                          </a:solidFill>
                          <a:latin typeface="Malgun Gothic"/>
                          <a:ea typeface="Malgun Gothic"/>
                          <a:cs typeface="Malgun Gothic"/>
                          <a:sym typeface="Malgun Gothic"/>
                        </a:rPr>
                        <a:t>중간 연결고리 중 하나가 누락되는지 확인</a:t>
                      </a:r>
                      <a:endParaRPr sz="112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bl>
          </a:graphicData>
        </a:graphic>
      </p:graphicFrame>
      <p:sp>
        <p:nvSpPr>
          <p:cNvPr id="770" name="Google Shape;770;p67"/>
          <p:cNvSpPr/>
          <p:nvPr/>
        </p:nvSpPr>
        <p:spPr>
          <a:xfrm>
            <a:off x="777240" y="5212080"/>
            <a:ext cx="10652760" cy="685800"/>
          </a:xfrm>
          <a:prstGeom prst="roundRect">
            <a:avLst>
              <a:gd fmla="val 6667" name="adj"/>
            </a:avLst>
          </a:prstGeom>
          <a:solidFill>
            <a:srgbClr val="F8FAFC"/>
          </a:solidFill>
          <a:ln cap="flat" cmpd="sng" w="9525">
            <a:solidFill>
              <a:srgbClr val="D0D5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67"/>
          <p:cNvSpPr/>
          <p:nvPr/>
        </p:nvSpPr>
        <p:spPr>
          <a:xfrm>
            <a:off x="914400" y="5303520"/>
            <a:ext cx="103784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C14E"/>
              </a:buClr>
              <a:buSzPts val="1100"/>
              <a:buFont typeface="Malgun Gothic"/>
              <a:buNone/>
            </a:pPr>
            <a:r>
              <a:rPr b="1" i="0" lang="en-US" sz="1100" u="none" cap="none" strike="noStrike">
                <a:solidFill>
                  <a:srgbClr val="F2C14E"/>
                </a:solidFill>
                <a:latin typeface="Malgun Gothic"/>
                <a:ea typeface="Malgun Gothic"/>
                <a:cs typeface="Malgun Gothic"/>
                <a:sym typeface="Malgun Gothic"/>
              </a:rPr>
              <a:t>주의</a:t>
            </a:r>
            <a:endParaRPr b="0" i="0" sz="1100" u="none" cap="none" strike="noStrike">
              <a:solidFill>
                <a:schemeClr val="dk1"/>
              </a:solidFill>
              <a:latin typeface="Malgun Gothic"/>
              <a:ea typeface="Malgun Gothic"/>
              <a:cs typeface="Malgun Gothic"/>
              <a:sym typeface="Malgun Gothic"/>
            </a:endParaRPr>
          </a:p>
        </p:txBody>
      </p:sp>
      <p:sp>
        <p:nvSpPr>
          <p:cNvPr id="772" name="Google Shape;772;p67"/>
          <p:cNvSpPr/>
          <p:nvPr/>
        </p:nvSpPr>
        <p:spPr>
          <a:xfrm>
            <a:off x="914400" y="5596128"/>
            <a:ext cx="1037844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11827"/>
              </a:buClr>
              <a:buSzPts val="1050"/>
              <a:buFont typeface="Malgun Gothic"/>
              <a:buNone/>
            </a:pPr>
            <a:r>
              <a:rPr b="0" i="0" lang="en-US" sz="1050" u="none" cap="none" strike="noStrike">
                <a:solidFill>
                  <a:srgbClr val="111827"/>
                </a:solidFill>
                <a:latin typeface="Malgun Gothic"/>
                <a:ea typeface="Malgun Gothic"/>
                <a:cs typeface="Malgun Gothic"/>
                <a:sym typeface="Malgun Gothic"/>
              </a:rPr>
              <a:t>GAIA 원문을 많이 가져오는 대신, Who&amp;When 안에 포함된 GAIA 기반 사례를 쓰거나 유형화해서 설명하는 것이 안전하다.</a:t>
            </a:r>
            <a:endParaRPr b="0" i="0" sz="105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7" name="Shape 777"/>
        <p:cNvGrpSpPr/>
        <p:nvPr/>
      </p:nvGrpSpPr>
      <p:grpSpPr>
        <a:xfrm>
          <a:off x="0" y="0"/>
          <a:ext cx="0" cy="0"/>
          <a:chOff x="0" y="0"/>
          <a:chExt cx="0" cy="0"/>
        </a:xfrm>
      </p:grpSpPr>
      <p:sp>
        <p:nvSpPr>
          <p:cNvPr id="778" name="Google Shape;778;p68"/>
          <p:cNvSpPr/>
          <p:nvPr/>
        </p:nvSpPr>
        <p:spPr>
          <a:xfrm>
            <a:off x="438912" y="228600"/>
            <a:ext cx="11292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약한 성공은 왜 바로 어렵나</a:t>
            </a:r>
            <a:endParaRPr b="0" i="0" sz="2200" u="none" cap="none" strike="noStrike">
              <a:solidFill>
                <a:schemeClr val="dk1"/>
              </a:solidFill>
              <a:latin typeface="Malgun Gothic"/>
              <a:ea typeface="Malgun Gothic"/>
              <a:cs typeface="Malgun Gothic"/>
              <a:sym typeface="Malgun Gothic"/>
            </a:endParaRPr>
          </a:p>
        </p:txBody>
      </p:sp>
      <p:sp>
        <p:nvSpPr>
          <p:cNvPr id="779" name="Google Shape;779;p68"/>
          <p:cNvSpPr/>
          <p:nvPr/>
        </p:nvSpPr>
        <p:spPr>
          <a:xfrm>
            <a:off x="457200" y="658368"/>
            <a:ext cx="110642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757D"/>
              </a:buClr>
              <a:buSzPts val="950"/>
              <a:buFont typeface="Malgun Gothic"/>
              <a:buNone/>
            </a:pPr>
            <a:r>
              <a:rPr b="0" i="0" lang="en-US" sz="950" u="none" cap="none" strike="noStrike">
                <a:solidFill>
                  <a:srgbClr val="6C757D"/>
                </a:solidFill>
                <a:latin typeface="Malgun Gothic"/>
                <a:ea typeface="Malgun Gothic"/>
                <a:cs typeface="Malgun Gothic"/>
                <a:sym typeface="Malgun Gothic"/>
              </a:rPr>
              <a:t>현재 Who&amp;When은 실패 trajectory 중심</a:t>
            </a:r>
            <a:endParaRPr b="0" i="0" sz="950" u="none" cap="none" strike="noStrike">
              <a:solidFill>
                <a:schemeClr val="dk1"/>
              </a:solidFill>
              <a:latin typeface="Malgun Gothic"/>
              <a:ea typeface="Malgun Gothic"/>
              <a:cs typeface="Malgun Gothic"/>
              <a:sym typeface="Malgun Gothic"/>
            </a:endParaRPr>
          </a:p>
        </p:txBody>
      </p:sp>
      <p:cxnSp>
        <p:nvCxnSpPr>
          <p:cNvPr id="780" name="Google Shape;780;p68"/>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781" name="Google Shape;781;p68"/>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68</a:t>
            </a:r>
            <a:endParaRPr b="0" i="0" sz="800" u="none" cap="none" strike="noStrike">
              <a:solidFill>
                <a:schemeClr val="dk1"/>
              </a:solidFill>
              <a:latin typeface="Malgun Gothic"/>
              <a:ea typeface="Malgun Gothic"/>
              <a:cs typeface="Malgun Gothic"/>
              <a:sym typeface="Malgun Gothic"/>
            </a:endParaRPr>
          </a:p>
        </p:txBody>
      </p:sp>
      <p:graphicFrame>
        <p:nvGraphicFramePr>
          <p:cNvPr id="782" name="Google Shape;782;p68"/>
          <p:cNvGraphicFramePr/>
          <p:nvPr/>
        </p:nvGraphicFramePr>
        <p:xfrm>
          <a:off x="685800" y="1234440"/>
          <a:ext cx="3000000" cy="3000000"/>
        </p:xfrm>
        <a:graphic>
          <a:graphicData uri="http://schemas.openxmlformats.org/drawingml/2006/table">
            <a:tbl>
              <a:tblPr>
                <a:noFill/>
                <a:tableStyleId>{50896835-E566-46DC-AF42-435CE09E4439}</a:tableStyleId>
              </a:tblPr>
              <a:tblGrid>
                <a:gridCol w="3657600"/>
                <a:gridCol w="3474725"/>
                <a:gridCol w="3749050"/>
              </a:tblGrid>
              <a:tr h="826050">
                <a:tc>
                  <a:txBody>
                    <a:bodyPr/>
                    <a:lstStyle/>
                    <a:p>
                      <a:pPr indent="0" lvl="0" marL="0" marR="0" rtl="0" algn="ctr">
                        <a:spcBef>
                          <a:spcPts val="0"/>
                        </a:spcBef>
                        <a:spcAft>
                          <a:spcPts val="0"/>
                        </a:spcAft>
                        <a:buClr>
                          <a:srgbClr val="FFFFFF"/>
                        </a:buClr>
                        <a:buSzPts val="1140"/>
                        <a:buFont typeface="Malgun Gothic"/>
                        <a:buNone/>
                      </a:pPr>
                      <a:r>
                        <a:rPr b="1" lang="en-US" sz="1140" u="none" cap="none" strike="noStrike">
                          <a:solidFill>
                            <a:srgbClr val="FFFFFF"/>
                          </a:solidFill>
                          <a:latin typeface="Malgun Gothic"/>
                          <a:ea typeface="Malgun Gothic"/>
                          <a:cs typeface="Malgun Gothic"/>
                          <a:sym typeface="Malgun Gothic"/>
                        </a:rPr>
                        <a:t>필요한 것</a:t>
                      </a:r>
                      <a:endParaRPr sz="11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Clr>
                          <a:srgbClr val="FFFFFF"/>
                        </a:buClr>
                        <a:buSzPts val="1140"/>
                        <a:buFont typeface="Malgun Gothic"/>
                        <a:buNone/>
                      </a:pPr>
                      <a:r>
                        <a:rPr b="1" lang="en-US" sz="1140" u="none" cap="none" strike="noStrike">
                          <a:solidFill>
                            <a:srgbClr val="FFFFFF"/>
                          </a:solidFill>
                          <a:latin typeface="Malgun Gothic"/>
                          <a:ea typeface="Malgun Gothic"/>
                          <a:cs typeface="Malgun Gothic"/>
                          <a:sym typeface="Malgun Gothic"/>
                        </a:rPr>
                        <a:t>현재 Who&amp;When에 있는가</a:t>
                      </a:r>
                      <a:endParaRPr sz="11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Clr>
                          <a:srgbClr val="FFFFFF"/>
                        </a:buClr>
                        <a:buSzPts val="1140"/>
                        <a:buFont typeface="Malgun Gothic"/>
                        <a:buNone/>
                      </a:pPr>
                      <a:r>
                        <a:rPr b="1" lang="en-US" sz="1140" u="none" cap="none" strike="noStrike">
                          <a:solidFill>
                            <a:srgbClr val="FFFFFF"/>
                          </a:solidFill>
                          <a:latin typeface="Malgun Gothic"/>
                          <a:ea typeface="Malgun Gothic"/>
                          <a:cs typeface="Malgun Gothic"/>
                          <a:sym typeface="Malgun Gothic"/>
                        </a:rPr>
                        <a:t>판단</a:t>
                      </a:r>
                      <a:endParaRPr sz="114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r>
              <a:tr h="82605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최종 정답이 맞은 성공 trajectory</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부족함</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약한 성공 분석에 직접 사용하기 어려움</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2605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성공 과정의 불안정성 라벨</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없음</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새로 judge label을 붙여야 함</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82605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perturbation 후 재실행 결과</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없음</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별도 실험 필요</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826050">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성공/실패 비교군</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현재는 실패 중심</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100"/>
                        <a:buFont typeface="Malgun Gothic"/>
                        <a:buNone/>
                      </a:pPr>
                      <a:r>
                        <a:rPr lang="en-US" sz="1100" u="none" cap="none" strike="noStrike">
                          <a:solidFill>
                            <a:srgbClr val="111827"/>
                          </a:solidFill>
                          <a:latin typeface="Malgun Gothic"/>
                          <a:ea typeface="Malgun Gothic"/>
                          <a:cs typeface="Malgun Gothic"/>
                          <a:sym typeface="Malgun Gothic"/>
                        </a:rPr>
                        <a:t>추가 데이터 필요</a:t>
                      </a:r>
                      <a:endParaRPr sz="110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7" name="Shape 787"/>
        <p:cNvGrpSpPr/>
        <p:nvPr/>
      </p:nvGrpSpPr>
      <p:grpSpPr>
        <a:xfrm>
          <a:off x="0" y="0"/>
          <a:ext cx="0" cy="0"/>
          <a:chOff x="0" y="0"/>
          <a:chExt cx="0" cy="0"/>
        </a:xfrm>
      </p:grpSpPr>
      <p:sp>
        <p:nvSpPr>
          <p:cNvPr id="788" name="Google Shape;788;p69"/>
          <p:cNvSpPr/>
          <p:nvPr/>
        </p:nvSpPr>
        <p:spPr>
          <a:xfrm>
            <a:off x="438900" y="228600"/>
            <a:ext cx="11292900" cy="65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44"/>
              </a:buClr>
              <a:buSzPts val="2200"/>
              <a:buFont typeface="Malgun Gothic"/>
              <a:buNone/>
            </a:pPr>
            <a:r>
              <a:rPr b="1" i="0" lang="en-US" sz="2200" u="none" cap="none" strike="noStrike">
                <a:solidFill>
                  <a:srgbClr val="1F2A44"/>
                </a:solidFill>
                <a:latin typeface="Malgun Gothic"/>
                <a:ea typeface="Malgun Gothic"/>
                <a:cs typeface="Malgun Gothic"/>
                <a:sym typeface="Malgun Gothic"/>
              </a:rPr>
              <a:t>약한 성공을 검증하려면 필요한 실험</a:t>
            </a:r>
            <a:endParaRPr b="0" i="0" sz="2200" u="none" cap="none" strike="noStrike">
              <a:solidFill>
                <a:schemeClr val="dk1"/>
              </a:solidFill>
              <a:latin typeface="Malgun Gothic"/>
              <a:ea typeface="Malgun Gothic"/>
              <a:cs typeface="Malgun Gothic"/>
              <a:sym typeface="Malgun Gothic"/>
            </a:endParaRPr>
          </a:p>
        </p:txBody>
      </p:sp>
      <p:cxnSp>
        <p:nvCxnSpPr>
          <p:cNvPr id="789" name="Google Shape;789;p69"/>
          <p:cNvCxnSpPr/>
          <p:nvPr/>
        </p:nvCxnSpPr>
        <p:spPr>
          <a:xfrm>
            <a:off x="457200" y="941832"/>
            <a:ext cx="11247120" cy="0"/>
          </a:xfrm>
          <a:prstGeom prst="straightConnector1">
            <a:avLst/>
          </a:prstGeom>
          <a:noFill/>
          <a:ln cap="flat" cmpd="sng" w="12700">
            <a:solidFill>
              <a:srgbClr val="D9E2EC"/>
            </a:solidFill>
            <a:prstDash val="solid"/>
            <a:round/>
            <a:headEnd len="sm" w="sm" type="none"/>
            <a:tailEnd len="sm" w="sm" type="none"/>
          </a:ln>
        </p:spPr>
      </p:cxnSp>
      <p:sp>
        <p:nvSpPr>
          <p:cNvPr id="790" name="Google Shape;790;p69"/>
          <p:cNvSpPr/>
          <p:nvPr/>
        </p:nvSpPr>
        <p:spPr>
          <a:xfrm>
            <a:off x="11411712"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Malgun Gothic"/>
              <a:buNone/>
            </a:pPr>
            <a:r>
              <a:rPr b="0" i="0" lang="en-US" sz="800" u="none" cap="none" strike="noStrike">
                <a:solidFill>
                  <a:srgbClr val="667085"/>
                </a:solidFill>
                <a:latin typeface="Malgun Gothic"/>
                <a:ea typeface="Malgun Gothic"/>
                <a:cs typeface="Malgun Gothic"/>
                <a:sym typeface="Malgun Gothic"/>
              </a:rPr>
              <a:t>69</a:t>
            </a:r>
            <a:endParaRPr b="0" i="0" sz="800" u="none" cap="none" strike="noStrike">
              <a:solidFill>
                <a:schemeClr val="dk1"/>
              </a:solidFill>
              <a:latin typeface="Malgun Gothic"/>
              <a:ea typeface="Malgun Gothic"/>
              <a:cs typeface="Malgun Gothic"/>
              <a:sym typeface="Malgun Gothic"/>
            </a:endParaRPr>
          </a:p>
        </p:txBody>
      </p:sp>
      <p:cxnSp>
        <p:nvCxnSpPr>
          <p:cNvPr id="791" name="Google Shape;791;p69"/>
          <p:cNvCxnSpPr/>
          <p:nvPr/>
        </p:nvCxnSpPr>
        <p:spPr>
          <a:xfrm>
            <a:off x="1912402" y="1463040"/>
            <a:ext cx="146304" cy="0"/>
          </a:xfrm>
          <a:prstGeom prst="straightConnector1">
            <a:avLst/>
          </a:prstGeom>
          <a:noFill/>
          <a:ln cap="flat" cmpd="sng" w="17775">
            <a:solidFill>
              <a:srgbClr val="98A2B3"/>
            </a:solidFill>
            <a:prstDash val="solid"/>
            <a:round/>
            <a:headEnd len="sm" w="sm" type="none"/>
            <a:tailEnd len="med" w="med" type="triangle"/>
          </a:ln>
        </p:spPr>
      </p:cxnSp>
      <p:cxnSp>
        <p:nvCxnSpPr>
          <p:cNvPr id="792" name="Google Shape;792;p69"/>
          <p:cNvCxnSpPr/>
          <p:nvPr/>
        </p:nvCxnSpPr>
        <p:spPr>
          <a:xfrm>
            <a:off x="3559629" y="1463040"/>
            <a:ext cx="146304" cy="0"/>
          </a:xfrm>
          <a:prstGeom prst="straightConnector1">
            <a:avLst/>
          </a:prstGeom>
          <a:noFill/>
          <a:ln cap="flat" cmpd="sng" w="17775">
            <a:solidFill>
              <a:srgbClr val="98A2B3"/>
            </a:solidFill>
            <a:prstDash val="solid"/>
            <a:round/>
            <a:headEnd len="sm" w="sm" type="none"/>
            <a:tailEnd len="med" w="med" type="triangle"/>
          </a:ln>
        </p:spPr>
      </p:cxnSp>
      <p:cxnSp>
        <p:nvCxnSpPr>
          <p:cNvPr id="793" name="Google Shape;793;p69"/>
          <p:cNvCxnSpPr/>
          <p:nvPr/>
        </p:nvCxnSpPr>
        <p:spPr>
          <a:xfrm>
            <a:off x="5206855" y="1463040"/>
            <a:ext cx="146304" cy="0"/>
          </a:xfrm>
          <a:prstGeom prst="straightConnector1">
            <a:avLst/>
          </a:prstGeom>
          <a:noFill/>
          <a:ln cap="flat" cmpd="sng" w="17775">
            <a:solidFill>
              <a:srgbClr val="98A2B3"/>
            </a:solidFill>
            <a:prstDash val="solid"/>
            <a:round/>
            <a:headEnd len="sm" w="sm" type="none"/>
            <a:tailEnd len="med" w="med" type="triangle"/>
          </a:ln>
        </p:spPr>
      </p:cxnSp>
      <p:cxnSp>
        <p:nvCxnSpPr>
          <p:cNvPr id="794" name="Google Shape;794;p69"/>
          <p:cNvCxnSpPr/>
          <p:nvPr/>
        </p:nvCxnSpPr>
        <p:spPr>
          <a:xfrm>
            <a:off x="6854081" y="1463040"/>
            <a:ext cx="146304" cy="0"/>
          </a:xfrm>
          <a:prstGeom prst="straightConnector1">
            <a:avLst/>
          </a:prstGeom>
          <a:noFill/>
          <a:ln cap="flat" cmpd="sng" w="17775">
            <a:solidFill>
              <a:srgbClr val="98A2B3"/>
            </a:solidFill>
            <a:prstDash val="solid"/>
            <a:round/>
            <a:headEnd len="sm" w="sm" type="none"/>
            <a:tailEnd len="med" w="med" type="triangle"/>
          </a:ln>
        </p:spPr>
      </p:cxnSp>
      <p:cxnSp>
        <p:nvCxnSpPr>
          <p:cNvPr id="795" name="Google Shape;795;p69"/>
          <p:cNvCxnSpPr/>
          <p:nvPr/>
        </p:nvCxnSpPr>
        <p:spPr>
          <a:xfrm>
            <a:off x="8501307" y="1463040"/>
            <a:ext cx="146304" cy="0"/>
          </a:xfrm>
          <a:prstGeom prst="straightConnector1">
            <a:avLst/>
          </a:prstGeom>
          <a:noFill/>
          <a:ln cap="flat" cmpd="sng" w="17775">
            <a:solidFill>
              <a:srgbClr val="98A2B3"/>
            </a:solidFill>
            <a:prstDash val="solid"/>
            <a:round/>
            <a:headEnd len="sm" w="sm" type="none"/>
            <a:tailEnd len="med" w="med" type="triangle"/>
          </a:ln>
        </p:spPr>
      </p:cxnSp>
      <p:cxnSp>
        <p:nvCxnSpPr>
          <p:cNvPr id="796" name="Google Shape;796;p69"/>
          <p:cNvCxnSpPr/>
          <p:nvPr/>
        </p:nvCxnSpPr>
        <p:spPr>
          <a:xfrm>
            <a:off x="10148534" y="1463040"/>
            <a:ext cx="146304" cy="0"/>
          </a:xfrm>
          <a:prstGeom prst="straightConnector1">
            <a:avLst/>
          </a:prstGeom>
          <a:noFill/>
          <a:ln cap="flat" cmpd="sng" w="17775">
            <a:solidFill>
              <a:srgbClr val="98A2B3"/>
            </a:solidFill>
            <a:prstDash val="solid"/>
            <a:round/>
            <a:headEnd len="sm" w="sm" type="none"/>
            <a:tailEnd len="med" w="med" type="triangle"/>
          </a:ln>
        </p:spPr>
      </p:cxnSp>
      <p:sp>
        <p:nvSpPr>
          <p:cNvPr id="797" name="Google Shape;797;p69"/>
          <p:cNvSpPr/>
          <p:nvPr/>
        </p:nvSpPr>
        <p:spPr>
          <a:xfrm>
            <a:off x="411480" y="1170432"/>
            <a:ext cx="1500922" cy="603504"/>
          </a:xfrm>
          <a:prstGeom prst="roundRect">
            <a:avLst>
              <a:gd fmla="val 12121" name="adj"/>
            </a:avLst>
          </a:prstGeom>
          <a:solidFill>
            <a:srgbClr val="ECFDF3"/>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69"/>
          <p:cNvSpPr/>
          <p:nvPr/>
        </p:nvSpPr>
        <p:spPr>
          <a:xfrm>
            <a:off x="448056" y="1316736"/>
            <a:ext cx="142777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원문 question 선택</a:t>
            </a:r>
            <a:endParaRPr b="0" i="0" sz="920" u="none" cap="none" strike="noStrike">
              <a:solidFill>
                <a:schemeClr val="dk1"/>
              </a:solidFill>
              <a:latin typeface="Malgun Gothic"/>
              <a:ea typeface="Malgun Gothic"/>
              <a:cs typeface="Malgun Gothic"/>
              <a:sym typeface="Malgun Gothic"/>
            </a:endParaRPr>
          </a:p>
        </p:txBody>
      </p:sp>
      <p:sp>
        <p:nvSpPr>
          <p:cNvPr id="799" name="Google Shape;799;p69"/>
          <p:cNvSpPr/>
          <p:nvPr/>
        </p:nvSpPr>
        <p:spPr>
          <a:xfrm>
            <a:off x="2058706" y="1170432"/>
            <a:ext cx="1500922" cy="603504"/>
          </a:xfrm>
          <a:prstGeom prst="roundRect">
            <a:avLst>
              <a:gd fmla="val 12121" name="adj"/>
            </a:avLst>
          </a:prstGeom>
          <a:solidFill>
            <a:srgbClr val="ECFDF3"/>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69"/>
          <p:cNvSpPr/>
          <p:nvPr/>
        </p:nvSpPr>
        <p:spPr>
          <a:xfrm>
            <a:off x="2095282" y="1316736"/>
            <a:ext cx="142777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agent 실행</a:t>
            </a:r>
            <a:endParaRPr b="0" i="0" sz="920" u="none" cap="none" strike="noStrike">
              <a:solidFill>
                <a:schemeClr val="dk1"/>
              </a:solidFill>
              <a:latin typeface="Malgun Gothic"/>
              <a:ea typeface="Malgun Gothic"/>
              <a:cs typeface="Malgun Gothic"/>
              <a:sym typeface="Malgun Gothic"/>
            </a:endParaRPr>
          </a:p>
        </p:txBody>
      </p:sp>
      <p:sp>
        <p:nvSpPr>
          <p:cNvPr id="801" name="Google Shape;801;p69"/>
          <p:cNvSpPr/>
          <p:nvPr/>
        </p:nvSpPr>
        <p:spPr>
          <a:xfrm>
            <a:off x="3705933" y="1170432"/>
            <a:ext cx="1500922" cy="603504"/>
          </a:xfrm>
          <a:prstGeom prst="roundRect">
            <a:avLst>
              <a:gd fmla="val 12121" name="adj"/>
            </a:avLst>
          </a:prstGeom>
          <a:solidFill>
            <a:srgbClr val="ECFDF3"/>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69"/>
          <p:cNvSpPr/>
          <p:nvPr/>
        </p:nvSpPr>
        <p:spPr>
          <a:xfrm>
            <a:off x="3742509" y="1316736"/>
            <a:ext cx="142777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정답 맞은 로그 수집</a:t>
            </a:r>
            <a:endParaRPr b="0" i="0" sz="920" u="none" cap="none" strike="noStrike">
              <a:solidFill>
                <a:schemeClr val="dk1"/>
              </a:solidFill>
              <a:latin typeface="Malgun Gothic"/>
              <a:ea typeface="Malgun Gothic"/>
              <a:cs typeface="Malgun Gothic"/>
              <a:sym typeface="Malgun Gothic"/>
            </a:endParaRPr>
          </a:p>
        </p:txBody>
      </p:sp>
      <p:sp>
        <p:nvSpPr>
          <p:cNvPr id="803" name="Google Shape;803;p69"/>
          <p:cNvSpPr/>
          <p:nvPr/>
        </p:nvSpPr>
        <p:spPr>
          <a:xfrm>
            <a:off x="5353159" y="1170432"/>
            <a:ext cx="1500922" cy="603504"/>
          </a:xfrm>
          <a:prstGeom prst="roundRect">
            <a:avLst>
              <a:gd fmla="val 12121" name="adj"/>
            </a:avLst>
          </a:prstGeom>
          <a:solidFill>
            <a:srgbClr val="ECFDF3"/>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69"/>
          <p:cNvSpPr/>
          <p:nvPr/>
        </p:nvSpPr>
        <p:spPr>
          <a:xfrm>
            <a:off x="5389735" y="1316736"/>
            <a:ext cx="142777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judge 평가</a:t>
            </a:r>
            <a:endParaRPr b="0" i="0" sz="920" u="none" cap="none" strike="noStrike">
              <a:solidFill>
                <a:schemeClr val="dk1"/>
              </a:solidFill>
              <a:latin typeface="Malgun Gothic"/>
              <a:ea typeface="Malgun Gothic"/>
              <a:cs typeface="Malgun Gothic"/>
              <a:sym typeface="Malgun Gothic"/>
            </a:endParaRPr>
          </a:p>
        </p:txBody>
      </p:sp>
      <p:sp>
        <p:nvSpPr>
          <p:cNvPr id="805" name="Google Shape;805;p69"/>
          <p:cNvSpPr/>
          <p:nvPr/>
        </p:nvSpPr>
        <p:spPr>
          <a:xfrm>
            <a:off x="7000385" y="1170432"/>
            <a:ext cx="1500922" cy="603504"/>
          </a:xfrm>
          <a:prstGeom prst="roundRect">
            <a:avLst>
              <a:gd fmla="val 12121" name="adj"/>
            </a:avLst>
          </a:prstGeom>
          <a:solidFill>
            <a:srgbClr val="ECFDF3"/>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69"/>
          <p:cNvSpPr/>
          <p:nvPr/>
        </p:nvSpPr>
        <p:spPr>
          <a:xfrm>
            <a:off x="7036961" y="1316736"/>
            <a:ext cx="142777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perturbation</a:t>
            </a:r>
            <a:endParaRPr b="0" i="0" sz="920" u="none" cap="none" strike="noStrike">
              <a:solidFill>
                <a:schemeClr val="dk1"/>
              </a:solidFill>
              <a:latin typeface="Malgun Gothic"/>
              <a:ea typeface="Malgun Gothic"/>
              <a:cs typeface="Malgun Gothic"/>
              <a:sym typeface="Malgun Gothic"/>
            </a:endParaRPr>
          </a:p>
        </p:txBody>
      </p:sp>
      <p:sp>
        <p:nvSpPr>
          <p:cNvPr id="807" name="Google Shape;807;p69"/>
          <p:cNvSpPr/>
          <p:nvPr/>
        </p:nvSpPr>
        <p:spPr>
          <a:xfrm>
            <a:off x="8647611" y="1170432"/>
            <a:ext cx="1500922" cy="603504"/>
          </a:xfrm>
          <a:prstGeom prst="roundRect">
            <a:avLst>
              <a:gd fmla="val 12121" name="adj"/>
            </a:avLst>
          </a:prstGeom>
          <a:solidFill>
            <a:srgbClr val="ECFDF3"/>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69"/>
          <p:cNvSpPr/>
          <p:nvPr/>
        </p:nvSpPr>
        <p:spPr>
          <a:xfrm>
            <a:off x="8684187" y="1316736"/>
            <a:ext cx="142777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재실행</a:t>
            </a:r>
            <a:endParaRPr b="0" i="0" sz="920" u="none" cap="none" strike="noStrike">
              <a:solidFill>
                <a:schemeClr val="dk1"/>
              </a:solidFill>
              <a:latin typeface="Malgun Gothic"/>
              <a:ea typeface="Malgun Gothic"/>
              <a:cs typeface="Malgun Gothic"/>
              <a:sym typeface="Malgun Gothic"/>
            </a:endParaRPr>
          </a:p>
        </p:txBody>
      </p:sp>
      <p:sp>
        <p:nvSpPr>
          <p:cNvPr id="809" name="Google Shape;809;p69"/>
          <p:cNvSpPr/>
          <p:nvPr/>
        </p:nvSpPr>
        <p:spPr>
          <a:xfrm>
            <a:off x="10294838" y="1170432"/>
            <a:ext cx="1500922" cy="603504"/>
          </a:xfrm>
          <a:prstGeom prst="roundRect">
            <a:avLst>
              <a:gd fmla="val 12121" name="adj"/>
            </a:avLst>
          </a:prstGeom>
          <a:solidFill>
            <a:srgbClr val="ECFDF3"/>
          </a:solidFill>
          <a:ln cap="flat" cmpd="sng" w="12700">
            <a:solidFill>
              <a:srgbClr val="F2C1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69"/>
          <p:cNvSpPr/>
          <p:nvPr/>
        </p:nvSpPr>
        <p:spPr>
          <a:xfrm>
            <a:off x="10331414" y="1316736"/>
            <a:ext cx="1427770" cy="292608"/>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실패율 비교</a:t>
            </a:r>
            <a:endParaRPr b="0" i="0" sz="920" u="none" cap="none" strike="noStrike">
              <a:solidFill>
                <a:schemeClr val="dk1"/>
              </a:solidFill>
              <a:latin typeface="Malgun Gothic"/>
              <a:ea typeface="Malgun Gothic"/>
              <a:cs typeface="Malgun Gothic"/>
              <a:sym typeface="Malgun Gothic"/>
            </a:endParaRPr>
          </a:p>
        </p:txBody>
      </p:sp>
      <p:graphicFrame>
        <p:nvGraphicFramePr>
          <p:cNvPr id="811" name="Google Shape;811;p69"/>
          <p:cNvGraphicFramePr/>
          <p:nvPr/>
        </p:nvGraphicFramePr>
        <p:xfrm>
          <a:off x="914400" y="2377440"/>
          <a:ext cx="3000000" cy="3000000"/>
        </p:xfrm>
        <a:graphic>
          <a:graphicData uri="http://schemas.openxmlformats.org/drawingml/2006/table">
            <a:tbl>
              <a:tblPr>
                <a:noFill/>
                <a:tableStyleId>{50896835-E566-46DC-AF42-435CE09E4439}</a:tableStyleId>
              </a:tblPr>
              <a:tblGrid>
                <a:gridCol w="731525"/>
                <a:gridCol w="9601200"/>
              </a:tblGrid>
              <a:tr h="381000">
                <a:tc>
                  <a:txBody>
                    <a:bodyPr/>
                    <a:lstStyle/>
                    <a:p>
                      <a:pPr indent="0" lvl="0" marL="0" marR="0" rtl="0" algn="ctr">
                        <a:spcBef>
                          <a:spcPts val="0"/>
                        </a:spcBef>
                        <a:spcAft>
                          <a:spcPts val="0"/>
                        </a:spcAft>
                        <a:buClr>
                          <a:srgbClr val="FFFFFF"/>
                        </a:buClr>
                        <a:buSzPts val="1090"/>
                        <a:buFont typeface="Malgun Gothic"/>
                        <a:buNone/>
                      </a:pPr>
                      <a:r>
                        <a:rPr b="1" lang="en-US" sz="1090" u="none" cap="none" strike="noStrike">
                          <a:solidFill>
                            <a:srgbClr val="FFFFFF"/>
                          </a:solidFill>
                          <a:latin typeface="Malgun Gothic"/>
                          <a:ea typeface="Malgun Gothic"/>
                          <a:cs typeface="Malgun Gothic"/>
                          <a:sym typeface="Malgun Gothic"/>
                        </a:rPr>
                        <a:t>단계</a:t>
                      </a:r>
                      <a:endParaRPr sz="109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c>
                  <a:txBody>
                    <a:bodyPr/>
                    <a:lstStyle/>
                    <a:p>
                      <a:pPr indent="0" lvl="0" marL="0" marR="0" rtl="0" algn="ctr">
                        <a:spcBef>
                          <a:spcPts val="0"/>
                        </a:spcBef>
                        <a:spcAft>
                          <a:spcPts val="0"/>
                        </a:spcAft>
                        <a:buClr>
                          <a:srgbClr val="FFFFFF"/>
                        </a:buClr>
                        <a:buSzPts val="1090"/>
                        <a:buFont typeface="Malgun Gothic"/>
                        <a:buNone/>
                      </a:pPr>
                      <a:r>
                        <a:rPr b="1" lang="en-US" sz="1090" u="none" cap="none" strike="noStrike">
                          <a:solidFill>
                            <a:srgbClr val="FFFFFF"/>
                          </a:solidFill>
                          <a:latin typeface="Malgun Gothic"/>
                          <a:ea typeface="Malgun Gothic"/>
                          <a:cs typeface="Malgun Gothic"/>
                          <a:sym typeface="Malgun Gothic"/>
                        </a:rPr>
                        <a:t>작업</a:t>
                      </a:r>
                      <a:endParaRPr sz="109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2C14E"/>
                    </a:solidFill>
                  </a:tcPr>
                </a:tc>
              </a:tr>
              <a:tr h="381000">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1</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GAIA/AssistantBench question 선택</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381000">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2</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agent 실행</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381000">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3</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ground truth로 final answer correctness 판정</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381000">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4</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맞은 사례만 success trajectory로 저장</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381000">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5</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LLM judge가 과정 안정성 평가</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381000">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6</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paraphrase, 조건 순서 변경, 약한 distractor 추가</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r h="381000">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7</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재실행 후 실패율 비교</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r>
              <a:tr h="381000">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8</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111827"/>
                        </a:buClr>
                        <a:buSzPts val="1050"/>
                        <a:buFont typeface="Malgun Gothic"/>
                        <a:buNone/>
                      </a:pPr>
                      <a:r>
                        <a:rPr lang="en-US" sz="1050" u="none" cap="none" strike="noStrike">
                          <a:solidFill>
                            <a:srgbClr val="111827"/>
                          </a:solidFill>
                          <a:latin typeface="Malgun Gothic"/>
                          <a:ea typeface="Malgun Gothic"/>
                          <a:cs typeface="Malgun Gothic"/>
                          <a:sym typeface="Malgun Gothic"/>
                        </a:rPr>
                        <a:t>과정 점수가 낮던 성공이 더 잘 무너지는지 확인</a:t>
                      </a:r>
                      <a:endParaRPr sz="1050" u="none" cap="none" strike="noStrike">
                        <a:latin typeface="Malgun Gothic"/>
                        <a:ea typeface="Malgun Gothic"/>
                        <a:cs typeface="Malgun Gothic"/>
                        <a:sym typeface="Malgun Gothic"/>
                      </a:endParaRPr>
                    </a:p>
                  </a:txBody>
                  <a:tcPr marT="54875" marB="54875" marR="54875" marL="54875"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8FAFC"/>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2026-04-27T11:54:27Z</dcterms:created>
  <dc:creator>OpenAI</dc:creator>
</cp:coreProperties>
</file>